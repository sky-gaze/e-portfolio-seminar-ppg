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presentasi dengan memperkenalkan projek, tim, mitra, periode, dan tema kepemimpinan.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perbedaan output dan outcome: produk berhasil dibuat, tetapi perluasan jangkauan edukasi belum memenuhi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bahwa kebutuhan program muncul dari hasil pemetaan, bukan hanya asumsi bahwa siswa sering menggunakan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Presentasikan tujuan sebagai satu alur yang utuh; pelatihan tidak berhenti pada penerimaan materi, tetapi diteruskan oleh siswa.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Beri satu contoh singkat untuk CHECK (memeriksa berita), AWARE (tidak membagikan OTP), RESPECT (izin foto), dan EMPATHY (dampak komentar).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 merupakan rangkuman realisasi; tanggal pelatihan utama adalah 22 September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 slide ini, nanti sisipkan foto utama kegiatan dan foto kelompok bila diperlukan.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screenshot produk-produk ini pada slide evidence di bagian belakang.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Penting: jangan menyamakan post-test 100% dengan peningkatan 20%. Hasil akhir sangat tinggi, tetapi indikator kenaikan minimal 20% tidak terpenuhi dari angka yang direkap.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bahwa data feedback adalah persepsi peserta setelah acara. Jangan menyebutnya bukti pasti perubahan kebiasaan jangka panjang.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Ganti dua placeholder pada slide ini dengan foto poster atau foto pemasangannya.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Sebutkan secara jujur bahwa pembentukan 50 Duta tidak otomatis berarti semua Duta mengajar atau semua kelas terjangkau.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ini penting secara analitis: output adalah hal yang dibuat/dilakukan, outcome adalah perubahan yang mulai muncul dan perlu bukti lebih kuat.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Bahas bukan hanya apa masalahnya, tetapi mengapa muncul, bagaimana tim beradaptasi, dan apa yang akan dibenahi.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Karena ini laporan kelompok, gunakan kata “kami/tim”, bukan refleksi personal anggota.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bahwa ini rekomendasi, bukan klaim bahwa sekolah sudah menetapkan kebijakan formal.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Akhiri dengan poin perbaikan yang realistis dan hindari menyatakan semua target tercapai.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berikut disiapkan agar bukti dapat ditambahkan ke presentasi. Kotak masih berupa placeholder karena foto asli belum diberikan dalam percakapan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 video belum disisipkan. Pada PowerPoint desktop, pilih kotak/area slide dan gunakan Insert &gt; Video &gt; This Device. Cek pemutaran setelah menyimpan. Jika presentasi dijalankan di komputer lain, pilih opsi embed atau bawa file video bersama PPT sesuai fitur PowerPoint yang tersedia.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Gunakan rujukan lengkap dalam laporan tertulis; slide ini hanya menampilkan sumber inti yang menopang kerangka konsep dan evaluasi.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presentasi dengan mengundang pertanyaan.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12191695" cy="0"/>
          </a:xfrm>
          <a:prstGeom prst="line">
            <a:avLst/>
          </a:prstGeom>
          <a:noFill/>
          <a:ln w="38100">
            <a:solidFill>
              <a:srgbClr val="1457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8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PELajar CERDAS DIGITAL  |  LAPORAN AKHIR PROJEK KEPEMIMPINAN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281160" y="652881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8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KELOMPOK 2  •  UKSW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5A0B6"/>
          </a:solidFill>
          <a:ln w="12700">
            <a:solidFill>
              <a:srgbClr val="35A0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137160"/>
            <a:ext cx="3657600" cy="3657600"/>
          </a:xfrm>
          <a:prstGeom prst="ellipse">
            <a:avLst/>
          </a:prstGeom>
          <a:solidFill>
            <a:srgbClr val="1B477B">
              <a:alpha val="80000"/>
            </a:srgbClr>
          </a:solidFill>
          <a:ln w="12700">
            <a:solidFill>
              <a:srgbClr val="1B477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64040" y="3794760"/>
            <a:ext cx="2423160" cy="2423160"/>
          </a:xfrm>
          <a:prstGeom prst="ellipse">
            <a:avLst/>
          </a:prstGeom>
          <a:solidFill>
            <a:srgbClr val="17649A">
              <a:alpha val="74000"/>
            </a:srgbClr>
          </a:solidFill>
          <a:ln w="12700">
            <a:solidFill>
              <a:srgbClr val="17649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731520"/>
            <a:ext cx="2194560" cy="292608"/>
          </a:xfrm>
          <a:prstGeom prst="roundRect">
            <a:avLst>
              <a:gd name="adj" fmla="val 37500"/>
            </a:avLst>
          </a:prstGeom>
          <a:solidFill>
            <a:srgbClr val="25416B"/>
          </a:solidFill>
          <a:ln w="2540">
            <a:solidFill>
              <a:srgbClr val="2541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754380"/>
            <a:ext cx="204825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LAPORAN AKHIR UAS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417320"/>
            <a:ext cx="768096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PELAJAR</a:t>
            </a:r>
            <a:endParaRPr lang="en-US" sz="3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CERDAS DIGITAL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685800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D8E5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Pelatihan dan Pembentukan Duta Literasi Digital</a:t>
            </a:r>
            <a:endParaRPr lang="en-US" sz="2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D8E5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 Negeri 2 Salatiga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49808" y="3977640"/>
            <a:ext cx="3136392" cy="0"/>
          </a:xfrm>
          <a:prstGeom prst="line">
            <a:avLst/>
          </a:prstGeom>
          <a:noFill/>
          <a:ln w="30480">
            <a:solidFill>
              <a:srgbClr val="48B1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4160520"/>
            <a:ext cx="68580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0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Kepemimpinan Kolaboratif dan Pemberdayaan Siswa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0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melalui Literasi Digital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5715000"/>
            <a:ext cx="80467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Kelompok 2  |  PPG Prajabatan Informatika  |  UKSW  |  2026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6071616"/>
            <a:ext cx="9966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9CB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Diky Andrianto  •  Ahmad Saroji  •  Erma Susanti  •  Ghanang Adhin Nugroho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6364224"/>
            <a:ext cx="64008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B9CB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Dosen Pembimbing: Dr. Irwan Sembiring, M.Kom.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30" kern="0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RINGKASAN EKSEKUTIF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18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 yang berhasil diwujudkan?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 berlangsung 17 Agustus–30 September 2026; kegiatan utama dilaksanakan pada 22 September di FTI UKSW.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91640"/>
            <a:ext cx="2606040" cy="73152"/>
          </a:xfrm>
          <a:prstGeom prst="rect">
            <a:avLst>
              <a:gd name="adj" fmla="val 150000"/>
            </a:avLst>
          </a:prstGeom>
          <a:solidFill>
            <a:srgbClr val="185DA8"/>
          </a:solidFill>
          <a:ln w="12700">
            <a:solidFill>
              <a:srgbClr val="185D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1892808"/>
            <a:ext cx="22768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459736"/>
            <a:ext cx="227685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Peserta pelatihan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907792"/>
            <a:ext cx="23865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peserta tercapai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64992" y="16916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992" y="1691640"/>
            <a:ext cx="2606040" cy="73152"/>
          </a:xfrm>
          <a:prstGeom prst="rect">
            <a:avLst>
              <a:gd name="adj" fmla="val 150000"/>
            </a:avLst>
          </a:prstGeom>
          <a:solidFill>
            <a:srgbClr val="35A0B6"/>
          </a:solidFill>
          <a:ln w="12700">
            <a:solidFill>
              <a:srgbClr val="35A0B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9584" y="1892808"/>
            <a:ext cx="22768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35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529584" y="2459736"/>
            <a:ext cx="227685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Duta Literasi Digital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907792"/>
            <a:ext cx="23865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Dibentuk dan dibekali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35624" y="16916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35624" y="1691640"/>
            <a:ext cx="2606040" cy="73152"/>
          </a:xfrm>
          <a:prstGeom prst="rect">
            <a:avLst>
              <a:gd name="adj" fmla="val 150000"/>
            </a:avLst>
          </a:prstGeom>
          <a:solidFill>
            <a:srgbClr val="E5A83B"/>
          </a:solidFill>
          <a:ln w="12700">
            <a:solidFill>
              <a:srgbClr val="E5A8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0216" y="1892808"/>
            <a:ext cx="22768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5A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300216" y="2459736"/>
            <a:ext cx="227685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Kelas terjangkau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45352" y="2907792"/>
            <a:ext cx="23865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Dari target 33 kelas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906256" y="16916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06256" y="1691640"/>
            <a:ext cx="2606040" cy="73152"/>
          </a:xfrm>
          <a:prstGeom prst="rect">
            <a:avLst>
              <a:gd name="adj" fmla="val 150000"/>
            </a:avLst>
          </a:prstGeom>
          <a:solidFill>
            <a:srgbClr val="329879"/>
          </a:solidFill>
          <a:ln w="12700">
            <a:solidFill>
              <a:srgbClr val="32987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70848" y="1892808"/>
            <a:ext cx="22768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329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9070848" y="2459736"/>
            <a:ext cx="227685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 kampanye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015984" y="2907792"/>
            <a:ext cx="23865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Seluruhnya dipasang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" y="3611880"/>
            <a:ext cx="109728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3611880"/>
            <a:ext cx="10972800" cy="73152"/>
          </a:xfrm>
          <a:prstGeom prst="rect">
            <a:avLst>
              <a:gd name="adj" fmla="val 150000"/>
            </a:avLst>
          </a:prstGeom>
          <a:solidFill>
            <a:srgbClr val="185DA8"/>
          </a:solidFill>
          <a:ln w="12700">
            <a:solidFill>
              <a:srgbClr val="185DA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8680" y="3822192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HASIL UTAMA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68680" y="4320540"/>
            <a:ext cx="77724" cy="77724"/>
          </a:xfrm>
          <a:prstGeom prst="ellipse">
            <a:avLst/>
          </a:prstGeom>
          <a:solidFill>
            <a:srgbClr val="185DA8"/>
          </a:solidFill>
          <a:ln w="2540">
            <a:solidFill>
              <a:srgbClr val="185D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33272" y="4224528"/>
            <a:ext cx="9893808" cy="34747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yang dihasilkan: e-modul, landing page, mini game DIGITAL CARE, menu refleksi/monitoring, dan QR keychain.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68680" y="4741164"/>
            <a:ext cx="77724" cy="77724"/>
          </a:xfrm>
          <a:prstGeom prst="ellipse">
            <a:avLst/>
          </a:prstGeom>
          <a:solidFill>
            <a:srgbClr val="185DA8"/>
          </a:solidFill>
          <a:ln w="2540">
            <a:solidFill>
              <a:srgbClr val="185DA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33272" y="4645152"/>
            <a:ext cx="9893808" cy="32004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pascapelatihan dari 39 siswa menunjukkan penerimaan positif terhadap materi dan media.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68680" y="5143500"/>
            <a:ext cx="77724" cy="77724"/>
          </a:xfrm>
          <a:prstGeom prst="ellipse">
            <a:avLst/>
          </a:prstGeom>
          <a:solidFill>
            <a:srgbClr val="E5A83B"/>
          </a:solidFill>
          <a:ln w="2540">
            <a:solidFill>
              <a:srgbClr val="E5A83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33272" y="5047488"/>
            <a:ext cx="9893808" cy="32004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Tantangan terbesar: jangkauan peer education dan keberlanjutan belum merata/ditetapkan secara formal.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30" kern="0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LATAR BELAKANG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18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Mengapa literasi digital perlu dikuatkan?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Asesmen awal 28 Agustus 2026: 48 respons tercatat; dua peserta mengalami keterlambatan pendataan dan tidak masuk rekap awal.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627632"/>
            <a:ext cx="539496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27632"/>
            <a:ext cx="5394960" cy="73152"/>
          </a:xfrm>
          <a:prstGeom prst="rect">
            <a:avLst>
              <a:gd name="adj" fmla="val 150000"/>
            </a:avLst>
          </a:prstGeom>
          <a:solidFill>
            <a:srgbClr val="185DA8"/>
          </a:solidFill>
          <a:ln w="12700">
            <a:solidFill>
              <a:srgbClr val="185D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865376"/>
            <a:ext cx="4754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GAMBARAN PENGGUNAAN DIGITAL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395728"/>
            <a:ext cx="3246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Smartphone/HP sebagai perangkat utama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315968" y="2395728"/>
            <a:ext cx="1188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89.6%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706624"/>
            <a:ext cx="4389120" cy="137160"/>
          </a:xfrm>
          <a:prstGeom prst="roundRect">
            <a:avLst>
              <a:gd name="adj" fmla="val 80000"/>
            </a:avLst>
          </a:prstGeom>
          <a:solidFill>
            <a:srgbClr val="E5EBF4"/>
          </a:solidFill>
          <a:ln w="1270">
            <a:solidFill>
              <a:srgbClr val="E5EB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706624"/>
            <a:ext cx="3932652" cy="137160"/>
          </a:xfrm>
          <a:prstGeom prst="roundRect">
            <a:avLst>
              <a:gd name="adj" fmla="val 80000"/>
            </a:avLst>
          </a:prstGeom>
          <a:solidFill>
            <a:srgbClr val="185DA8"/>
          </a:solidFill>
          <a:ln w="1270">
            <a:solidFill>
              <a:srgbClr val="185D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97680" y="2843784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 siswa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3118104"/>
            <a:ext cx="3246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hampir setiap hari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15968" y="3118104"/>
            <a:ext cx="1188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5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77.1%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429000"/>
            <a:ext cx="4389120" cy="137160"/>
          </a:xfrm>
          <a:prstGeom prst="roundRect">
            <a:avLst>
              <a:gd name="adj" fmla="val 80000"/>
            </a:avLst>
          </a:prstGeom>
          <a:solidFill>
            <a:srgbClr val="E5EBF4"/>
          </a:solidFill>
          <a:ln w="1270">
            <a:solidFill>
              <a:srgbClr val="E5EB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429000"/>
            <a:ext cx="3384012" cy="137160"/>
          </a:xfrm>
          <a:prstGeom prst="roundRect">
            <a:avLst>
              <a:gd name="adj" fmla="val 80000"/>
            </a:avLst>
          </a:prstGeom>
          <a:solidFill>
            <a:srgbClr val="35A0B6"/>
          </a:solidFill>
          <a:ln w="1270">
            <a:solidFill>
              <a:srgbClr val="35A0B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97680" y="3566160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 siswa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840480"/>
            <a:ext cx="3246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sosial paling menyita waktu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315968" y="3840480"/>
            <a:ext cx="1188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7861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60.4%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4151376"/>
            <a:ext cx="4389120" cy="137160"/>
          </a:xfrm>
          <a:prstGeom prst="roundRect">
            <a:avLst>
              <a:gd name="adj" fmla="val 80000"/>
            </a:avLst>
          </a:prstGeom>
          <a:solidFill>
            <a:srgbClr val="E5EBF4"/>
          </a:solidFill>
          <a:ln w="1270">
            <a:solidFill>
              <a:srgbClr val="E5EB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151376"/>
            <a:ext cx="2651028" cy="137160"/>
          </a:xfrm>
          <a:prstGeom prst="roundRect">
            <a:avLst>
              <a:gd name="adj" fmla="val 80000"/>
            </a:avLst>
          </a:prstGeom>
          <a:solidFill>
            <a:srgbClr val="7861B3"/>
          </a:solidFill>
          <a:ln w="1270">
            <a:solidFill>
              <a:srgbClr val="7861B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97680" y="4288536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 siswa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562856"/>
            <a:ext cx="3246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time ≥4 jam di luar belajar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315968" y="4562856"/>
            <a:ext cx="1188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5A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58.3%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14400" y="4873752"/>
            <a:ext cx="4389120" cy="137160"/>
          </a:xfrm>
          <a:prstGeom prst="roundRect">
            <a:avLst>
              <a:gd name="adj" fmla="val 80000"/>
            </a:avLst>
          </a:prstGeom>
          <a:solidFill>
            <a:srgbClr val="E5EBF4"/>
          </a:solidFill>
          <a:ln w="1270">
            <a:solidFill>
              <a:srgbClr val="E5EB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4873752"/>
            <a:ext cx="2558857" cy="137160"/>
          </a:xfrm>
          <a:prstGeom prst="roundRect">
            <a:avLst>
              <a:gd name="adj" fmla="val 80000"/>
            </a:avLst>
          </a:prstGeom>
          <a:solidFill>
            <a:srgbClr val="E5A83B"/>
          </a:solidFill>
          <a:ln w="1270">
            <a:solidFill>
              <a:srgbClr val="E5A83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97680" y="5010912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 siswa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63640" y="1627632"/>
            <a:ext cx="530352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1627632"/>
            <a:ext cx="5303520" cy="73152"/>
          </a:xfrm>
          <a:prstGeom prst="rect">
            <a:avLst>
              <a:gd name="adj" fmla="val 150000"/>
            </a:avLst>
          </a:prstGeom>
          <a:solidFill>
            <a:srgbClr val="E5A83B"/>
          </a:solidFill>
          <a:ln w="12700">
            <a:solidFill>
              <a:srgbClr val="E5A83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37960" y="1865376"/>
            <a:ext cx="4663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IMPLIKASI UNTUK PROGRAM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56248" y="2519172"/>
            <a:ext cx="77724" cy="77724"/>
          </a:xfrm>
          <a:prstGeom prst="ellipse">
            <a:avLst/>
          </a:prstGeom>
          <a:solidFill>
            <a:srgbClr val="185DA8"/>
          </a:solidFill>
          <a:ln w="2540">
            <a:solidFill>
              <a:srgbClr val="185DA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20840" y="2423160"/>
            <a:ext cx="4498848" cy="64008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digital peserta didik sudah tinggi, terutama untuk belajar, komunikasi, dan media sosial.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56248" y="3406140"/>
            <a:ext cx="77724" cy="77724"/>
          </a:xfrm>
          <a:prstGeom prst="ellipse">
            <a:avLst/>
          </a:prstGeom>
          <a:solidFill>
            <a:srgbClr val="E5A83B"/>
          </a:solidFill>
          <a:ln w="2540">
            <a:solidFill>
              <a:srgbClr val="E5A83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20840" y="3310128"/>
            <a:ext cx="4498848" cy="65836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Intensitas penggunaan perangkat dapat berdampak pada pengelolaan waktu dan kegiatan lain.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56248" y="4302252"/>
            <a:ext cx="77724" cy="77724"/>
          </a:xfrm>
          <a:prstGeom prst="ellipse">
            <a:avLst/>
          </a:prstGeom>
          <a:solidFill>
            <a:srgbClr val="35A0B6"/>
          </a:solidFill>
          <a:ln w="2540">
            <a:solidFill>
              <a:srgbClr val="35A0B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20840" y="4206240"/>
            <a:ext cx="4498848" cy="86868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Pelatihan perlu menekankan penerapan pada kasus nyata: cek fakta, privasi, etika, empati, dan digital wellness.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556248" y="5394960"/>
            <a:ext cx="4572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Sumber: rekap asesmen awal DIGITAL CARE, n = 48.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30" kern="0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TUJUAN PROJEK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18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Dari kebiasaan digital menuju keputusan yang bertanggung jawab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menggabungkan pemetaan, pelatihan, media, produksi karya, dan edukasi teman sebaya.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057400" cy="2971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20240"/>
            <a:ext cx="2057400" cy="73152"/>
          </a:xfrm>
          <a:prstGeom prst="rect">
            <a:avLst>
              <a:gd name="adj" fmla="val 150000"/>
            </a:avLst>
          </a:prstGeom>
          <a:solidFill>
            <a:srgbClr val="185DA8"/>
          </a:solidFill>
          <a:ln w="12700">
            <a:solidFill>
              <a:srgbClr val="185D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148840"/>
            <a:ext cx="594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61488"/>
            <a:ext cx="1691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Memetakan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64408"/>
            <a:ext cx="169164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Kebiasaan digital dan pemahaman awal peserta.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44368" y="1920240"/>
            <a:ext cx="2057400" cy="2971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4368" y="1920240"/>
            <a:ext cx="2057400" cy="73152"/>
          </a:xfrm>
          <a:prstGeom prst="rect">
            <a:avLst>
              <a:gd name="adj" fmla="val 150000"/>
            </a:avLst>
          </a:prstGeom>
          <a:solidFill>
            <a:srgbClr val="35A0B6"/>
          </a:solidFill>
          <a:ln w="12700">
            <a:solidFill>
              <a:srgbClr val="35A0B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27248" y="2148840"/>
            <a:ext cx="594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35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3127248" y="2761488"/>
            <a:ext cx="1691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Melatih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127248" y="3264408"/>
            <a:ext cx="169164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Cek fakta, pelindungan data, penipuan, etika, cyberbullying, dan digital wellness.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48656" y="1920240"/>
            <a:ext cx="2057400" cy="2971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48656" y="1920240"/>
            <a:ext cx="2057400" cy="73152"/>
          </a:xfrm>
          <a:prstGeom prst="rect">
            <a:avLst>
              <a:gd name="adj" fmla="val 150000"/>
            </a:avLst>
          </a:prstGeom>
          <a:solidFill>
            <a:srgbClr val="7861B3"/>
          </a:solidFill>
          <a:ln w="12700">
            <a:solidFill>
              <a:srgbClr val="7861B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31536" y="2148840"/>
            <a:ext cx="594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7861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500" dirty="0"/>
          </a:p>
        </p:txBody>
      </p:sp>
      <p:sp>
        <p:nvSpPr>
          <p:cNvPr id="18" name="Text 16"/>
          <p:cNvSpPr txBox="1"/>
          <p:nvPr/>
        </p:nvSpPr>
        <p:spPr>
          <a:xfrm>
            <a:off x="5431536" y="2761488"/>
            <a:ext cx="1691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Mengembangkan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431536" y="3264408"/>
            <a:ext cx="169164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E-modul, landing page, dan mini game sebagai media pendukung.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52944" y="1920240"/>
            <a:ext cx="2057400" cy="2971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52944" y="1920240"/>
            <a:ext cx="2057400" cy="73152"/>
          </a:xfrm>
          <a:prstGeom prst="rect">
            <a:avLst>
              <a:gd name="adj" fmla="val 150000"/>
            </a:avLst>
          </a:prstGeom>
          <a:solidFill>
            <a:srgbClr val="329879"/>
          </a:solidFill>
          <a:ln w="12700">
            <a:solidFill>
              <a:srgbClr val="32987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35824" y="2148840"/>
            <a:ext cx="594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329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500" dirty="0"/>
          </a:p>
        </p:txBody>
      </p:sp>
      <p:sp>
        <p:nvSpPr>
          <p:cNvPr id="23" name="Text 21"/>
          <p:cNvSpPr txBox="1"/>
          <p:nvPr/>
        </p:nvSpPr>
        <p:spPr>
          <a:xfrm>
            <a:off x="7735824" y="2761488"/>
            <a:ext cx="1691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Memberdayakan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735824" y="3264408"/>
            <a:ext cx="169164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siswa sebagai Duta Literasi Digital.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857232" y="1920240"/>
            <a:ext cx="2057400" cy="2971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57232" y="1920240"/>
            <a:ext cx="2057400" cy="73152"/>
          </a:xfrm>
          <a:prstGeom prst="rect">
            <a:avLst>
              <a:gd name="adj" fmla="val 150000"/>
            </a:avLst>
          </a:prstGeom>
          <a:solidFill>
            <a:srgbClr val="E5A83B"/>
          </a:solidFill>
          <a:ln w="12700">
            <a:solidFill>
              <a:srgbClr val="E5A83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40112" y="2148840"/>
            <a:ext cx="594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E5A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500" dirty="0"/>
          </a:p>
        </p:txBody>
      </p:sp>
      <p:sp>
        <p:nvSpPr>
          <p:cNvPr id="28" name="Text 26"/>
          <p:cNvSpPr txBox="1"/>
          <p:nvPr/>
        </p:nvSpPr>
        <p:spPr>
          <a:xfrm>
            <a:off x="10040112" y="2761488"/>
            <a:ext cx="1691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Menularkan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10040112" y="3264408"/>
            <a:ext cx="169164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Melalui poster dan peer education kepada teman sebaya.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5257800"/>
            <a:ext cx="10927080" cy="685800"/>
          </a:xfrm>
          <a:prstGeom prst="roundRect">
            <a:avLst>
              <a:gd name="adj" fmla="val 16000"/>
            </a:avLst>
          </a:prstGeom>
          <a:solidFill>
            <a:srgbClr val="EAF2FC"/>
          </a:solidFill>
          <a:ln w="10160">
            <a:solidFill>
              <a:srgbClr val="EAF2F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96112" y="5449824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Sasaran utama: 50 peserta didik SMA Negeri 2 Salatiga yang dipersiapkan menjadi Duta Literasi Digital SMANDA.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30" kern="0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KERANGKA EDUKASI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18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CARE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 digunakan sebagai pengingat praktis untuk membuat keputusan dalam situasi digital.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04672" y="1719072"/>
            <a:ext cx="105613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719072"/>
            <a:ext cx="10561320" cy="73152"/>
          </a:xfrm>
          <a:prstGeom prst="rect">
            <a:avLst>
              <a:gd name="adj" fmla="val 150000"/>
            </a:avLst>
          </a:prstGeom>
          <a:solidFill>
            <a:srgbClr val="245DA8"/>
          </a:solidFill>
          <a:ln w="12700">
            <a:solidFill>
              <a:srgbClr val="245D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1865376"/>
            <a:ext cx="2423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4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1847088"/>
            <a:ext cx="7315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Periksa informasi sebelum percaya atau membagikan.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" y="2523744"/>
            <a:ext cx="105613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523744"/>
            <a:ext cx="10561320" cy="73152"/>
          </a:xfrm>
          <a:prstGeom prst="rect">
            <a:avLst>
              <a:gd name="adj" fmla="val 150000"/>
            </a:avLst>
          </a:prstGeom>
          <a:solidFill>
            <a:srgbClr val="2B92B5"/>
          </a:solidFill>
          <a:ln w="12700">
            <a:solidFill>
              <a:srgbClr val="2B92B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2670048"/>
            <a:ext cx="2423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B92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AWARE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651760"/>
            <a:ext cx="7315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Lindungi data pribadi, password, dan OTP.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" y="3328416"/>
            <a:ext cx="105613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3328416"/>
            <a:ext cx="10561320" cy="73152"/>
          </a:xfrm>
          <a:prstGeom prst="rect">
            <a:avLst>
              <a:gd name="adj" fmla="val 150000"/>
            </a:avLst>
          </a:prstGeom>
          <a:solidFill>
            <a:srgbClr val="715CB5"/>
          </a:solidFill>
          <a:ln w="12700">
            <a:solidFill>
              <a:srgbClr val="715CB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3474720"/>
            <a:ext cx="2423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715C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RESPECT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3456432"/>
            <a:ext cx="7315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Hormati privasi, izin, dan etika berkomunikasi.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" y="4133088"/>
            <a:ext cx="105613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4133088"/>
            <a:ext cx="10561320" cy="73152"/>
          </a:xfrm>
          <a:prstGeom prst="rect">
            <a:avLst>
              <a:gd name="adj" fmla="val 150000"/>
            </a:avLst>
          </a:prstGeom>
          <a:solidFill>
            <a:srgbClr val="D95378"/>
          </a:solidFill>
          <a:ln w="12700">
            <a:solidFill>
              <a:srgbClr val="D9537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" y="4279392"/>
            <a:ext cx="2423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953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EMPATHY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611880" y="4261104"/>
            <a:ext cx="7315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Pertimbangkan dampak tindakan digital terhadap orang lain.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" y="4937760"/>
            <a:ext cx="105613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4937760"/>
            <a:ext cx="10561320" cy="73152"/>
          </a:xfrm>
          <a:prstGeom prst="rect">
            <a:avLst>
              <a:gd name="adj" fmla="val 150000"/>
            </a:avLst>
          </a:prstGeom>
          <a:solidFill>
            <a:srgbClr val="D9982B"/>
          </a:solidFill>
          <a:ln w="12700">
            <a:solidFill>
              <a:srgbClr val="D998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5084064"/>
            <a:ext cx="2423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99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WELLNESS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611880" y="5065776"/>
            <a:ext cx="7315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Kelola waktu dan keseimbangan aktivitas digital.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5925312"/>
            <a:ext cx="102412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Fokus: bukan sekadar mengetahui istilah, tetapi menggunakan framework untuk menimbang tindakan sebelum bertindak.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30" kern="0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METODOLOGI PELAKSANAAN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18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Tahapan projek selama tujuh minggu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Periode kegiatan: 17 Agustus–30 September 2026.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25880" y="2057400"/>
            <a:ext cx="0" cy="3703320"/>
          </a:xfrm>
          <a:prstGeom prst="line">
            <a:avLst/>
          </a:prstGeom>
          <a:noFill/>
          <a:ln w="30480">
            <a:solidFill>
              <a:srgbClr val="B5C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1801368"/>
            <a:ext cx="329184" cy="329184"/>
          </a:xfrm>
          <a:prstGeom prst="ellipse">
            <a:avLst/>
          </a:prstGeom>
          <a:solidFill>
            <a:srgbClr val="185DA8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55648" y="1755648"/>
            <a:ext cx="1371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17–21 AGS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1719072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Koordinasi &amp; izin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23560" y="1709928"/>
            <a:ext cx="5669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Persetujuan sekolah, daftar peserta, jadwal, RAB awal.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61288" y="2505456"/>
            <a:ext cx="329184" cy="329184"/>
          </a:xfrm>
          <a:prstGeom prst="ellipse">
            <a:avLst/>
          </a:prstGeom>
          <a:solidFill>
            <a:srgbClr val="35A0B6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55648" y="2459736"/>
            <a:ext cx="1371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24–31 AGS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154680" y="2423160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Asesmen awal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2414016"/>
            <a:ext cx="5669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Survei kebiasaan digital dan pre-test (48 respons tercatat).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61288" y="3209544"/>
            <a:ext cx="329184" cy="329184"/>
          </a:xfrm>
          <a:prstGeom prst="ellipse">
            <a:avLst/>
          </a:prstGeom>
          <a:solidFill>
            <a:srgbClr val="7861B3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55648" y="3163824"/>
            <a:ext cx="1371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1–18 SEP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154680" y="3127248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Pengembangan &amp; persiapan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23560" y="3118104"/>
            <a:ext cx="5669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E-modul, landing page, mini game, PPT, rundown, logistik.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61288" y="3913632"/>
            <a:ext cx="329184" cy="329184"/>
          </a:xfrm>
          <a:prstGeom prst="ellipse">
            <a:avLst/>
          </a:prstGeom>
          <a:solidFill>
            <a:srgbClr val="329879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755648" y="3867912"/>
            <a:ext cx="1371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21–22 SEP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154680" y="3831336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Pelaksanaan utama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3822192"/>
            <a:ext cx="5669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Gladi bersih; dropping barang; pelatihan &amp; pembentukan Duta.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161288" y="4617720"/>
            <a:ext cx="329184" cy="329184"/>
          </a:xfrm>
          <a:prstGeom prst="ellipse">
            <a:avLst/>
          </a:prstGeom>
          <a:solidFill>
            <a:srgbClr val="E5A83B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755648" y="4572000"/>
            <a:ext cx="1371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23–25 SEP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154680" y="4535424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Tindak lanjut awal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623560" y="4526280"/>
            <a:ext cx="5669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Koordinasi kurikulum, monitoring Duta, pemasangan 10 poster.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161288" y="5321808"/>
            <a:ext cx="329184" cy="329184"/>
          </a:xfrm>
          <a:prstGeom prst="ellipse">
            <a:avLst/>
          </a:prstGeom>
          <a:solidFill>
            <a:srgbClr val="185DA8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755648" y="5276088"/>
            <a:ext cx="1371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28–30 SEP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154680" y="5239512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Evaluasi &amp; pelaporan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623560" y="5230368"/>
            <a:ext cx="5669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Rekap hasil, monitoring, dokumentasi, rekomendasi.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30" kern="0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PELAKSANAAN UTAMA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18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Pelatihan dan pembentukan Duta — 22 September 2026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Lokasi: Fakultas Teknologi Informasi, Universitas Kristen Satya Wacana (FTI UKSW).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737360"/>
            <a:ext cx="23774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737360"/>
            <a:ext cx="2377440" cy="73152"/>
          </a:xfrm>
          <a:prstGeom prst="rect">
            <a:avLst>
              <a:gd name="adj" fmla="val 150000"/>
            </a:avLst>
          </a:prstGeom>
          <a:solidFill>
            <a:srgbClr val="185DA8"/>
          </a:solidFill>
          <a:ln w="12700">
            <a:solidFill>
              <a:srgbClr val="185D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1938528"/>
            <a:ext cx="20482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505456"/>
            <a:ext cx="204825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Peserta hadir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62072"/>
            <a:ext cx="21579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Sesuai target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737360"/>
            <a:ext cx="23774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737360"/>
            <a:ext cx="2377440" cy="73152"/>
          </a:xfrm>
          <a:prstGeom prst="rect">
            <a:avLst>
              <a:gd name="adj" fmla="val 150000"/>
            </a:avLst>
          </a:prstGeom>
          <a:solidFill>
            <a:srgbClr val="35A0B6"/>
          </a:solidFill>
          <a:ln w="12700">
            <a:solidFill>
              <a:srgbClr val="35A0B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10712" y="1938528"/>
            <a:ext cx="20482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35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410712" y="2505456"/>
            <a:ext cx="204825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Duta terbentuk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355848" y="2862072"/>
            <a:ext cx="21579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Untuk edukasi teman sebaya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79008" y="1737360"/>
            <a:ext cx="23774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79008" y="1737360"/>
            <a:ext cx="2377440" cy="73152"/>
          </a:xfrm>
          <a:prstGeom prst="rect">
            <a:avLst>
              <a:gd name="adj" fmla="val 150000"/>
            </a:avLst>
          </a:prstGeom>
          <a:solidFill>
            <a:srgbClr val="E5A83B"/>
          </a:solidFill>
          <a:ln w="12700">
            <a:solidFill>
              <a:srgbClr val="E5A8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0" y="1938528"/>
            <a:ext cx="20482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5A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2505456"/>
            <a:ext cx="204825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 kelompok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888736" y="2862072"/>
            <a:ext cx="21579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Karya kampanye siswa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311896" y="1737360"/>
            <a:ext cx="23774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11896" y="1737360"/>
            <a:ext cx="2377440" cy="73152"/>
          </a:xfrm>
          <a:prstGeom prst="rect">
            <a:avLst>
              <a:gd name="adj" fmla="val 150000"/>
            </a:avLst>
          </a:prstGeom>
          <a:solidFill>
            <a:srgbClr val="329879"/>
          </a:solidFill>
          <a:ln w="12700">
            <a:solidFill>
              <a:srgbClr val="32987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76488" y="1938528"/>
            <a:ext cx="20482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329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8476488" y="2505456"/>
            <a:ext cx="204825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masuk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421624" y="2862072"/>
            <a:ext cx="21579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Evaluasi pascapelatihan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3232" y="3657600"/>
            <a:ext cx="10789920" cy="1490472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3657600"/>
            <a:ext cx="10789920" cy="73152"/>
          </a:xfrm>
          <a:prstGeom prst="rect">
            <a:avLst>
              <a:gd name="adj" fmla="val 150000"/>
            </a:avLst>
          </a:prstGeom>
          <a:solidFill>
            <a:srgbClr val="185DA8"/>
          </a:solidFill>
          <a:ln w="12700">
            <a:solidFill>
              <a:srgbClr val="185DA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7552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RANGKAIAN KEGIATAN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05840" y="4347972"/>
            <a:ext cx="77724" cy="77724"/>
          </a:xfrm>
          <a:prstGeom prst="ellipse">
            <a:avLst/>
          </a:prstGeom>
          <a:solidFill>
            <a:srgbClr val="185DA8"/>
          </a:solidFill>
          <a:ln w="2540">
            <a:solidFill>
              <a:srgbClr val="185D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70432" y="4251960"/>
            <a:ext cx="4498848" cy="35661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Penyampaian materi kecakapan dan etika digital serta diskusi/studi kasus.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43600" y="4347972"/>
            <a:ext cx="77724" cy="77724"/>
          </a:xfrm>
          <a:prstGeom prst="ellipse">
            <a:avLst/>
          </a:prstGeom>
          <a:solidFill>
            <a:srgbClr val="35A0B6"/>
          </a:solidFill>
          <a:ln w="2540">
            <a:solidFill>
              <a:srgbClr val="35A0B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08192" y="4251960"/>
            <a:ext cx="4590288" cy="35661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 DIGITAL CARE sebagai media latihan interaktif.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05840" y="4805172"/>
            <a:ext cx="77724" cy="77724"/>
          </a:xfrm>
          <a:prstGeom prst="ellipse">
            <a:avLst/>
          </a:prstGeom>
          <a:solidFill>
            <a:srgbClr val="E5A83B"/>
          </a:solidFill>
          <a:ln w="2540">
            <a:solidFill>
              <a:srgbClr val="E5A83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170432" y="4709160"/>
            <a:ext cx="4498848" cy="35661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Kerja kelompok untuk membuat poster kampanye literasi digital.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943600" y="4805172"/>
            <a:ext cx="77724" cy="77724"/>
          </a:xfrm>
          <a:prstGeom prst="ellipse">
            <a:avLst/>
          </a:prstGeom>
          <a:solidFill>
            <a:srgbClr val="329879"/>
          </a:solidFill>
          <a:ln w="2540">
            <a:solidFill>
              <a:srgbClr val="32987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108192" y="4709160"/>
            <a:ext cx="4590288" cy="35661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Pembentukan dan pembekalan Duta Literasi Digital SMANDA.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68680" y="5596128"/>
            <a:ext cx="10607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daftar hadir, rundown, foto pelatihan, foto game, proses poster, dan dokumentasi pembentukan Duta.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30" kern="0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KREATIVITAS DAN INOVASI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18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Ekosistem media terintegrasi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Beberapa produk dihubungkan agar peserta dapat belajar, berlatih, dan merefleksikan materi.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20574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74520"/>
            <a:ext cx="2057400" cy="73152"/>
          </a:xfrm>
          <a:prstGeom prst="rect">
            <a:avLst>
              <a:gd name="adj" fmla="val 150000"/>
            </a:avLst>
          </a:prstGeom>
          <a:solidFill>
            <a:srgbClr val="185DA8"/>
          </a:solidFill>
          <a:ln w="12700">
            <a:solidFill>
              <a:srgbClr val="185D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2075688"/>
            <a:ext cx="548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615184"/>
            <a:ext cx="1737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Landing page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3127248"/>
            <a:ext cx="1737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Pintu akses untuk media program.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1874520"/>
            <a:ext cx="20574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1874520"/>
            <a:ext cx="2057400" cy="73152"/>
          </a:xfrm>
          <a:prstGeom prst="rect">
            <a:avLst>
              <a:gd name="adj" fmla="val 150000"/>
            </a:avLst>
          </a:prstGeom>
          <a:solidFill>
            <a:srgbClr val="35A0B6"/>
          </a:solidFill>
          <a:ln w="12700">
            <a:solidFill>
              <a:srgbClr val="35A0B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63824" y="2075688"/>
            <a:ext cx="548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35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163824" y="2615184"/>
            <a:ext cx="1737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E-modul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163824" y="3127248"/>
            <a:ext cx="1737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yang bisa dibaca kembali.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0" y="1874520"/>
            <a:ext cx="20574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1874520"/>
            <a:ext cx="2057400" cy="73152"/>
          </a:xfrm>
          <a:prstGeom prst="rect">
            <a:avLst>
              <a:gd name="adj" fmla="val 150000"/>
            </a:avLst>
          </a:prstGeom>
          <a:solidFill>
            <a:srgbClr val="7861B3"/>
          </a:solidFill>
          <a:ln w="12700">
            <a:solidFill>
              <a:srgbClr val="7861B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49824" y="2075688"/>
            <a:ext cx="548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7861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5449824" y="2615184"/>
            <a:ext cx="1737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game DIGITAL CARE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49824" y="3127248"/>
            <a:ext cx="1737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Latihan keputusan melalui game dan kasus.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89520" y="1874520"/>
            <a:ext cx="20574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1874520"/>
            <a:ext cx="2057400" cy="73152"/>
          </a:xfrm>
          <a:prstGeom prst="rect">
            <a:avLst>
              <a:gd name="adj" fmla="val 150000"/>
            </a:avLst>
          </a:prstGeom>
          <a:solidFill>
            <a:srgbClr val="329879"/>
          </a:solidFill>
          <a:ln w="12700">
            <a:solidFill>
              <a:srgbClr val="32987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35824" y="2075688"/>
            <a:ext cx="548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329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735824" y="2615184"/>
            <a:ext cx="1737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Refleksi &amp; monitoring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35824" y="3127248"/>
            <a:ext cx="1737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 terhubung ke Google Sheet.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875520" y="1874520"/>
            <a:ext cx="20574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75520" y="1874520"/>
            <a:ext cx="2057400" cy="73152"/>
          </a:xfrm>
          <a:prstGeom prst="rect">
            <a:avLst>
              <a:gd name="adj" fmla="val 150000"/>
            </a:avLst>
          </a:prstGeom>
          <a:solidFill>
            <a:srgbClr val="E5A83B"/>
          </a:solidFill>
          <a:ln w="12700">
            <a:solidFill>
              <a:srgbClr val="E5A83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21824" y="2075688"/>
            <a:ext cx="548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5A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10021824" y="2615184"/>
            <a:ext cx="1737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keychain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0021824" y="3127248"/>
            <a:ext cx="1737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Akses praktis ke media digital.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4297680"/>
            <a:ext cx="10744200" cy="1024128"/>
          </a:xfrm>
          <a:prstGeom prst="roundRect">
            <a:avLst>
              <a:gd name="adj" fmla="val 10714"/>
            </a:avLst>
          </a:prstGeom>
          <a:solidFill>
            <a:srgbClr val="EAF2FC"/>
          </a:solidFill>
          <a:ln w="10160">
            <a:solidFill>
              <a:srgbClr val="EAF2F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87552" y="4498848"/>
            <a:ext cx="1463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Nilai inovasi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2468880" y="4453128"/>
            <a:ext cx="8503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Menghubungkan materi, praktik digital, refleksi, dan pemantauan dalam satu alur—bukan hanya menyediakan file terpisah.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" y="5650992"/>
            <a:ext cx="10424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Bukti yang disiapkan: screenshot landing page, halaman e-modul, game, menu monitoring, QR keychain.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30" kern="0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EVALUASI PEMBELAJARAN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18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Hasil pre-test dan post-test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Angka ditampilkan sesuai rekap yang disampaikan tim.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4983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4983480" cy="73152"/>
          </a:xfrm>
          <a:prstGeom prst="rect">
            <a:avLst>
              <a:gd name="adj" fmla="val 150000"/>
            </a:avLst>
          </a:prstGeom>
          <a:solidFill>
            <a:srgbClr val="185DA8"/>
          </a:solidFill>
          <a:ln w="12700">
            <a:solidFill>
              <a:srgbClr val="185D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PRE-TEST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514600"/>
            <a:ext cx="43891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99,42%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529584"/>
            <a:ext cx="4297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Rata-rata; 48 respons tercatat dalam rekap awal.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783080"/>
            <a:ext cx="4983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783080"/>
            <a:ext cx="4983480" cy="73152"/>
          </a:xfrm>
          <a:prstGeom prst="rect">
            <a:avLst>
              <a:gd name="adj" fmla="val 150000"/>
            </a:avLst>
          </a:prstGeom>
          <a:solidFill>
            <a:srgbClr val="329879"/>
          </a:solidFill>
          <a:ln w="12700">
            <a:solidFill>
              <a:srgbClr val="32987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2084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29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POST-TEST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2514600"/>
            <a:ext cx="42976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3529584"/>
            <a:ext cx="4297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Rata-rata berdasarkan rekap akhir yang diberikan tim.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2103120"/>
            <a:ext cx="0" cy="1737360"/>
          </a:xfrm>
          <a:prstGeom prst="line">
            <a:avLst/>
          </a:prstGeom>
          <a:noFill/>
          <a:ln w="19050">
            <a:solidFill>
              <a:srgbClr val="C9D6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526280"/>
            <a:ext cx="10652760" cy="1097280"/>
          </a:xfrm>
          <a:prstGeom prst="roundRect">
            <a:avLst>
              <a:gd name="adj" fmla="val 10000"/>
            </a:avLst>
          </a:prstGeom>
          <a:solidFill>
            <a:srgbClr val="FFF5E1"/>
          </a:solidFill>
          <a:ln w="10160">
            <a:solidFill>
              <a:srgbClr val="F3DB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4736592"/>
            <a:ext cx="1600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86D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INTERPRETASI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4672584"/>
            <a:ext cx="83210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Selisih = 0,58 poin persentase. Target proposal berupa kenaikan minimal 20% tidak tercapai berdasarkan angka tersebut; cakupan kedua rekap perlu dipastikan sebanding.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77824" y="5870448"/>
            <a:ext cx="100584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Catatan asesmen awal: dua peserta terkendala pendataan sehingga belum masuk ke rekap awal.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30" kern="0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PESERTA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18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Penerimaan peserta terhadap pelatihan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Evaluasi pascapelatihan diisi oleh 39 siswa.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783080"/>
            <a:ext cx="2926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783080"/>
            <a:ext cx="2926080" cy="73152"/>
          </a:xfrm>
          <a:prstGeom prst="rect">
            <a:avLst>
              <a:gd name="adj" fmla="val 150000"/>
            </a:avLst>
          </a:prstGeom>
          <a:solidFill>
            <a:srgbClr val="185DA8"/>
          </a:solidFill>
          <a:ln w="12700">
            <a:solidFill>
              <a:srgbClr val="185D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78992" y="1984248"/>
            <a:ext cx="25968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92,3%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2551176"/>
            <a:ext cx="259689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mudah dipahami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044952"/>
            <a:ext cx="270662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siswa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20" y="1783080"/>
            <a:ext cx="2926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783080"/>
            <a:ext cx="2926080" cy="73152"/>
          </a:xfrm>
          <a:prstGeom prst="rect">
            <a:avLst>
              <a:gd name="adj" fmla="val 150000"/>
            </a:avLst>
          </a:prstGeom>
          <a:solidFill>
            <a:srgbClr val="35A0B6"/>
          </a:solidFill>
          <a:ln w="12700">
            <a:solidFill>
              <a:srgbClr val="35A0B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82312" y="1984248"/>
            <a:ext cx="25968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35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89,7%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782312" y="2551176"/>
            <a:ext cx="259689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relevan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27448" y="3044952"/>
            <a:ext cx="270662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Dengan kehidupan digital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321040" y="1783080"/>
            <a:ext cx="2926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783080"/>
            <a:ext cx="2926080" cy="73152"/>
          </a:xfrm>
          <a:prstGeom prst="rect">
            <a:avLst>
              <a:gd name="adj" fmla="val 150000"/>
            </a:avLst>
          </a:prstGeom>
          <a:solidFill>
            <a:srgbClr val="7861B3"/>
          </a:solidFill>
          <a:ln w="12700">
            <a:solidFill>
              <a:srgbClr val="7861B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85632" y="1984248"/>
            <a:ext cx="25968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7861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485632" y="2551176"/>
            <a:ext cx="259689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Responden feedback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30768" y="3044952"/>
            <a:ext cx="270662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Pascapelatihan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7240" y="3840480"/>
            <a:ext cx="516636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840480"/>
            <a:ext cx="5166360" cy="73152"/>
          </a:xfrm>
          <a:prstGeom prst="rect">
            <a:avLst>
              <a:gd name="adj" fmla="val 150000"/>
            </a:avLst>
          </a:prstGeom>
          <a:solidFill>
            <a:srgbClr val="329879"/>
          </a:solidFill>
          <a:ln w="12700">
            <a:solidFill>
              <a:srgbClr val="32987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1560" y="4041648"/>
            <a:ext cx="4389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29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YANG PALING DIAPRESIASI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78992" y="4503420"/>
            <a:ext cx="77724" cy="77724"/>
          </a:xfrm>
          <a:prstGeom prst="ellipse">
            <a:avLst/>
          </a:prstGeom>
          <a:solidFill>
            <a:srgbClr val="329879"/>
          </a:solidFill>
          <a:ln w="2540">
            <a:solidFill>
              <a:srgbClr val="32987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243584" y="4407408"/>
            <a:ext cx="4361688" cy="31089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 DIGITAL CARE dinilai sangat menarik.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78992" y="4896612"/>
            <a:ext cx="77724" cy="77724"/>
          </a:xfrm>
          <a:prstGeom prst="ellipse">
            <a:avLst/>
          </a:prstGeom>
          <a:solidFill>
            <a:srgbClr val="329879"/>
          </a:solidFill>
          <a:ln w="2540">
            <a:solidFill>
              <a:srgbClr val="32987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243584" y="4800600"/>
            <a:ext cx="4361688" cy="31089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Pembuatan poster membantu pemahaman dan kerja sama.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3840480"/>
            <a:ext cx="516636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3840480"/>
            <a:ext cx="5166360" cy="73152"/>
          </a:xfrm>
          <a:prstGeom prst="rect">
            <a:avLst>
              <a:gd name="adj" fmla="val 150000"/>
            </a:avLst>
          </a:prstGeom>
          <a:solidFill>
            <a:srgbClr val="E5A83B"/>
          </a:solidFill>
          <a:ln w="12700">
            <a:solidFill>
              <a:srgbClr val="E5A83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92240" y="4041648"/>
            <a:ext cx="4389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86D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SARAN PERBAIKAN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10528" y="4503420"/>
            <a:ext cx="77724" cy="77724"/>
          </a:xfrm>
          <a:prstGeom prst="ellipse">
            <a:avLst/>
          </a:prstGeom>
          <a:solidFill>
            <a:srgbClr val="E5A83B"/>
          </a:solidFill>
          <a:ln w="2540">
            <a:solidFill>
              <a:srgbClr val="E5A83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0" y="4407408"/>
            <a:ext cx="4361688" cy="39319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Atur waktu lebih baik; perbanyak praktik dan studi kasus nyata.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10528" y="4942332"/>
            <a:ext cx="77724" cy="77724"/>
          </a:xfrm>
          <a:prstGeom prst="ellipse">
            <a:avLst/>
          </a:prstGeom>
          <a:solidFill>
            <a:srgbClr val="E5A83B"/>
          </a:solidFill>
          <a:ln w="2540">
            <a:solidFill>
              <a:srgbClr val="E5A83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75120" y="4846320"/>
            <a:ext cx="4361688" cy="31089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Jaga variasi penyampaian dan interaksi fasilitator.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96112" y="5715000"/>
            <a:ext cx="10515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menunjukkan kepuasan dan niat menerapkan CARE; perubahan perilaku jangka panjang memerlukan pengukuran lanjutan.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30" kern="0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KAMPANYE SEKOLAH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18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Sepuluh poster diproduksi dan dipasang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Kegiatan poster mendorong siswa merancang pesan edukasi untuk warga sekolah.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2240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37360"/>
            <a:ext cx="2240280" cy="73152"/>
          </a:xfrm>
          <a:prstGeom prst="rect">
            <a:avLst>
              <a:gd name="adj" fmla="val 150000"/>
            </a:avLst>
          </a:prstGeom>
          <a:solidFill>
            <a:srgbClr val="185DA8"/>
          </a:solidFill>
          <a:ln w="12700">
            <a:solidFill>
              <a:srgbClr val="185D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1832" y="1938528"/>
            <a:ext cx="19110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2505456"/>
            <a:ext cx="191109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 dibuat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54680" y="1737360"/>
            <a:ext cx="2240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1737360"/>
            <a:ext cx="2240280" cy="73152"/>
          </a:xfrm>
          <a:prstGeom prst="rect">
            <a:avLst>
              <a:gd name="adj" fmla="val 150000"/>
            </a:avLst>
          </a:prstGeom>
          <a:solidFill>
            <a:srgbClr val="35A0B6"/>
          </a:solidFill>
          <a:ln w="12700">
            <a:solidFill>
              <a:srgbClr val="35A0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19272" y="1938528"/>
            <a:ext cx="19110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35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319272" y="2505456"/>
            <a:ext cx="191109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 dipasang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0" y="1737360"/>
            <a:ext cx="5669280" cy="1417320"/>
          </a:xfrm>
          <a:prstGeom prst="roundRect">
            <a:avLst>
              <a:gd name="adj" fmla="val 7742"/>
            </a:avLst>
          </a:prstGeom>
          <a:solidFill>
            <a:srgbClr val="EAF2FC"/>
          </a:solidFill>
          <a:ln w="10160">
            <a:solidFill>
              <a:srgbClr val="EAF2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16752" y="1993392"/>
            <a:ext cx="1417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PESAN UTAMA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1920240"/>
            <a:ext cx="3657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Literasi digital hadir di ruang bersama, bukan hanya dalam sesi pelatihan.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7240" y="365760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EDF2F8"/>
          </a:solidFill>
          <a:ln w="13970">
            <a:solidFill>
              <a:srgbClr val="92A8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9115" y="3803904"/>
            <a:ext cx="716890" cy="219456"/>
          </a:xfrm>
          <a:prstGeom prst="rect">
            <a:avLst/>
          </a:prstGeom>
          <a:solidFill>
            <a:srgbClr val="D5E1EF"/>
          </a:solidFill>
          <a:ln w="2540">
            <a:solidFill>
              <a:srgbClr val="D5E1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6968" y="4401922"/>
            <a:ext cx="490118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 PEMASANGAN POSTER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" y="4795114"/>
            <a:ext cx="482803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foto poster di mading sekolah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63640" y="365760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EDF2F8"/>
          </a:solidFill>
          <a:ln w="13970">
            <a:solidFill>
              <a:srgbClr val="92A8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65515" y="3803904"/>
            <a:ext cx="716890" cy="219456"/>
          </a:xfrm>
          <a:prstGeom prst="rect">
            <a:avLst/>
          </a:prstGeom>
          <a:solidFill>
            <a:srgbClr val="D5E1EF"/>
          </a:solidFill>
          <a:ln w="2540">
            <a:solidFill>
              <a:srgbClr val="D5E1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73368" y="4401922"/>
            <a:ext cx="490118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KUMPULAN POSTER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9944" y="4795114"/>
            <a:ext cx="482803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gambar/screenshot karya poster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5742432"/>
            <a:ext cx="10241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file 10 poster dan foto pemasangan di area sekolah.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30" kern="0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 EDUCATION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18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jangkauan belum merata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Duta sudah mulai melakukan edukasi teman sebaya melalui sesi literasi Jumat.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64008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0" cy="73152"/>
          </a:xfrm>
          <a:prstGeom prst="rect">
            <a:avLst>
              <a:gd name="adj" fmla="val 150000"/>
            </a:avLst>
          </a:prstGeom>
          <a:solidFill>
            <a:srgbClr val="185DA8"/>
          </a:solidFill>
          <a:ln w="12700">
            <a:solidFill>
              <a:srgbClr val="185D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029968"/>
            <a:ext cx="2743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JANGKAUAN KELAS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57860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proposal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2560320"/>
            <a:ext cx="1188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 kelas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43000" y="2944368"/>
            <a:ext cx="5303520" cy="228600"/>
          </a:xfrm>
          <a:prstGeom prst="roundRect">
            <a:avLst>
              <a:gd name="adj" fmla="val 48000"/>
            </a:avLst>
          </a:prstGeom>
          <a:solidFill>
            <a:srgbClr val="E4EBF4"/>
          </a:solidFill>
          <a:ln w="1270">
            <a:solidFill>
              <a:srgbClr val="E4EB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2944368"/>
            <a:ext cx="5303520" cy="228600"/>
          </a:xfrm>
          <a:prstGeom prst="roundRect">
            <a:avLst>
              <a:gd name="adj" fmla="val 48000"/>
            </a:avLst>
          </a:prstGeom>
          <a:solidFill>
            <a:srgbClr val="185DA8"/>
          </a:solidFill>
          <a:ln w="1270">
            <a:solidFill>
              <a:srgbClr val="185D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3456432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Realisasi terpantau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3438144"/>
            <a:ext cx="1188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5A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kelas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43000" y="3840480"/>
            <a:ext cx="5303520" cy="228600"/>
          </a:xfrm>
          <a:prstGeom prst="roundRect">
            <a:avLst>
              <a:gd name="adj" fmla="val 48000"/>
            </a:avLst>
          </a:prstGeom>
          <a:solidFill>
            <a:srgbClr val="E4EBF4"/>
          </a:solidFill>
          <a:ln w="1270">
            <a:solidFill>
              <a:srgbClr val="E4EB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" y="3840480"/>
            <a:ext cx="1607127" cy="228600"/>
          </a:xfrm>
          <a:prstGeom prst="roundRect">
            <a:avLst>
              <a:gd name="adj" fmla="val 48000"/>
            </a:avLst>
          </a:prstGeom>
          <a:solidFill>
            <a:srgbClr val="E5A83B"/>
          </a:solidFill>
          <a:ln w="1270">
            <a:solidFill>
              <a:srgbClr val="E5A8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43000" y="4279392"/>
            <a:ext cx="5303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30,3% dari target jangkauan kelas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43800" y="1737360"/>
            <a:ext cx="37947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1737360"/>
            <a:ext cx="3794760" cy="73152"/>
          </a:xfrm>
          <a:prstGeom prst="rect">
            <a:avLst>
              <a:gd name="adj" fmla="val 150000"/>
            </a:avLst>
          </a:prstGeom>
          <a:solidFill>
            <a:srgbClr val="E5A83B"/>
          </a:solidFill>
          <a:ln w="12700">
            <a:solidFill>
              <a:srgbClr val="E5A8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45552" y="2029968"/>
            <a:ext cx="3154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A86D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FAKTOR PENGHAMBAT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845552" y="2674620"/>
            <a:ext cx="77724" cy="77724"/>
          </a:xfrm>
          <a:prstGeom prst="ellipse">
            <a:avLst/>
          </a:prstGeom>
          <a:solidFill>
            <a:srgbClr val="E5A83B"/>
          </a:solidFill>
          <a:ln w="2540">
            <a:solidFill>
              <a:srgbClr val="E5A8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10144" y="2578608"/>
            <a:ext cx="2990088" cy="73152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Literasi Jumat memuat banyak submateri; literasi digital tidak selalu muncul setiap minggu.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45552" y="3589020"/>
            <a:ext cx="77724" cy="77724"/>
          </a:xfrm>
          <a:prstGeom prst="ellipse">
            <a:avLst/>
          </a:prstGeom>
          <a:solidFill>
            <a:srgbClr val="E5A83B"/>
          </a:solidFill>
          <a:ln w="2540">
            <a:solidFill>
              <a:srgbClr val="E5A83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10144" y="3493008"/>
            <a:ext cx="2990088" cy="74980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Duta memerlukan kesempatan dan dukungan guru/wali kelas untuk menyampaikan materi.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45552" y="4503420"/>
            <a:ext cx="77724" cy="77724"/>
          </a:xfrm>
          <a:prstGeom prst="ellipse">
            <a:avLst/>
          </a:prstGeom>
          <a:solidFill>
            <a:srgbClr val="E5A83B"/>
          </a:solidFill>
          <a:ln w="2540">
            <a:solidFill>
              <a:srgbClr val="E5A8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10144" y="4407408"/>
            <a:ext cx="2990088" cy="50292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Belum ada kebijakan formal yang menjamin jadwal rutin.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5623560"/>
            <a:ext cx="10241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 monitoring mencatat 10 kelas terjangkau; belum semua kelas melaporkan kegiatan.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30" kern="0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ANALISIS HASIL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18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Bedakan output yang selesai dan outcome yang mulai terlihat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produk kuat; jangkauan dan keberlanjutan masih memerlukan dukungan lanjutan.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516636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37360"/>
            <a:ext cx="5166360" cy="73152"/>
          </a:xfrm>
          <a:prstGeom prst="rect">
            <a:avLst>
              <a:gd name="adj" fmla="val 150000"/>
            </a:avLst>
          </a:prstGeom>
          <a:solidFill>
            <a:srgbClr val="185DA8"/>
          </a:solidFill>
          <a:ln w="12700">
            <a:solidFill>
              <a:srgbClr val="185D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011680"/>
            <a:ext cx="4480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— HASIL LANGSUNG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2638044"/>
            <a:ext cx="77724" cy="77724"/>
          </a:xfrm>
          <a:prstGeom prst="ellipse">
            <a:avLst/>
          </a:prstGeom>
          <a:solidFill>
            <a:srgbClr val="185DA8"/>
          </a:solidFill>
          <a:ln w="2540">
            <a:solidFill>
              <a:srgbClr val="185D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61872" y="2542032"/>
            <a:ext cx="4361688" cy="38404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peserta mengikuti pelatihan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3168396"/>
            <a:ext cx="77724" cy="77724"/>
          </a:xfrm>
          <a:prstGeom prst="ellipse">
            <a:avLst/>
          </a:prstGeom>
          <a:solidFill>
            <a:srgbClr val="185DA8"/>
          </a:solidFill>
          <a:ln w="2540">
            <a:solidFill>
              <a:srgbClr val="185D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61872" y="3072384"/>
            <a:ext cx="4361688" cy="38404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Duta Literasi Digital dibentuk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3698748"/>
            <a:ext cx="77724" cy="77724"/>
          </a:xfrm>
          <a:prstGeom prst="ellipse">
            <a:avLst/>
          </a:prstGeom>
          <a:solidFill>
            <a:srgbClr val="185DA8"/>
          </a:solidFill>
          <a:ln w="2540">
            <a:solidFill>
              <a:srgbClr val="185D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61872" y="3602736"/>
            <a:ext cx="4361688" cy="38404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E-modul, landing page, game, monitoring, QR keychain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97280" y="4229100"/>
            <a:ext cx="77724" cy="77724"/>
          </a:xfrm>
          <a:prstGeom prst="ellipse">
            <a:avLst/>
          </a:prstGeom>
          <a:solidFill>
            <a:srgbClr val="185DA8"/>
          </a:solidFill>
          <a:ln w="2540">
            <a:solidFill>
              <a:srgbClr val="185D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61872" y="4133088"/>
            <a:ext cx="4361688" cy="38404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poster dibuat dan dipasang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7280" y="4759452"/>
            <a:ext cx="77724" cy="77724"/>
          </a:xfrm>
          <a:prstGeom prst="ellipse">
            <a:avLst/>
          </a:prstGeom>
          <a:solidFill>
            <a:srgbClr val="185DA8"/>
          </a:solidFill>
          <a:ln w="2540">
            <a:solidFill>
              <a:srgbClr val="185D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61872" y="4663440"/>
            <a:ext cx="4361688" cy="38404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dan hasil tes direkap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1737360"/>
            <a:ext cx="516636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737360"/>
            <a:ext cx="5166360" cy="73152"/>
          </a:xfrm>
          <a:prstGeom prst="rect">
            <a:avLst>
              <a:gd name="adj" fmla="val 150000"/>
            </a:avLst>
          </a:prstGeom>
          <a:solidFill>
            <a:srgbClr val="329879"/>
          </a:solidFill>
          <a:ln w="12700">
            <a:solidFill>
              <a:srgbClr val="32987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0" y="2011680"/>
            <a:ext cx="4480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29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— PERUBAHAN AWAL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0" y="2638044"/>
            <a:ext cx="77724" cy="77724"/>
          </a:xfrm>
          <a:prstGeom prst="ellipse">
            <a:avLst/>
          </a:prstGeom>
          <a:solidFill>
            <a:srgbClr val="329879"/>
          </a:solidFill>
          <a:ln w="2540">
            <a:solidFill>
              <a:srgbClr val="32987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48272" y="2542032"/>
            <a:ext cx="4361688" cy="40233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Peserta memberi feedback positif atas pemahaman dan relevansi materi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3168396"/>
            <a:ext cx="77724" cy="77724"/>
          </a:xfrm>
          <a:prstGeom prst="ellipse">
            <a:avLst/>
          </a:prstGeom>
          <a:solidFill>
            <a:srgbClr val="329879"/>
          </a:solidFill>
          <a:ln w="2540">
            <a:solidFill>
              <a:srgbClr val="32987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48272" y="3072384"/>
            <a:ext cx="4361688" cy="40233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Peserta menyatakan niat menerapkan prinsip CARE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3698748"/>
            <a:ext cx="77724" cy="77724"/>
          </a:xfrm>
          <a:prstGeom prst="ellipse">
            <a:avLst/>
          </a:prstGeom>
          <a:solidFill>
            <a:srgbClr val="329879"/>
          </a:solidFill>
          <a:ln w="2540">
            <a:solidFill>
              <a:srgbClr val="32987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48272" y="3602736"/>
            <a:ext cx="4361688" cy="40233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Duta mulai membagikan materi di 10 kelas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4229100"/>
            <a:ext cx="77724" cy="77724"/>
          </a:xfrm>
          <a:prstGeom prst="ellipse">
            <a:avLst/>
          </a:prstGeom>
          <a:solidFill>
            <a:srgbClr val="329879"/>
          </a:solidFill>
          <a:ln w="2540">
            <a:solidFill>
              <a:srgbClr val="32987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48272" y="4133088"/>
            <a:ext cx="4361688" cy="40233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Belum ada bukti perubahan perilaku jangka panjang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0" y="4759452"/>
            <a:ext cx="77724" cy="77724"/>
          </a:xfrm>
          <a:prstGeom prst="ellipse">
            <a:avLst/>
          </a:prstGeom>
          <a:solidFill>
            <a:srgbClr val="329879"/>
          </a:solidFill>
          <a:ln w="2540">
            <a:solidFill>
              <a:srgbClr val="32987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48272" y="4663440"/>
            <a:ext cx="4361688" cy="40233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belum ditetapkan secara formal untuk keberlanjutan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30" kern="0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TANTANGAN DAN SOLUSI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18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 yang dipelajari dari hambatan lapangan?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Masalah tidak selalu bisa dihilangkan; yang penting adalah respons tim dan perbaikan sistem berikutnya.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23774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TANTANGAN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1691640"/>
            <a:ext cx="2651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PENYEBAB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691640"/>
            <a:ext cx="2651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 TIM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144000" y="1691640"/>
            <a:ext cx="2194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ARAH PERBAIKAN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029968"/>
            <a:ext cx="10698480" cy="0"/>
          </a:xfrm>
          <a:prstGeom prst="line">
            <a:avLst/>
          </a:prstGeom>
          <a:noFill/>
          <a:ln w="15240">
            <a:solidFill>
              <a:srgbClr val="DCE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130552"/>
            <a:ext cx="10789920" cy="758952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176272"/>
            <a:ext cx="23317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Tautan QR pre-test keliru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2176272"/>
            <a:ext cx="26517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Belum diuji dalam mode responden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176272"/>
            <a:ext cx="26517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Perbaiki tautan saat kegiatan; uji semua link sebelum acara.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0" y="2176272"/>
            <a:ext cx="22402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2852928"/>
            <a:ext cx="10607040" cy="0"/>
          </a:xfrm>
          <a:prstGeom prst="line">
            <a:avLst/>
          </a:prstGeom>
          <a:noFill/>
          <a:ln w="7620">
            <a:solidFill>
              <a:srgbClr val="E6EB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017520"/>
            <a:ext cx="23317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Keterlambatan tugas/miskom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3017520"/>
            <a:ext cx="26517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Waktu anggota berbeda dan beban mengajar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017520"/>
            <a:ext cx="26517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Pembagian tugas terstruktur, follow-up, dan meeting kondisional.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3017520"/>
            <a:ext cx="22402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3694176"/>
            <a:ext cx="10607040" cy="0"/>
          </a:xfrm>
          <a:prstGeom prst="line">
            <a:avLst/>
          </a:prstGeom>
          <a:noFill/>
          <a:ln w="7620">
            <a:solidFill>
              <a:srgbClr val="E6EB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813048"/>
            <a:ext cx="10789920" cy="758952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3858768"/>
            <a:ext cx="23317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 education hanya 10 kelas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337560" y="3858768"/>
            <a:ext cx="26517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literasi Jumat padat; belum ada jadwal formal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3858768"/>
            <a:ext cx="26517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Sepakati slot dan dukungan guru sejak perencanaan.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3858768"/>
            <a:ext cx="22402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7240" y="4535424"/>
            <a:ext cx="10607040" cy="0"/>
          </a:xfrm>
          <a:prstGeom prst="line">
            <a:avLst/>
          </a:prstGeom>
          <a:noFill/>
          <a:ln w="7620">
            <a:solidFill>
              <a:srgbClr val="E6EB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4700016"/>
            <a:ext cx="23317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masih fokus pada CARE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337560" y="4700016"/>
            <a:ext cx="26517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Waktu terbatas dan belum ada roadmap materi lanjutan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4700016"/>
            <a:ext cx="26517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Perluas praktik, studi kasus, PDP, penipuan, etika, dan wellness.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4700016"/>
            <a:ext cx="22402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7240" y="5376672"/>
            <a:ext cx="10607040" cy="0"/>
          </a:xfrm>
          <a:prstGeom prst="line">
            <a:avLst/>
          </a:prstGeom>
          <a:noFill/>
          <a:ln w="7620">
            <a:solidFill>
              <a:srgbClr val="E6EBF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30" kern="0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REFLEKSI KEPEMIMPINAN KELOMPOK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18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What? — So What? — Now What?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Refleksi kolektif atas proses kerja, tantangan, dan pembelajaran.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493008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3493008" cy="73152"/>
          </a:xfrm>
          <a:prstGeom prst="rect">
            <a:avLst>
              <a:gd name="adj" fmla="val 150000"/>
            </a:avLst>
          </a:prstGeom>
          <a:solidFill>
            <a:srgbClr val="185DA8"/>
          </a:solidFill>
          <a:ln w="12700">
            <a:solidFill>
              <a:srgbClr val="185D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103120"/>
            <a:ext cx="2926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WHAT?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633472"/>
            <a:ext cx="2926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 yang terjadi?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182112"/>
            <a:ext cx="2907792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 menyelesaikan persiapan dan pelaksanaan utama di tengah tugas kuliah, tanggung jawab mengajar, dan koordinasi dengan banyak pihak. Pelatihan serta produk utama berhasil diwujudkan.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53712" y="1828800"/>
            <a:ext cx="3493008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1828800"/>
            <a:ext cx="3493008" cy="73152"/>
          </a:xfrm>
          <a:prstGeom prst="rect">
            <a:avLst>
              <a:gd name="adj" fmla="val 150000"/>
            </a:avLst>
          </a:prstGeom>
          <a:solidFill>
            <a:srgbClr val="35A0B6"/>
          </a:solidFill>
          <a:ln w="12700">
            <a:solidFill>
              <a:srgbClr val="35A0B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82312" y="2103120"/>
            <a:ext cx="2926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35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WHAT?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782312" y="2633472"/>
            <a:ext cx="2926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Mengapa penting?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28032" y="3182112"/>
            <a:ext cx="2907792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Pembagian kerja yang saling melengkapi membantu acara terlaksana. Namun, ritme kerja, regulasi emosi, komunikasi, dan dukungan sekolah ikut menentukan seberapa jauh hasil dapat diteruskan.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75904" y="1828800"/>
            <a:ext cx="3493008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5904" y="1828800"/>
            <a:ext cx="3493008" cy="73152"/>
          </a:xfrm>
          <a:prstGeom prst="rect">
            <a:avLst>
              <a:gd name="adj" fmla="val 150000"/>
            </a:avLst>
          </a:prstGeom>
          <a:solidFill>
            <a:srgbClr val="329879"/>
          </a:solidFill>
          <a:ln w="12700">
            <a:solidFill>
              <a:srgbClr val="32987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04504" y="2103120"/>
            <a:ext cx="2926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329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WHAT?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604504" y="2633472"/>
            <a:ext cx="2926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 tindak lanjutnya?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650224" y="3182112"/>
            <a:ext cx="2907792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Perkuat perencanaan risiko, jadwal dan target realistis, dokumentasi keputusan, keterampilan mengelola emosi, praktik berbasis kasus, serta mekanisme monitoring setelah acara.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5623560"/>
            <a:ext cx="10149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Pembelajaran kunci: keberhasilan proyek bukan hanya selesai acara, tetapi juga terbentuknya kapasitas dan sistem untuk melanjutkan dampak.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30" kern="0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KEBERLANJUTAN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18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Modal sudah ada; sistem lanjutan perlu diperkuat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belum diserahkan secara formal sebagai program berkelanjutan sekolah.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51206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37360"/>
            <a:ext cx="5120640" cy="73152"/>
          </a:xfrm>
          <a:prstGeom prst="rect">
            <a:avLst>
              <a:gd name="adj" fmla="val 150000"/>
            </a:avLst>
          </a:prstGeom>
          <a:solidFill>
            <a:srgbClr val="329879"/>
          </a:solidFill>
          <a:ln w="12700">
            <a:solidFill>
              <a:srgbClr val="3298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78992" y="2011680"/>
            <a:ext cx="4480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29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MODAL KEBERLANJUTAN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2638044"/>
            <a:ext cx="77724" cy="77724"/>
          </a:xfrm>
          <a:prstGeom prst="ellipse">
            <a:avLst/>
          </a:prstGeom>
          <a:solidFill>
            <a:srgbClr val="329879"/>
          </a:solidFill>
          <a:ln w="2540">
            <a:solidFill>
              <a:srgbClr val="32987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61872" y="2542032"/>
            <a:ext cx="4315968" cy="38404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Duta Literasi Digital sudah dibentuk.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3223260"/>
            <a:ext cx="77724" cy="77724"/>
          </a:xfrm>
          <a:prstGeom prst="ellipse">
            <a:avLst/>
          </a:prstGeom>
          <a:solidFill>
            <a:srgbClr val="329879"/>
          </a:solidFill>
          <a:ln w="2540">
            <a:solidFill>
              <a:srgbClr val="32987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61872" y="3127248"/>
            <a:ext cx="4315968" cy="5943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edukasi dapat digunakan kembali: e-modul, game, landing page, dan QR.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3982212"/>
            <a:ext cx="77724" cy="77724"/>
          </a:xfrm>
          <a:prstGeom prst="ellipse">
            <a:avLst/>
          </a:prstGeom>
          <a:solidFill>
            <a:srgbClr val="329879"/>
          </a:solidFill>
          <a:ln w="2540">
            <a:solidFill>
              <a:srgbClr val="32987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61872" y="3886200"/>
            <a:ext cx="4315968" cy="5943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 literasi Jumat memberi peluang untuk edukasi digital ketika topiknya sesuai jadwal.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0" y="4686300"/>
            <a:ext cx="77724" cy="77724"/>
          </a:xfrm>
          <a:prstGeom prst="ellipse">
            <a:avLst/>
          </a:prstGeom>
          <a:solidFill>
            <a:srgbClr val="329879"/>
          </a:solidFill>
          <a:ln w="2540">
            <a:solidFill>
              <a:srgbClr val="32987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61872" y="4590288"/>
            <a:ext cx="4315968" cy="51206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 rekomendasi penyampaian materi Digital Leadership pascapengukuhan MPK/OSIS.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737360"/>
            <a:ext cx="516636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737360"/>
            <a:ext cx="5166360" cy="73152"/>
          </a:xfrm>
          <a:prstGeom prst="rect">
            <a:avLst>
              <a:gd name="adj" fmla="val 150000"/>
            </a:avLst>
          </a:prstGeom>
          <a:solidFill>
            <a:srgbClr val="E5A83B"/>
          </a:solidFill>
          <a:ln w="12700">
            <a:solidFill>
              <a:srgbClr val="E5A8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7960" y="2011680"/>
            <a:ext cx="4480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A86D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REKOMENDASI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65392" y="2638044"/>
            <a:ext cx="77724" cy="77724"/>
          </a:xfrm>
          <a:prstGeom prst="ellipse">
            <a:avLst/>
          </a:prstGeom>
          <a:solidFill>
            <a:srgbClr val="E5A83B"/>
          </a:solidFill>
          <a:ln w="2540">
            <a:solidFill>
              <a:srgbClr val="E5A8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9984" y="2542032"/>
            <a:ext cx="4315968" cy="54864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Sepakati slot, target kelas, dan penanggung jawab bersama kurikulum/guru.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65392" y="3296412"/>
            <a:ext cx="77724" cy="77724"/>
          </a:xfrm>
          <a:prstGeom prst="ellipse">
            <a:avLst/>
          </a:prstGeom>
          <a:solidFill>
            <a:srgbClr val="E5A83B"/>
          </a:solidFill>
          <a:ln w="2540">
            <a:solidFill>
              <a:srgbClr val="E5A8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29984" y="3200400"/>
            <a:ext cx="4315968" cy="53035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Guru/wali kelas mendampingi Duta sesuai kesempatan dan agenda sekolah.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65392" y="3936492"/>
            <a:ext cx="77724" cy="77724"/>
          </a:xfrm>
          <a:prstGeom prst="ellipse">
            <a:avLst/>
          </a:prstGeom>
          <a:solidFill>
            <a:srgbClr val="E5A83B"/>
          </a:solidFill>
          <a:ln w="2540">
            <a:solidFill>
              <a:srgbClr val="E5A83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29984" y="3840480"/>
            <a:ext cx="4315968" cy="53035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Perluas materi di luar CARE serta tambahkan praktik dan studi kasus nyata.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65392" y="4594860"/>
            <a:ext cx="77724" cy="77724"/>
          </a:xfrm>
          <a:prstGeom prst="ellipse">
            <a:avLst/>
          </a:prstGeom>
          <a:solidFill>
            <a:srgbClr val="E5A83B"/>
          </a:solidFill>
          <a:ln w="2540">
            <a:solidFill>
              <a:srgbClr val="E5A83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29984" y="4498848"/>
            <a:ext cx="4315968" cy="56692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Lanjutkan monitoring, dokumentasikan kelas yang terjangkau, dan perbarui tautan media.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96112" y="5623560"/>
            <a:ext cx="10424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Catatan: kegiatan berkelanjutan masih bergantung pada ketersediaan waktu dan dukungan sekolah.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30" kern="0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KESIMPULAN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18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selesai dilaksanakan; keberlanjutan menjadi pekerjaan berikutnya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Tiga pesan utama untuk menutup presentasi.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783080"/>
            <a:ext cx="10378440" cy="941832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783080"/>
            <a:ext cx="10378440" cy="73152"/>
          </a:xfrm>
          <a:prstGeom prst="rect">
            <a:avLst>
              <a:gd name="adj" fmla="val 150000"/>
            </a:avLst>
          </a:prstGeom>
          <a:solidFill>
            <a:srgbClr val="185DA8"/>
          </a:solidFill>
          <a:ln w="12700">
            <a:solidFill>
              <a:srgbClr val="185D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1984248"/>
            <a:ext cx="594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1929384"/>
            <a:ext cx="196596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utama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1901952"/>
            <a:ext cx="70866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Pelatihan menjangkau 50 peserta, membentuk 50 Duta, menghasilkan media pembelajaran, dan memasang 10 poster.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017520"/>
            <a:ext cx="10378440" cy="941832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017520"/>
            <a:ext cx="10378440" cy="73152"/>
          </a:xfrm>
          <a:prstGeom prst="rect">
            <a:avLst>
              <a:gd name="adj" fmla="val 150000"/>
            </a:avLst>
          </a:prstGeom>
          <a:solidFill>
            <a:srgbClr val="E5A83B"/>
          </a:solidFill>
          <a:ln w="12700">
            <a:solidFill>
              <a:srgbClr val="E5A8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3218688"/>
            <a:ext cx="594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E5A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3163824"/>
            <a:ext cx="196596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Bukti dan batasan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3136392"/>
            <a:ext cx="70866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positif dan post-test 100% tercatat; namun target kenaikan 20% tidak tercapai dari selisih skor, dan peer education baru menjangkau 10 dari 33 kelas.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4251960"/>
            <a:ext cx="10378440" cy="941832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251960"/>
            <a:ext cx="10378440" cy="73152"/>
          </a:xfrm>
          <a:prstGeom prst="rect">
            <a:avLst>
              <a:gd name="adj" fmla="val 150000"/>
            </a:avLst>
          </a:prstGeom>
          <a:solidFill>
            <a:srgbClr val="329879"/>
          </a:solidFill>
          <a:ln w="12700">
            <a:solidFill>
              <a:srgbClr val="32987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4453128"/>
            <a:ext cx="594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29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4398264"/>
            <a:ext cx="196596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Pembelajaran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4370832"/>
            <a:ext cx="70866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Kepemimpinan kolaboratif perlu menggabungkan pembagian kerja, adaptasi, pengukuran dampak, dukungan institusi, dan tindak lanjut yang terencana.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Terima kasih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30" kern="0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&amp; LAMPIRAN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18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Bukti yang mendukung laporan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dokumentasi asli dan beri keterangan singkat: jenis kegiatan, tanggal, dan konteks.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737360"/>
            <a:ext cx="251460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737360"/>
            <a:ext cx="2514600" cy="73152"/>
          </a:xfrm>
          <a:prstGeom prst="rect">
            <a:avLst>
              <a:gd name="adj" fmla="val 150000"/>
            </a:avLst>
          </a:prstGeom>
          <a:solidFill>
            <a:srgbClr val="185DA8"/>
          </a:solidFill>
          <a:ln w="12700">
            <a:solidFill>
              <a:srgbClr val="185D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883664"/>
            <a:ext cx="502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08176" y="1874520"/>
            <a:ext cx="1645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Koordinasi &amp; izin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29584" y="1737360"/>
            <a:ext cx="251460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9584" y="1737360"/>
            <a:ext cx="2514600" cy="73152"/>
          </a:xfrm>
          <a:prstGeom prst="rect">
            <a:avLst>
              <a:gd name="adj" fmla="val 150000"/>
            </a:avLst>
          </a:prstGeom>
          <a:solidFill>
            <a:srgbClr val="35A0B6"/>
          </a:solidFill>
          <a:ln w="12700">
            <a:solidFill>
              <a:srgbClr val="35A0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75888" y="1883664"/>
            <a:ext cx="502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5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24528" y="1874520"/>
            <a:ext cx="1645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Asesmen awal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45936" y="1737360"/>
            <a:ext cx="251460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45936" y="1737360"/>
            <a:ext cx="2514600" cy="73152"/>
          </a:xfrm>
          <a:prstGeom prst="rect">
            <a:avLst>
              <a:gd name="adj" fmla="val 150000"/>
            </a:avLst>
          </a:prstGeom>
          <a:solidFill>
            <a:srgbClr val="7861B3"/>
          </a:solidFill>
          <a:ln w="12700">
            <a:solidFill>
              <a:srgbClr val="7861B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1883664"/>
            <a:ext cx="502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7861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1874520"/>
            <a:ext cx="1645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Pre-test &amp; post-test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62288" y="1737360"/>
            <a:ext cx="251460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62288" y="1737360"/>
            <a:ext cx="2514600" cy="73152"/>
          </a:xfrm>
          <a:prstGeom prst="rect">
            <a:avLst>
              <a:gd name="adj" fmla="val 150000"/>
            </a:avLst>
          </a:prstGeom>
          <a:solidFill>
            <a:srgbClr val="329879"/>
          </a:solidFill>
          <a:ln w="12700">
            <a:solidFill>
              <a:srgbClr val="32987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08592" y="1883664"/>
            <a:ext cx="502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29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857232" y="1874520"/>
            <a:ext cx="1645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Daftar hadir &amp; rundown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3232" y="2980944"/>
            <a:ext cx="251460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2980944"/>
            <a:ext cx="2514600" cy="73152"/>
          </a:xfrm>
          <a:prstGeom prst="rect">
            <a:avLst>
              <a:gd name="adj" fmla="val 150000"/>
            </a:avLst>
          </a:prstGeom>
          <a:solidFill>
            <a:srgbClr val="185DA8"/>
          </a:solidFill>
          <a:ln w="12700">
            <a:solidFill>
              <a:srgbClr val="185DA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9536" y="3127248"/>
            <a:ext cx="502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408176" y="3118104"/>
            <a:ext cx="1645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Pelatihan &amp; Duta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529584" y="2980944"/>
            <a:ext cx="251460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9584" y="2980944"/>
            <a:ext cx="2514600" cy="73152"/>
          </a:xfrm>
          <a:prstGeom prst="rect">
            <a:avLst>
              <a:gd name="adj" fmla="val 150000"/>
            </a:avLst>
          </a:prstGeom>
          <a:solidFill>
            <a:srgbClr val="35A0B6"/>
          </a:solidFill>
          <a:ln w="12700">
            <a:solidFill>
              <a:srgbClr val="35A0B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75888" y="3127248"/>
            <a:ext cx="502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5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224528" y="3118104"/>
            <a:ext cx="1645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Produk media digital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45936" y="2980944"/>
            <a:ext cx="251460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45936" y="2980944"/>
            <a:ext cx="2514600" cy="73152"/>
          </a:xfrm>
          <a:prstGeom prst="rect">
            <a:avLst>
              <a:gd name="adj" fmla="val 150000"/>
            </a:avLst>
          </a:prstGeom>
          <a:solidFill>
            <a:srgbClr val="7861B3"/>
          </a:solidFill>
          <a:ln w="12700">
            <a:solidFill>
              <a:srgbClr val="7861B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92240" y="3127248"/>
            <a:ext cx="502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7861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3118104"/>
            <a:ext cx="1645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 &amp; mading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162288" y="2980944"/>
            <a:ext cx="251460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62288" y="2980944"/>
            <a:ext cx="2514600" cy="73152"/>
          </a:xfrm>
          <a:prstGeom prst="rect">
            <a:avLst>
              <a:gd name="adj" fmla="val 150000"/>
            </a:avLst>
          </a:prstGeom>
          <a:solidFill>
            <a:srgbClr val="329879"/>
          </a:solidFill>
          <a:ln w="12700">
            <a:solidFill>
              <a:srgbClr val="32987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308592" y="3127248"/>
            <a:ext cx="502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29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9857232" y="3118104"/>
            <a:ext cx="1645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peserta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13232" y="4224528"/>
            <a:ext cx="251460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3232" y="4224528"/>
            <a:ext cx="2514600" cy="73152"/>
          </a:xfrm>
          <a:prstGeom prst="rect">
            <a:avLst>
              <a:gd name="adj" fmla="val 150000"/>
            </a:avLst>
          </a:prstGeom>
          <a:solidFill>
            <a:srgbClr val="185DA8"/>
          </a:solidFill>
          <a:ln w="12700">
            <a:solidFill>
              <a:srgbClr val="185DA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9536" y="4370832"/>
            <a:ext cx="502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1408176" y="4361688"/>
            <a:ext cx="1645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10 kelas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529584" y="4224528"/>
            <a:ext cx="251460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29584" y="4224528"/>
            <a:ext cx="2514600" cy="73152"/>
          </a:xfrm>
          <a:prstGeom prst="rect">
            <a:avLst>
              <a:gd name="adj" fmla="val 150000"/>
            </a:avLst>
          </a:prstGeom>
          <a:solidFill>
            <a:srgbClr val="35A0B6"/>
          </a:solidFill>
          <a:ln w="12700">
            <a:solidFill>
              <a:srgbClr val="35A0B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675888" y="4370832"/>
            <a:ext cx="502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5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4224528" y="4361688"/>
            <a:ext cx="1645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RAB &amp; realisasi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345936" y="4224528"/>
            <a:ext cx="251460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45936" y="4224528"/>
            <a:ext cx="2514600" cy="73152"/>
          </a:xfrm>
          <a:prstGeom prst="rect">
            <a:avLst>
              <a:gd name="adj" fmla="val 150000"/>
            </a:avLst>
          </a:prstGeom>
          <a:solidFill>
            <a:srgbClr val="7861B3"/>
          </a:solidFill>
          <a:ln w="12700">
            <a:solidFill>
              <a:srgbClr val="7861B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92240" y="4370832"/>
            <a:ext cx="502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7861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7040880" y="4361688"/>
            <a:ext cx="1645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Tindak lanjut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162288" y="4224528"/>
            <a:ext cx="251460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62288" y="4224528"/>
            <a:ext cx="2514600" cy="73152"/>
          </a:xfrm>
          <a:prstGeom prst="rect">
            <a:avLst>
              <a:gd name="adj" fmla="val 150000"/>
            </a:avLst>
          </a:prstGeom>
          <a:solidFill>
            <a:srgbClr val="329879"/>
          </a:solidFill>
          <a:ln w="12700">
            <a:solidFill>
              <a:srgbClr val="32987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308592" y="4370832"/>
            <a:ext cx="502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29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9857232" y="4361688"/>
            <a:ext cx="1645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dokumentasi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868680" y="5779008"/>
            <a:ext cx="10424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Lampiran perlu berisi bukti yang benar-benar tersedia; jangan membuat dokumen atau foto pengganti.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30" kern="0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18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Koordinasi, perizinan, dan persiapan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Ganti placeholder dengan bukti aktual yang sesuai.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737360"/>
            <a:ext cx="3429000" cy="3429000"/>
          </a:xfrm>
          <a:prstGeom prst="roundRect">
            <a:avLst>
              <a:gd name="adj" fmla="val 2133"/>
            </a:avLst>
          </a:prstGeom>
          <a:solidFill>
            <a:srgbClr val="EDF2F8"/>
          </a:solidFill>
          <a:ln w="13970">
            <a:solidFill>
              <a:srgbClr val="92A8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87702" y="1883664"/>
            <a:ext cx="480060" cy="219456"/>
          </a:xfrm>
          <a:prstGeom prst="rect">
            <a:avLst/>
          </a:prstGeom>
          <a:solidFill>
            <a:srgbClr val="D5E1EF"/>
          </a:solidFill>
          <a:ln w="2540">
            <a:solidFill>
              <a:srgbClr val="D5E1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246120"/>
            <a:ext cx="32095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SURAT IZIN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3639312"/>
            <a:ext cx="31363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foto/screenshot izin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429000" cy="3429000"/>
          </a:xfrm>
          <a:prstGeom prst="roundRect">
            <a:avLst>
              <a:gd name="adj" fmla="val 2133"/>
            </a:avLst>
          </a:prstGeom>
          <a:solidFill>
            <a:srgbClr val="EDF2F8"/>
          </a:solidFill>
          <a:ln w="13970">
            <a:solidFill>
              <a:srgbClr val="92A8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63590" y="1883664"/>
            <a:ext cx="480060" cy="219456"/>
          </a:xfrm>
          <a:prstGeom prst="rect">
            <a:avLst/>
          </a:prstGeom>
          <a:solidFill>
            <a:srgbClr val="D5E1EF"/>
          </a:solidFill>
          <a:ln w="2540">
            <a:solidFill>
              <a:srgbClr val="D5E1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98848" y="3246120"/>
            <a:ext cx="32095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KOORDINASI SEKOLAH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35424" y="3639312"/>
            <a:ext cx="31363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foto/rekap koordinasi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65008" y="1737360"/>
            <a:ext cx="3429000" cy="3429000"/>
          </a:xfrm>
          <a:prstGeom prst="roundRect">
            <a:avLst>
              <a:gd name="adj" fmla="val 2133"/>
            </a:avLst>
          </a:prstGeom>
          <a:solidFill>
            <a:srgbClr val="EDF2F8"/>
          </a:solidFill>
          <a:ln w="13970">
            <a:solidFill>
              <a:srgbClr val="92A8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39478" y="1883664"/>
            <a:ext cx="480060" cy="219456"/>
          </a:xfrm>
          <a:prstGeom prst="rect">
            <a:avLst/>
          </a:prstGeom>
          <a:solidFill>
            <a:srgbClr val="D5E1EF"/>
          </a:solidFill>
          <a:ln w="2540">
            <a:solidFill>
              <a:srgbClr val="D5E1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74736" y="3246120"/>
            <a:ext cx="32095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PERSIAPAN TIM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11312" y="3639312"/>
            <a:ext cx="31363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foto rapat/pembagian tugas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577840"/>
            <a:ext cx="10424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Caption contoh: Koordinasi dengan unsur sekolah untuk menyepakati peserta, jadwal, kebutuhan, dan perizinan projek.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30" kern="0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02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18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Pelatihan dan pembentukan Duta — 22 September 2026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Lokasi: FTI UKSW. Sertakan foto yang menunjukkan peserta dan kegiatan secara jelas.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737360"/>
            <a:ext cx="3429000" cy="3429000"/>
          </a:xfrm>
          <a:prstGeom prst="roundRect">
            <a:avLst>
              <a:gd name="adj" fmla="val 2133"/>
            </a:avLst>
          </a:prstGeom>
          <a:solidFill>
            <a:srgbClr val="EDF2F8"/>
          </a:solidFill>
          <a:ln w="13970">
            <a:solidFill>
              <a:srgbClr val="92A8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87702" y="1883664"/>
            <a:ext cx="480060" cy="219456"/>
          </a:xfrm>
          <a:prstGeom prst="rect">
            <a:avLst/>
          </a:prstGeom>
          <a:solidFill>
            <a:srgbClr val="D5E1EF"/>
          </a:solidFill>
          <a:ln w="2540">
            <a:solidFill>
              <a:srgbClr val="D5E1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246120"/>
            <a:ext cx="32095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PEMBUKAAN / MATERI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3639312"/>
            <a:ext cx="31363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 kegiatan pelatihan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429000" cy="3429000"/>
          </a:xfrm>
          <a:prstGeom prst="roundRect">
            <a:avLst>
              <a:gd name="adj" fmla="val 2133"/>
            </a:avLst>
          </a:prstGeom>
          <a:solidFill>
            <a:srgbClr val="EDF2F8"/>
          </a:solidFill>
          <a:ln w="13970">
            <a:solidFill>
              <a:srgbClr val="92A8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63590" y="1883664"/>
            <a:ext cx="480060" cy="219456"/>
          </a:xfrm>
          <a:prstGeom prst="rect">
            <a:avLst/>
          </a:prstGeom>
          <a:solidFill>
            <a:srgbClr val="D5E1EF"/>
          </a:solidFill>
          <a:ln w="2540">
            <a:solidFill>
              <a:srgbClr val="D5E1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98848" y="3246120"/>
            <a:ext cx="32095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 / DISKUSI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35424" y="3639312"/>
            <a:ext cx="31363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 peserta menggunakan media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65008" y="1737360"/>
            <a:ext cx="3429000" cy="3429000"/>
          </a:xfrm>
          <a:prstGeom prst="roundRect">
            <a:avLst>
              <a:gd name="adj" fmla="val 2133"/>
            </a:avLst>
          </a:prstGeom>
          <a:solidFill>
            <a:srgbClr val="EDF2F8"/>
          </a:solidFill>
          <a:ln w="13970">
            <a:solidFill>
              <a:srgbClr val="92A8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39478" y="1883664"/>
            <a:ext cx="480060" cy="219456"/>
          </a:xfrm>
          <a:prstGeom prst="rect">
            <a:avLst/>
          </a:prstGeom>
          <a:solidFill>
            <a:srgbClr val="D5E1EF"/>
          </a:solidFill>
          <a:ln w="2540">
            <a:solidFill>
              <a:srgbClr val="D5E1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74736" y="3246120"/>
            <a:ext cx="32095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PEMBENTUKAN DUTA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11312" y="3639312"/>
            <a:ext cx="31363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 kelompok/penutupan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577840"/>
            <a:ext cx="10424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Caption contoh: Pelaksanaan pelatihan literasi digital dan pembentukan 50 Duta Literasi Digital SMANDA.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30" kern="0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03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18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Produk media pembelajaran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Sisihkan ruang untuk screenshot produk asli; pastikan URL/QR dapat dibaca bila diperlukan.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737360"/>
            <a:ext cx="3429000" cy="1627632"/>
          </a:xfrm>
          <a:prstGeom prst="roundRect">
            <a:avLst>
              <a:gd name="adj" fmla="val 4494"/>
            </a:avLst>
          </a:prstGeom>
          <a:solidFill>
            <a:srgbClr val="EDF2F8"/>
          </a:solidFill>
          <a:ln w="13970">
            <a:solidFill>
              <a:srgbClr val="92A8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87702" y="1883664"/>
            <a:ext cx="480060" cy="219456"/>
          </a:xfrm>
          <a:prstGeom prst="rect">
            <a:avLst/>
          </a:prstGeom>
          <a:solidFill>
            <a:srgbClr val="D5E1EF"/>
          </a:solidFill>
          <a:ln w="2540">
            <a:solidFill>
              <a:srgbClr val="D5E1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53518"/>
            <a:ext cx="32095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LANDING PAGE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846710"/>
            <a:ext cx="31363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beranda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429000" cy="1627632"/>
          </a:xfrm>
          <a:prstGeom prst="roundRect">
            <a:avLst>
              <a:gd name="adj" fmla="val 4494"/>
            </a:avLst>
          </a:prstGeom>
          <a:solidFill>
            <a:srgbClr val="EDF2F8"/>
          </a:solidFill>
          <a:ln w="13970">
            <a:solidFill>
              <a:srgbClr val="92A8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63590" y="1883664"/>
            <a:ext cx="480060" cy="219456"/>
          </a:xfrm>
          <a:prstGeom prst="rect">
            <a:avLst/>
          </a:prstGeom>
          <a:solidFill>
            <a:srgbClr val="D5E1EF"/>
          </a:solidFill>
          <a:ln w="2540">
            <a:solidFill>
              <a:srgbClr val="D5E1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98848" y="2453518"/>
            <a:ext cx="32095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E-MODUL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35424" y="2846710"/>
            <a:ext cx="31363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halaman modul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65008" y="1737360"/>
            <a:ext cx="3429000" cy="1627632"/>
          </a:xfrm>
          <a:prstGeom prst="roundRect">
            <a:avLst>
              <a:gd name="adj" fmla="val 4494"/>
            </a:avLst>
          </a:prstGeom>
          <a:solidFill>
            <a:srgbClr val="EDF2F8"/>
          </a:solidFill>
          <a:ln w="13970">
            <a:solidFill>
              <a:srgbClr val="92A8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39478" y="1883664"/>
            <a:ext cx="480060" cy="219456"/>
          </a:xfrm>
          <a:prstGeom prst="rect">
            <a:avLst/>
          </a:prstGeom>
          <a:solidFill>
            <a:srgbClr val="D5E1EF"/>
          </a:solidFill>
          <a:ln w="2540">
            <a:solidFill>
              <a:srgbClr val="D5E1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74736" y="2453518"/>
            <a:ext cx="32095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GAME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11312" y="2846710"/>
            <a:ext cx="31363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gameplay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0" y="370332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EDF2F8"/>
          </a:solidFill>
          <a:ln w="13970">
            <a:solidFill>
              <a:srgbClr val="92A8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34790" y="3849624"/>
            <a:ext cx="480060" cy="219456"/>
          </a:xfrm>
          <a:prstGeom prst="rect">
            <a:avLst/>
          </a:prstGeom>
          <a:solidFill>
            <a:srgbClr val="D5E1EF"/>
          </a:solidFill>
          <a:ln w="2540">
            <a:solidFill>
              <a:srgbClr val="D5E1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70048" y="4367174"/>
            <a:ext cx="32095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KEYCHAIN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706624" y="4760366"/>
            <a:ext cx="31363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 keychain/QR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370332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EDF2F8"/>
          </a:solidFill>
          <a:ln w="13970">
            <a:solidFill>
              <a:srgbClr val="92A8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92390" y="3849624"/>
            <a:ext cx="480060" cy="219456"/>
          </a:xfrm>
          <a:prstGeom prst="rect">
            <a:avLst/>
          </a:prstGeom>
          <a:solidFill>
            <a:srgbClr val="D5E1EF"/>
          </a:solidFill>
          <a:ln w="2540">
            <a:solidFill>
              <a:srgbClr val="D5E1E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27648" y="4367174"/>
            <a:ext cx="32095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 MONITORING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64224" y="4760366"/>
            <a:ext cx="31363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Google Sheet/menu refleksi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5623560"/>
            <a:ext cx="10424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Bukti inovasi: integrasi e-modul, game, refleksi, dan monitoring.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30" kern="0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04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18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Sepuluh poster kampanye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Susun poster kelompok sebagai thumbnail atau sisipkan satu foto kolase poster.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73736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EDF2F8"/>
          </a:solidFill>
          <a:ln w="13970">
            <a:solidFill>
              <a:srgbClr val="92A8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97914" y="1883664"/>
            <a:ext cx="288036" cy="219456"/>
          </a:xfrm>
          <a:prstGeom prst="rect">
            <a:avLst/>
          </a:prstGeom>
          <a:solidFill>
            <a:srgbClr val="D5E1EF"/>
          </a:solidFill>
          <a:ln w="2540">
            <a:solidFill>
              <a:srgbClr val="D5E1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280514"/>
            <a:ext cx="18379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 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673706"/>
            <a:ext cx="17647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Tempel gambar poster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17520" y="173736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EDF2F8"/>
          </a:solidFill>
          <a:ln w="13970">
            <a:solidFill>
              <a:srgbClr val="92A8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02202" y="1883664"/>
            <a:ext cx="288036" cy="219456"/>
          </a:xfrm>
          <a:prstGeom prst="rect">
            <a:avLst/>
          </a:prstGeom>
          <a:solidFill>
            <a:srgbClr val="D5E1EF"/>
          </a:solidFill>
          <a:ln w="2540">
            <a:solidFill>
              <a:srgbClr val="D5E1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27248" y="2280514"/>
            <a:ext cx="18379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 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163824" y="2673706"/>
            <a:ext cx="17647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Tempel gambar poster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21808" y="173736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EDF2F8"/>
          </a:solidFill>
          <a:ln w="13970">
            <a:solidFill>
              <a:srgbClr val="92A8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06490" y="1883664"/>
            <a:ext cx="288036" cy="219456"/>
          </a:xfrm>
          <a:prstGeom prst="rect">
            <a:avLst/>
          </a:prstGeom>
          <a:solidFill>
            <a:srgbClr val="D5E1EF"/>
          </a:solidFill>
          <a:ln w="2540">
            <a:solidFill>
              <a:srgbClr val="D5E1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31536" y="2280514"/>
            <a:ext cx="18379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 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68112" y="2673706"/>
            <a:ext cx="17647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Tempel gambar poster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626096" y="173736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EDF2F8"/>
          </a:solidFill>
          <a:ln w="13970">
            <a:solidFill>
              <a:srgbClr val="92A8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10778" y="1883664"/>
            <a:ext cx="288036" cy="219456"/>
          </a:xfrm>
          <a:prstGeom prst="rect">
            <a:avLst/>
          </a:prstGeom>
          <a:solidFill>
            <a:srgbClr val="D5E1EF"/>
          </a:solidFill>
          <a:ln w="2540">
            <a:solidFill>
              <a:srgbClr val="D5E1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35824" y="2280514"/>
            <a:ext cx="18379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 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2673706"/>
            <a:ext cx="17647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Tempel gambar poster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930384" y="173736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EDF2F8"/>
          </a:solidFill>
          <a:ln w="13970">
            <a:solidFill>
              <a:srgbClr val="92A8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15066" y="1883664"/>
            <a:ext cx="288036" cy="219456"/>
          </a:xfrm>
          <a:prstGeom prst="rect">
            <a:avLst/>
          </a:prstGeom>
          <a:solidFill>
            <a:srgbClr val="D5E1EF"/>
          </a:solidFill>
          <a:ln w="2540">
            <a:solidFill>
              <a:srgbClr val="D5E1E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40112" y="2280514"/>
            <a:ext cx="18379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 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076688" y="2673706"/>
            <a:ext cx="17647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Tempel gambar poster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3232" y="35204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EDF2F8"/>
          </a:solidFill>
          <a:ln w="13970">
            <a:solidFill>
              <a:srgbClr val="92A8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97914" y="3666744"/>
            <a:ext cx="288036" cy="219456"/>
          </a:xfrm>
          <a:prstGeom prst="rect">
            <a:avLst/>
          </a:prstGeom>
          <a:solidFill>
            <a:srgbClr val="D5E1EF"/>
          </a:solidFill>
          <a:ln w="2540">
            <a:solidFill>
              <a:srgbClr val="D5E1E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4063594"/>
            <a:ext cx="18379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 6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59536" y="4456786"/>
            <a:ext cx="17647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Tempel gambar poster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17520" y="35204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EDF2F8"/>
          </a:solidFill>
          <a:ln w="13970">
            <a:solidFill>
              <a:srgbClr val="92A8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02202" y="3666744"/>
            <a:ext cx="288036" cy="219456"/>
          </a:xfrm>
          <a:prstGeom prst="rect">
            <a:avLst/>
          </a:prstGeom>
          <a:solidFill>
            <a:srgbClr val="D5E1EF"/>
          </a:solidFill>
          <a:ln w="2540">
            <a:solidFill>
              <a:srgbClr val="D5E1E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127248" y="4063594"/>
            <a:ext cx="18379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 7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163824" y="4456786"/>
            <a:ext cx="17647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Tempel gambar poster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21808" y="35204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EDF2F8"/>
          </a:solidFill>
          <a:ln w="13970">
            <a:solidFill>
              <a:srgbClr val="92A8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06490" y="3666744"/>
            <a:ext cx="288036" cy="219456"/>
          </a:xfrm>
          <a:prstGeom prst="rect">
            <a:avLst/>
          </a:prstGeom>
          <a:solidFill>
            <a:srgbClr val="D5E1EF"/>
          </a:solidFill>
          <a:ln w="2540">
            <a:solidFill>
              <a:srgbClr val="D5E1E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31536" y="4063594"/>
            <a:ext cx="18379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 8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468112" y="4456786"/>
            <a:ext cx="17647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Tempel gambar poster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626096" y="35204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EDF2F8"/>
          </a:solidFill>
          <a:ln w="13970">
            <a:solidFill>
              <a:srgbClr val="92A8C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10778" y="3666744"/>
            <a:ext cx="288036" cy="219456"/>
          </a:xfrm>
          <a:prstGeom prst="rect">
            <a:avLst/>
          </a:prstGeom>
          <a:solidFill>
            <a:srgbClr val="D5E1EF"/>
          </a:solidFill>
          <a:ln w="2540">
            <a:solidFill>
              <a:srgbClr val="D5E1E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35824" y="4063594"/>
            <a:ext cx="18379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 9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7772400" y="4456786"/>
            <a:ext cx="17647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Tempel gambar poster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930384" y="35204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EDF2F8"/>
          </a:solidFill>
          <a:ln w="13970">
            <a:solidFill>
              <a:srgbClr val="92A8C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815066" y="3666744"/>
            <a:ext cx="288036" cy="219456"/>
          </a:xfrm>
          <a:prstGeom prst="rect">
            <a:avLst/>
          </a:prstGeom>
          <a:solidFill>
            <a:srgbClr val="D5E1EF"/>
          </a:solidFill>
          <a:ln w="2540">
            <a:solidFill>
              <a:srgbClr val="D5E1E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040112" y="4063594"/>
            <a:ext cx="18379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 10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10076688" y="4456786"/>
            <a:ext cx="17647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Tempel gambar poster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914400" y="5696712"/>
            <a:ext cx="102412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Tambahkan satu foto mading/area sekolah yang menunjukkan seluruh poster terpasang.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30" kern="0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05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18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asesmen, post-test, dan feedback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screenshot atau tabel rekap asli supaya angka bisa ditelusuri kembali.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737360"/>
            <a:ext cx="3429000" cy="3337560"/>
          </a:xfrm>
          <a:prstGeom prst="roundRect">
            <a:avLst>
              <a:gd name="adj" fmla="val 2192"/>
            </a:avLst>
          </a:prstGeom>
          <a:solidFill>
            <a:srgbClr val="EDF2F8"/>
          </a:solidFill>
          <a:ln w="13970">
            <a:solidFill>
              <a:srgbClr val="92A8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87702" y="1883664"/>
            <a:ext cx="480060" cy="219456"/>
          </a:xfrm>
          <a:prstGeom prst="rect">
            <a:avLst/>
          </a:prstGeom>
          <a:solidFill>
            <a:srgbClr val="D5E1EF"/>
          </a:solidFill>
          <a:ln w="2540">
            <a:solidFill>
              <a:srgbClr val="D5E1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205886"/>
            <a:ext cx="32095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ASESMEN AWAL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3599078"/>
            <a:ext cx="31363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Rekap 48 respons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429000" cy="3337560"/>
          </a:xfrm>
          <a:prstGeom prst="roundRect">
            <a:avLst>
              <a:gd name="adj" fmla="val 2192"/>
            </a:avLst>
          </a:prstGeom>
          <a:solidFill>
            <a:srgbClr val="EDF2F8"/>
          </a:solidFill>
          <a:ln w="13970">
            <a:solidFill>
              <a:srgbClr val="92A8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63590" y="1883664"/>
            <a:ext cx="480060" cy="219456"/>
          </a:xfrm>
          <a:prstGeom prst="rect">
            <a:avLst/>
          </a:prstGeom>
          <a:solidFill>
            <a:srgbClr val="D5E1EF"/>
          </a:solidFill>
          <a:ln w="2540">
            <a:solidFill>
              <a:srgbClr val="D5E1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98848" y="3205886"/>
            <a:ext cx="32095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PRE-TEST / POST-TEST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35424" y="3599078"/>
            <a:ext cx="31363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Tampilkan angka 99,42% dan 100%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65008" y="1737360"/>
            <a:ext cx="3429000" cy="3337560"/>
          </a:xfrm>
          <a:prstGeom prst="roundRect">
            <a:avLst>
              <a:gd name="adj" fmla="val 2192"/>
            </a:avLst>
          </a:prstGeom>
          <a:solidFill>
            <a:srgbClr val="EDF2F8"/>
          </a:solidFill>
          <a:ln w="13970">
            <a:solidFill>
              <a:srgbClr val="92A8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39478" y="1883664"/>
            <a:ext cx="480060" cy="219456"/>
          </a:xfrm>
          <a:prstGeom prst="rect">
            <a:avLst/>
          </a:prstGeom>
          <a:solidFill>
            <a:srgbClr val="D5E1EF"/>
          </a:solidFill>
          <a:ln w="2540">
            <a:solidFill>
              <a:srgbClr val="D5E1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74736" y="3205886"/>
            <a:ext cx="32095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39 SISWA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11312" y="3599078"/>
            <a:ext cx="31363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Rekap kepuasan dan saran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577840"/>
            <a:ext cx="10424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Catatan: pastikan angka dan jumlah responden pada bukti konsisten dengan narasi presentasi.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30" kern="0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06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18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peer education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Bukti yang dapat dilampirkan: rekap 10 kelas, screenshot sistem, dan dokumentasi Duta saat menyampaikan materi.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737360"/>
            <a:ext cx="5074920" cy="3337560"/>
          </a:xfrm>
          <a:prstGeom prst="roundRect">
            <a:avLst>
              <a:gd name="adj" fmla="val 2192"/>
            </a:avLst>
          </a:prstGeom>
          <a:solidFill>
            <a:srgbClr val="EDF2F8"/>
          </a:solidFill>
          <a:ln w="13970">
            <a:solidFill>
              <a:srgbClr val="92A8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95448" y="1883664"/>
            <a:ext cx="710489" cy="219456"/>
          </a:xfrm>
          <a:prstGeom prst="rect">
            <a:avLst/>
          </a:prstGeom>
          <a:solidFill>
            <a:srgbClr val="D5E1EF"/>
          </a:solidFill>
          <a:ln w="2540">
            <a:solidFill>
              <a:srgbClr val="D5E1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205886"/>
            <a:ext cx="485546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 MONITORING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3599078"/>
            <a:ext cx="478231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laporan kelas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074920" cy="3337560"/>
          </a:xfrm>
          <a:prstGeom prst="roundRect">
            <a:avLst>
              <a:gd name="adj" fmla="val 2192"/>
            </a:avLst>
          </a:prstGeom>
          <a:solidFill>
            <a:srgbClr val="EDF2F8"/>
          </a:solidFill>
          <a:ln w="13970">
            <a:solidFill>
              <a:srgbClr val="92A8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54416" y="1883664"/>
            <a:ext cx="710489" cy="219456"/>
          </a:xfrm>
          <a:prstGeom prst="rect">
            <a:avLst/>
          </a:prstGeom>
          <a:solidFill>
            <a:srgbClr val="D5E1EF"/>
          </a:solidFill>
          <a:ln w="2540">
            <a:solidFill>
              <a:srgbClr val="D5E1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3205886"/>
            <a:ext cx="485546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 EDUCATION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18504" y="3599078"/>
            <a:ext cx="478231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 Duta mengajar di kelas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05840" y="5349240"/>
            <a:ext cx="10149840" cy="548640"/>
          </a:xfrm>
          <a:prstGeom prst="roundRect">
            <a:avLst>
              <a:gd name="adj" fmla="val 20000"/>
            </a:avLst>
          </a:prstGeom>
          <a:solidFill>
            <a:srgbClr val="FFF5E1"/>
          </a:solidFill>
          <a:ln w="10160">
            <a:solidFill>
              <a:srgbClr val="F3DBA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88720" y="5468112"/>
            <a:ext cx="9784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8B5C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Realisasi: 10 kelas tercatat terjangkau dari target proposal 33 kelas.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30" kern="0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07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18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dokumentasi kegiatan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ini disiapkan sebagai tempat video dokumentasi; file video belum disisipkan karena belum tersedia di percakapan.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" y="1627632"/>
            <a:ext cx="10241280" cy="4069080"/>
          </a:xfrm>
          <a:prstGeom prst="roundRect">
            <a:avLst>
              <a:gd name="adj" fmla="val 2697"/>
            </a:avLst>
          </a:prstGeom>
          <a:solidFill>
            <a:srgbClr val="E9EEF5"/>
          </a:solidFill>
          <a:ln w="15875">
            <a:solidFill>
              <a:srgbClr val="9AAE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40680" y="2880360"/>
            <a:ext cx="1298448" cy="1298448"/>
          </a:xfrm>
          <a:prstGeom prst="ellipse">
            <a:avLst/>
          </a:prstGeom>
          <a:solidFill>
            <a:srgbClr val="185DA8"/>
          </a:solidFill>
          <a:ln w="6350">
            <a:solidFill>
              <a:srgbClr val="185D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79592" y="3246120"/>
            <a:ext cx="438912" cy="566928"/>
          </a:xfrm>
          <a:prstGeom prst="chevron">
            <a:avLst/>
          </a:prstGeom>
          <a:solidFill>
            <a:srgbClr val="FFFFFF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4434840"/>
            <a:ext cx="8503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VIDEO DOKUMENTASI DI SINI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4919472"/>
            <a:ext cx="8503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PowerPoint: Insert / Sisipkan → Video → This Device / Perangkat Ini → pilih file MP4.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5852160"/>
            <a:ext cx="10058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Saran: pilih cuplikan 1–2 menit yang memperlihatkan proses kegiatan, penggunaan media, pembuatan poster, dan interaksi peserta.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30" kern="0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REFERENSI PILIHAN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18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1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Landasan konsep dan sumber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72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Rujukan diringkas dari daftar pustaka dalam laporan akhir.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37360"/>
            <a:ext cx="3840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457200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Ansell, C., &amp; Gash, A. (2008). Collaborative governance in theory and practice. Journal of Public Administration Research and Theory, 18(4), 543–571.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24912"/>
            <a:ext cx="3840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679192"/>
            <a:ext cx="457200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Borton, T. (1970). Reach, touch, and teach: Student concerns and process education. McGraw-Hill.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12464"/>
            <a:ext cx="3840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666744"/>
            <a:ext cx="457200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Cooperrider, D. L., &amp; Whitney, D. K. (2005). Appreciative inquiry: A positive revolution in change. Berrett-Koehler.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700016"/>
            <a:ext cx="3840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654296"/>
            <a:ext cx="457200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Doran, G. T. (1981). There’s a S.M.A.R.T. way to write management’s goals and objectives. Management Review, 70(11), 35–36.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737360"/>
            <a:ext cx="3840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1691640"/>
            <a:ext cx="457200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Grizzle, A., et al. (2013). Media and information literacy: Policy and strategy guidelines. UNESCO.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724912"/>
            <a:ext cx="3840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2679192"/>
            <a:ext cx="457200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Rajagukguk, M., &amp; Zulkarnain, I. (2022). Measuring basic capabilities of adolescents digital literacy in Medan to prevent fake news exposure. Jurnal IPTEK-KOM, 24(1), 21–36.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712464"/>
            <a:ext cx="3840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3666744"/>
            <a:ext cx="457200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Sinek, S. (2009). Start with why: How great leaders inspire everyone to take action. Portfolio.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4700016"/>
            <a:ext cx="3840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4654296"/>
            <a:ext cx="457200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Wangit, M. N. (2009). Masih bertahankah sistem among pada masa kini? Kajian konsep dan praktik pendidikan. Jurnal Kependidikan, 39(2).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1737360"/>
            <a:ext cx="3840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1691640"/>
            <a:ext cx="457200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Grizzle, A., et al. (2013). Media and information literacy: Policy and strategy guidelines. UNESCO.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2724912"/>
            <a:ext cx="3840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2679192"/>
            <a:ext cx="457200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Rajagukguk, M., &amp; Zulkarnain, I. (2022). Measuring basic capabilities of adolescents digital literacy in Medan to prevent fake news exposure. Jurnal IPTEK-KOM, 24(1), 21–36.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3712464"/>
            <a:ext cx="3840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3666744"/>
            <a:ext cx="457200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Sinek, S. (2009). Start with why: How great leaders inspire everyone to take action. Portfolio.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4700016"/>
            <a:ext cx="3840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8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4654296"/>
            <a:ext cx="457200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3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Wangit, M. N. (2009). Masih bertahankah sistem among pada masa kini? Kajian konsep dan praktik pendidikan. Jurnal Kependidikan, 39(2).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5897880"/>
            <a:ext cx="10241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C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Daftar pustaka lengkap tersedia di laporan akhir.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5A0B6"/>
          </a:solidFill>
          <a:ln w="12700">
            <a:solidFill>
              <a:srgbClr val="35A0B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749808"/>
            <a:ext cx="457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160" kern="0" dirty="0">
                <a:solidFill>
                  <a:srgbClr val="7FD1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DISKUSI &amp; PENUTUP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371600"/>
            <a:ext cx="749808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Dari kegiatan ke</a:t>
            </a:r>
            <a:endParaRPr lang="en-US" sz="3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keberlanjutan.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37560"/>
            <a:ext cx="80467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D8E5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Pertanyaan kunci untuk pengembangan berikutnya: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3982212"/>
            <a:ext cx="77724" cy="77724"/>
          </a:xfrm>
          <a:prstGeom prst="ellipse">
            <a:avLst/>
          </a:prstGeom>
          <a:solidFill>
            <a:srgbClr val="7FD1DB"/>
          </a:solidFill>
          <a:ln w="2540">
            <a:solidFill>
              <a:srgbClr val="7FD1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33272" y="3886200"/>
            <a:ext cx="9802368" cy="50292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Bagaimana memastikan Duta memiliki jadwal dan dukungan untuk menjangkau lebih banyak kelas?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4622292"/>
            <a:ext cx="77724" cy="77724"/>
          </a:xfrm>
          <a:prstGeom prst="ellipse">
            <a:avLst/>
          </a:prstGeom>
          <a:solidFill>
            <a:srgbClr val="7FD1DB"/>
          </a:solidFill>
          <a:ln w="2540">
            <a:solidFill>
              <a:srgbClr val="7FD1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33272" y="4526280"/>
            <a:ext cx="9802368" cy="50292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Bagaimana mengembangkan materi digital dengan praktik dan kasus nyata di luar framework CARE?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5262372"/>
            <a:ext cx="77724" cy="77724"/>
          </a:xfrm>
          <a:prstGeom prst="ellipse">
            <a:avLst/>
          </a:prstGeom>
          <a:solidFill>
            <a:srgbClr val="7FD1DB"/>
          </a:solidFill>
          <a:ln w="2540">
            <a:solidFill>
              <a:srgbClr val="7FD1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33272" y="5166360"/>
            <a:ext cx="9802368" cy="50292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Bagaimana mengukur perubahan perilaku secara berkelanjutan, bukan hanya kepuasan dan skor tes?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Terima kasih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Universitas Kristen Satya Wacana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Pelajar Cerdas Digital – DIGITAL CARE</dc:title>
  <dc:subject>Laporan Akhir Projek Kepemimpinan</dc:subject>
  <dc:creator>Kelompok 2 – PPG Prajabatan Informatika UKSW</dc:creator>
  <cp:lastModifiedBy>Kelompok 2 – PPG Prajabatan Informatika UKSW</cp:lastModifiedBy>
  <cp:revision>1</cp:revision>
  <dcterms:created xsi:type="dcterms:W3CDTF">2026-10-17T02:06:46Z</dcterms:created>
  <dcterms:modified xsi:type="dcterms:W3CDTF">2026-10-17T02:06:46Z</dcterms:modified>
</cp:coreProperties>
</file>
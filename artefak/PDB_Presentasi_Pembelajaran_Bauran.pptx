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Presentasi ini memaparkan rancangan pembelajaran Informatika kelas X tentang penelusuran informasi digital, khususnya phishing dan video yang diduga dimanipulasi. Model yang dipilih adalah Inquiry-Based Learning yang diintegrasikan dengan pembelajaran bauran. Tekankan bahwa contoh kasus yang digunakan adalah simulasi aman untuk latihan verifikasi.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dua kasus yang akan diselidiki. Kasus phishing diangkat dari contoh pesan promosi seperti “Diamond Mobile Legends Gratis”; peserta didik tidak perlu membuka tautan aktif. Kasus kedua adalah video yang konteks atau keasliannya perlu diperiksa. Pertanyaan pemantik mendorong peserta didik untuk mencari bukti, bukan mengandalkan intuisi atau reaksi emosional.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 tujuan dengan menekankan kata kerja operasional: menganalisis, mempraktikkan, dan menyajikan. Tujuan kedua meminta sekurang-kurangnya dua sumber pembanding serta pencatatan di LKPD digital. Tujuan ketiga menekankan respons aman. Keberhasilan bukan hanya ketika peserta didik berhasil menamai konten sebagai hoaks, tetapi ketika kesimpulan mereka disokong bukti yang dapat diperiksa.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hubungan desain dengan landasan teori. Pedaste dan kolega membahas fase inquiry seperti orientasi, konseptualisasi, investigasi, kesimpulan, dan diskusi. Lateral reading berarti memeriksa konteks dan kredibilitas dengan berpindah ke sumber lain. Pembelajaran bauran di sini bukan sekadar memakai aplikasi; kegiatan sebelum, saat, dan sesudah pertemuan saling terhubung. Referensi lengkap tersedia di slide terakhir.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 bauran terdiri atas persiapan asinkronus 15 menit, pertemuan sinkronus 90 menit, dan tindak lanjut asinkronus 20 menit. Sesuai kondisi kelas, Mediadidik adalah LMS sekolah yang digunakan untuk mengakses materi pembelajaran dan mengerjakan ulangan harian. Sebelum pertemuan, peserta didik mempelajari materi di Mediadidik dan mencatat dugaan awal. Saat sinkronus, peserta didik melakukan investigasi. Setelahnya, peserta didik mengerjakan ulangan harian melalui Mediadidik dan melengkapi refleksi/LKPD. Pertemuan sinkronus dapat dilakukan tatap muka atau konferensi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Jabarkan urutan sesi sinkronus. Durasi ketujuh tahapan berjumlah 90 menit: orientasi 10, merumuskan masalah 10, merancang penyelidikan 10, investigasi 25, analisis 15, berbagi temuan 10, dan refleksi 10 menit. Tekankan keluaran tiap tahap, karena bukti ini memudahkan guru melakukan asesmen formatif dan memberi umpan balik terarah.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Tegaskan penggunaan platform yang benar-benar dipakai di kelas: Mediadidik adalah LMS sekolah untuk mengakses materi pembelajaran dan mengerjakan ulangan harian. Dalam alur ini, materi dibaca sebelum sesi sinkronus dan ulangan harian dikerjakan sebagai tindak lanjut setelah investigasi. Jangan mengklaim fitur Mediadidik lain di luar yang digunakan. Kanal anonim membantu memunculkan pertanyaan, LKPD digital mendokumentasikan proses inquiry, mesin pencari dan sumber resmi mendukung verifikasi, sedangkan Padlet menjadi papan kolaborasi untuk berbagi temuan. Terapkan pengamanan: gunakan kasus simulasi, jangan membuka tautan aktif yang berbahaya, jangan meminta kata sandi atau OTP, dan siapkan alternatif materi ringan/luring.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Uraikan prosedur investigasi secara berurutan. Mulai dari mendefinisikan klaim, membaca lateral dengan membuka sumber lain, membandingkan minimal dua sumber, dan menelusuri visual bila fitur tersedia. Jangan memaksa peserta didik menetapkan benar atau hoaks ketika bukti belum memadai. Tiga kategori kesimpulan melatih sikap ilmiah dan kejujuran terhadap ketidakpastian. Keselamatan digital tetap menjadi batas utama investigasi.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bahwa bobot pada slide ini adalah rubrik penilaian kinerja peserta didik dalam lesson plan, terpisah dari rubrik dosen untuk menilai tugas UAS. Lima kriteria berbobot 20, 30, 20, 15, dan 15 persen sehingga total 100 persen. Bukti dikumpulkan melalui respons awal dan observasi, produk LKPD/Padlet, serta ulangan harian yang dikerjakan melalui Mediadidik. Penilaian mengutamakan kualitas bukti dan proses verifikasi.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dan refleksi pribadi: rancangan yang efektif bukan ditentukan oleh banyaknya aplikasi, melainkan keterpaduan tujuan, aktivitas, asesmen, dan umpan balik. Dalam praktik kelas ini, Mediadidik menjadi tempat peserta didik mempelajari materi dan mengerjakan ulangan harian; LKPD dan Padlet digunakan untuk mendukung investigasi dan berbagi temuan. IBL cocok karena peserta didik berlatih menyusun pertanyaan, mencari bukti, dan mengakui bila bukti belum cukup. Guru bertanggung jawab menyediakan kasus aman, akses fleksibel, serta umpan balik yang membantu. Tutup dengan prinsip “Saring sebelum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mencantumkan sumber teori yang digunakan dalam lesson plan: Garrison dan Kanuka untuk pembelajaran bauran, Pedaste dan kolega untuk fase inquiry, serta Wineburg dan McGrew untuk lateral reading. Gunakan daftar pustaka dalam dokumen lesson plan jika dosen meminta format akademik lengkap. Pastikan identitas kelompok di slide judul dan dokumen sudah dilengkapi.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LIGHT">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0160">
            <a:solidFill>
              <a:srgbClr val="D9E1E8"/>
            </a:solidFill>
            <a:prstDash val="solid"/>
          </a:ln>
        </p:spPr>
      </p:sp>
      <p:sp>
        <p:nvSpPr>
          <p:cNvPr id="3" name="Text 1"/>
          <p:cNvSpPr/>
          <p:nvPr/>
        </p:nvSpPr>
        <p:spPr>
          <a:xfrm>
            <a:off x="530352" y="6519672"/>
            <a:ext cx="5029200" cy="164592"/>
          </a:xfrm>
          <a:prstGeom prst="rect">
            <a:avLst/>
          </a:prstGeom>
          <a:noFill/>
          <a:ln/>
        </p:spPr>
        <p:txBody>
          <a:bodyPr wrap="square" lIns="0" tIns="0" rIns="0" bIns="0" rtlCol="0" anchor="ctr"/>
          <a:lstStyle/>
          <a:p>
            <a:pPr indent="0" marL="0">
              <a:buNone/>
            </a:pPr>
            <a:r>
              <a:rPr lang="en-US" sz="800" spc="110" kern="0" dirty="0">
                <a:solidFill>
                  <a:srgbClr val="637587"/>
                </a:solidFill>
                <a:latin typeface="Aptos" pitchFamily="34" charset="0"/>
                <a:ea typeface="Aptos" pitchFamily="34" charset="-122"/>
                <a:cs typeface="Aptos" pitchFamily="34" charset="-120"/>
              </a:rPr>
              <a:t>UAS • PEMBELAJARAN DARING &amp; BAURAN</a:t>
            </a:r>
            <a:endParaRPr lang="en-US" sz="80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37587"/>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STER_DARK">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0160">
            <a:solidFill>
              <a:srgbClr val="31506D"/>
            </a:solidFill>
            <a:prstDash val="solid"/>
          </a:ln>
        </p:spPr>
      </p:sp>
      <p:sp>
        <p:nvSpPr>
          <p:cNvPr id="3" name="Text 1"/>
          <p:cNvSpPr/>
          <p:nvPr/>
        </p:nvSpPr>
        <p:spPr>
          <a:xfrm>
            <a:off x="530352" y="6519672"/>
            <a:ext cx="5029200" cy="164592"/>
          </a:xfrm>
          <a:prstGeom prst="rect">
            <a:avLst/>
          </a:prstGeom>
          <a:noFill/>
          <a:ln/>
        </p:spPr>
        <p:txBody>
          <a:bodyPr wrap="square" lIns="0" tIns="0" rIns="0" bIns="0" rtlCol="0" anchor="ctr"/>
          <a:lstStyle/>
          <a:p>
            <a:pPr indent="0" marL="0">
              <a:buNone/>
            </a:pPr>
            <a:r>
              <a:rPr lang="en-US" sz="800" spc="110" kern="0" dirty="0">
                <a:solidFill>
                  <a:srgbClr val="B6C6D3"/>
                </a:solidFill>
                <a:latin typeface="Aptos" pitchFamily="34" charset="0"/>
                <a:ea typeface="Aptos" pitchFamily="34" charset="-122"/>
                <a:cs typeface="Aptos" pitchFamily="34" charset="-120"/>
              </a:rPr>
              <a:t>UAS • PEMBELAJARAN DARING &amp; BAURAN</a:t>
            </a:r>
            <a:endParaRPr lang="en-US" sz="80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B6C6D3"/>
                </a:solidFill>
                <a:latin typeface="Aptos"/>
                <a:ea typeface="Aptos"/>
                <a:cs typeface="Aptos"/>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37587"/>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0012680" y="91440"/>
            <a:ext cx="2011680" cy="2011680"/>
          </a:xfrm>
          <a:prstGeom prst="ellipse">
            <a:avLst/>
          </a:prstGeom>
          <a:solidFill>
            <a:srgbClr val="2F6690">
              <a:alpha val="45000"/>
            </a:srgbClr>
          </a:solidFill>
          <a:ln w="12700">
            <a:solidFill>
              <a:srgbClr val="2F6690">
                <a:alpha val="0"/>
              </a:srgbClr>
            </a:solidFill>
            <a:prstDash val="solid"/>
          </a:ln>
        </p:spPr>
      </p:sp>
      <p:sp>
        <p:nvSpPr>
          <p:cNvPr id="3" name="Shape 1"/>
          <p:cNvSpPr/>
          <p:nvPr/>
        </p:nvSpPr>
        <p:spPr>
          <a:xfrm>
            <a:off x="10058400" y="4754880"/>
            <a:ext cx="1920240" cy="1920240"/>
          </a:xfrm>
          <a:prstGeom prst="ellipse">
            <a:avLst/>
          </a:prstGeom>
          <a:solidFill>
            <a:srgbClr val="38A99A">
              <a:alpha val="32000"/>
            </a:srgbClr>
          </a:solidFill>
          <a:ln w="12700">
            <a:solidFill>
              <a:srgbClr val="38A99A">
                <a:alpha val="0"/>
              </a:srgbClr>
            </a:solidFill>
            <a:prstDash val="solid"/>
          </a:ln>
        </p:spPr>
      </p:sp>
      <p:sp>
        <p:nvSpPr>
          <p:cNvPr id="4" name="Shape 2"/>
          <p:cNvSpPr/>
          <p:nvPr/>
        </p:nvSpPr>
        <p:spPr>
          <a:xfrm>
            <a:off x="7406640" y="5394960"/>
            <a:ext cx="1005840" cy="1005840"/>
          </a:xfrm>
          <a:prstGeom prst="ellipse">
            <a:avLst/>
          </a:prstGeom>
          <a:solidFill>
            <a:srgbClr val="F06A5C">
              <a:alpha val="82000"/>
            </a:srgbClr>
          </a:solidFill>
          <a:ln w="12700">
            <a:solidFill>
              <a:srgbClr val="F06A5C">
                <a:alpha val="0"/>
              </a:srgbClr>
            </a:solidFill>
            <a:prstDash val="solid"/>
          </a:ln>
        </p:spPr>
      </p:sp>
      <p:sp>
        <p:nvSpPr>
          <p:cNvPr id="5" name="Shape 3"/>
          <p:cNvSpPr/>
          <p:nvPr/>
        </p:nvSpPr>
        <p:spPr>
          <a:xfrm>
            <a:off x="694944" y="566928"/>
            <a:ext cx="1783080" cy="310896"/>
          </a:xfrm>
          <a:prstGeom prst="roundRect">
            <a:avLst>
              <a:gd name="adj" fmla="val 41176"/>
            </a:avLst>
          </a:prstGeom>
          <a:solidFill>
            <a:srgbClr val="284861"/>
          </a:solidFill>
          <a:ln w="12700">
            <a:solidFill>
              <a:srgbClr val="284861">
                <a:alpha val="0"/>
              </a:srgbClr>
            </a:solidFill>
            <a:prstDash val="solid"/>
          </a:ln>
        </p:spPr>
      </p:sp>
      <p:sp>
        <p:nvSpPr>
          <p:cNvPr id="6" name="Text 4"/>
          <p:cNvSpPr/>
          <p:nvPr/>
        </p:nvSpPr>
        <p:spPr>
          <a:xfrm>
            <a:off x="768096" y="580644"/>
            <a:ext cx="1636776"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DDF4EC"/>
                </a:solidFill>
                <a:latin typeface="Aptos" pitchFamily="34" charset="0"/>
                <a:ea typeface="Aptos" pitchFamily="34" charset="-122"/>
                <a:cs typeface="Aptos" pitchFamily="34" charset="-120"/>
              </a:rPr>
              <a:t>UAS • INFORMATIKA</a:t>
            </a:r>
            <a:endParaRPr lang="en-US" sz="900" dirty="0"/>
          </a:p>
        </p:txBody>
      </p:sp>
      <p:sp>
        <p:nvSpPr>
          <p:cNvPr id="7" name="Text 5"/>
          <p:cNvSpPr/>
          <p:nvPr/>
        </p:nvSpPr>
        <p:spPr>
          <a:xfrm>
            <a:off x="694944" y="1234440"/>
            <a:ext cx="6126480" cy="1572768"/>
          </a:xfrm>
          <a:prstGeom prst="rect">
            <a:avLst/>
          </a:prstGeom>
          <a:noFill/>
          <a:ln/>
        </p:spPr>
        <p:txBody>
          <a:bodyPr wrap="square" lIns="0" tIns="0" rIns="0" bIns="0" rtlCol="0" anchor="ctr">
            <a:normAutofit/>
          </a:bodyPr>
          <a:lstStyle/>
          <a:p>
            <a:pPr algn="l" indent="0" marL="0">
              <a:buNone/>
            </a:pPr>
            <a:r>
              <a:rPr lang="en-US" sz="3600" b="1" dirty="0">
                <a:solidFill>
                  <a:srgbClr val="FFFFFF"/>
                </a:solidFill>
                <a:latin typeface="Aptos Display" pitchFamily="34" charset="0"/>
                <a:ea typeface="Aptos Display" pitchFamily="34" charset="-122"/>
                <a:cs typeface="Aptos Display" pitchFamily="34" charset="-120"/>
              </a:rPr>
              <a:t>Membongkar</a:t>
            </a:r>
            <a:endParaRPr lang="en-US" sz="3600" dirty="0"/>
          </a:p>
          <a:p>
            <a:pPr algn="l" indent="0" marL="0">
              <a:buNone/>
            </a:pPr>
            <a:r>
              <a:rPr lang="en-US" sz="3600" b="1" dirty="0">
                <a:solidFill>
                  <a:srgbClr val="FFFFFF"/>
                </a:solidFill>
                <a:latin typeface="Aptos Display" pitchFamily="34" charset="0"/>
                <a:ea typeface="Aptos Display" pitchFamily="34" charset="-122"/>
                <a:cs typeface="Aptos Display" pitchFamily="34" charset="-120"/>
              </a:rPr>
              <a:t>Phishing &amp; Deepfake</a:t>
            </a:r>
            <a:endParaRPr lang="en-US" sz="3600" dirty="0"/>
          </a:p>
        </p:txBody>
      </p:sp>
      <p:sp>
        <p:nvSpPr>
          <p:cNvPr id="8" name="Text 6"/>
          <p:cNvSpPr/>
          <p:nvPr/>
        </p:nvSpPr>
        <p:spPr>
          <a:xfrm>
            <a:off x="731520" y="3054096"/>
            <a:ext cx="5897880" cy="749808"/>
          </a:xfrm>
          <a:prstGeom prst="rect">
            <a:avLst/>
          </a:prstGeom>
          <a:noFill/>
          <a:ln/>
        </p:spPr>
        <p:txBody>
          <a:bodyPr wrap="square" lIns="0" tIns="0" rIns="0" bIns="0" rtlCol="0" anchor="ctr">
            <a:normAutofit/>
          </a:bodyPr>
          <a:lstStyle/>
          <a:p>
            <a:pPr algn="l" indent="0" marL="0">
              <a:buNone/>
            </a:pPr>
            <a:r>
              <a:rPr lang="en-US" sz="1800" dirty="0">
                <a:solidFill>
                  <a:srgbClr val="D7E4EC"/>
                </a:solidFill>
                <a:latin typeface="Aptos" pitchFamily="34" charset="0"/>
                <a:ea typeface="Aptos" pitchFamily="34" charset="-122"/>
                <a:cs typeface="Aptos" pitchFamily="34" charset="-120"/>
              </a:rPr>
              <a:t>Rancangan pembelajaran bauran berbasis</a:t>
            </a:r>
            <a:endParaRPr lang="en-US" sz="1800" dirty="0"/>
          </a:p>
          <a:p>
            <a:pPr algn="l" indent="0" marL="0">
              <a:buNone/>
            </a:pPr>
            <a:r>
              <a:rPr lang="en-US" sz="1800" dirty="0">
                <a:solidFill>
                  <a:srgbClr val="D7E4EC"/>
                </a:solidFill>
                <a:latin typeface="Aptos" pitchFamily="34" charset="0"/>
                <a:ea typeface="Aptos" pitchFamily="34" charset="-122"/>
                <a:cs typeface="Aptos" pitchFamily="34" charset="-120"/>
              </a:rPr>
              <a:t>Inquiry-Based Learning (IBL)</a:t>
            </a:r>
            <a:endParaRPr lang="en-US" sz="1800" dirty="0"/>
          </a:p>
        </p:txBody>
      </p:sp>
      <p:sp>
        <p:nvSpPr>
          <p:cNvPr id="9" name="Shape 7"/>
          <p:cNvSpPr/>
          <p:nvPr/>
        </p:nvSpPr>
        <p:spPr>
          <a:xfrm>
            <a:off x="731520" y="4087368"/>
            <a:ext cx="3429000" cy="0"/>
          </a:xfrm>
          <a:prstGeom prst="line">
            <a:avLst/>
          </a:prstGeom>
          <a:noFill/>
          <a:ln w="38100">
            <a:solidFill>
              <a:srgbClr val="38A99A"/>
            </a:solidFill>
            <a:prstDash val="solid"/>
            <a:headEnd type="none"/>
            <a:tailEnd type="none"/>
          </a:ln>
        </p:spPr>
      </p:sp>
      <p:sp>
        <p:nvSpPr>
          <p:cNvPr id="10" name="Text 8"/>
          <p:cNvSpPr/>
          <p:nvPr/>
        </p:nvSpPr>
        <p:spPr>
          <a:xfrm>
            <a:off x="731520" y="4297680"/>
            <a:ext cx="4206240" cy="320040"/>
          </a:xfrm>
          <a:prstGeom prst="rect">
            <a:avLst/>
          </a:prstGeom>
          <a:noFill/>
          <a:ln/>
        </p:spPr>
        <p:txBody>
          <a:bodyPr wrap="square" lIns="0" tIns="0" rIns="0" bIns="0" rtlCol="0" anchor="ctr">
            <a:normAutofit/>
          </a:bodyPr>
          <a:lstStyle/>
          <a:p>
            <a:pPr algn="l" indent="0" marL="0">
              <a:buNone/>
            </a:pPr>
            <a:r>
              <a:rPr lang="en-US" sz="1300" b="1" dirty="0">
                <a:solidFill>
                  <a:srgbClr val="F4C95D"/>
                </a:solidFill>
                <a:latin typeface="Aptos" pitchFamily="34" charset="0"/>
                <a:ea typeface="Aptos" pitchFamily="34" charset="-122"/>
                <a:cs typeface="Aptos" pitchFamily="34" charset="-120"/>
              </a:rPr>
              <a:t>Informatika • Fase E / Kelas X</a:t>
            </a:r>
            <a:endParaRPr lang="en-US" sz="1300" dirty="0"/>
          </a:p>
        </p:txBody>
      </p:sp>
      <p:sp>
        <p:nvSpPr>
          <p:cNvPr id="11" name="Text 9"/>
          <p:cNvSpPr/>
          <p:nvPr/>
        </p:nvSpPr>
        <p:spPr>
          <a:xfrm>
            <a:off x="731520" y="4718304"/>
            <a:ext cx="4754880" cy="320040"/>
          </a:xfrm>
          <a:prstGeom prst="rect">
            <a:avLst/>
          </a:prstGeom>
          <a:noFill/>
          <a:ln/>
        </p:spPr>
        <p:txBody>
          <a:bodyPr wrap="square" lIns="0" tIns="0" rIns="0" bIns="0" rtlCol="0" anchor="ctr">
            <a:normAutofit/>
          </a:bodyPr>
          <a:lstStyle/>
          <a:p>
            <a:pPr algn="l" indent="0" marL="0">
              <a:buNone/>
            </a:pPr>
            <a:r>
              <a:rPr lang="en-US" sz="1100" dirty="0">
                <a:solidFill>
                  <a:srgbClr val="C0CFDA"/>
                </a:solidFill>
                <a:latin typeface="Aptos" pitchFamily="34" charset="0"/>
                <a:ea typeface="Aptos" pitchFamily="34" charset="-122"/>
                <a:cs typeface="Aptos" pitchFamily="34" charset="-120"/>
              </a:rPr>
              <a:t>Kelompok / Anggota: [isi nama kelompok]</a:t>
            </a:r>
            <a:endParaRPr lang="en-US" sz="1100" dirty="0"/>
          </a:p>
        </p:txBody>
      </p:sp>
      <p:sp>
        <p:nvSpPr>
          <p:cNvPr id="12" name="Shape 10"/>
          <p:cNvSpPr/>
          <p:nvPr/>
        </p:nvSpPr>
        <p:spPr>
          <a:xfrm>
            <a:off x="7178040" y="1005840"/>
            <a:ext cx="4160520" cy="4297680"/>
          </a:xfrm>
          <a:prstGeom prst="roundRect">
            <a:avLst>
              <a:gd name="adj" fmla="val 3516"/>
            </a:avLst>
          </a:prstGeom>
          <a:solidFill>
            <a:srgbClr val="FFFFFF"/>
          </a:solidFill>
          <a:ln w="12700">
            <a:solidFill>
              <a:srgbClr val="D9E1E8"/>
            </a:solidFill>
            <a:prstDash val="solid"/>
          </a:ln>
          <a:effectLst>
            <a:outerShdw sx="100000" sy="100000" kx="0" ky="0" algn="bl" rotWithShape="0" blurRad="50800" dist="50800" dir="2700000">
              <a:srgbClr val="9AA7B2">
                <a:alpha val="14000"/>
              </a:srgbClr>
            </a:outerShdw>
          </a:effectLst>
        </p:spPr>
      </p:sp>
      <p:sp>
        <p:nvSpPr>
          <p:cNvPr id="13" name="Shape 11"/>
          <p:cNvSpPr/>
          <p:nvPr/>
        </p:nvSpPr>
        <p:spPr>
          <a:xfrm>
            <a:off x="7178040" y="1005840"/>
            <a:ext cx="4160520" cy="310896"/>
          </a:xfrm>
          <a:prstGeom prst="roundRect">
            <a:avLst>
              <a:gd name="adj" fmla="val 47059"/>
            </a:avLst>
          </a:prstGeom>
          <a:solidFill>
            <a:srgbClr val="EAF0F4"/>
          </a:solidFill>
          <a:ln w="12700">
            <a:solidFill>
              <a:srgbClr val="EAF0F4">
                <a:alpha val="0"/>
              </a:srgbClr>
            </a:solidFill>
            <a:prstDash val="solid"/>
          </a:ln>
        </p:spPr>
      </p:sp>
      <p:sp>
        <p:nvSpPr>
          <p:cNvPr id="14" name="Shape 12"/>
          <p:cNvSpPr/>
          <p:nvPr/>
        </p:nvSpPr>
        <p:spPr>
          <a:xfrm>
            <a:off x="7178040" y="1179576"/>
            <a:ext cx="4160520" cy="137160"/>
          </a:xfrm>
          <a:prstGeom prst="rect">
            <a:avLst/>
          </a:prstGeom>
          <a:solidFill>
            <a:srgbClr val="EAF0F4"/>
          </a:solidFill>
          <a:ln w="12700">
            <a:solidFill>
              <a:srgbClr val="EAF0F4">
                <a:alpha val="0"/>
              </a:srgbClr>
            </a:solidFill>
            <a:prstDash val="solid"/>
          </a:ln>
        </p:spPr>
      </p:sp>
      <p:sp>
        <p:nvSpPr>
          <p:cNvPr id="15" name="Shape 13"/>
          <p:cNvSpPr/>
          <p:nvPr/>
        </p:nvSpPr>
        <p:spPr>
          <a:xfrm>
            <a:off x="7324344" y="1101852"/>
            <a:ext cx="77724" cy="77724"/>
          </a:xfrm>
          <a:prstGeom prst="ellipse">
            <a:avLst/>
          </a:prstGeom>
          <a:solidFill>
            <a:srgbClr val="F06A5C"/>
          </a:solidFill>
          <a:ln w="12700">
            <a:solidFill>
              <a:srgbClr val="F06A5C">
                <a:alpha val="0"/>
              </a:srgbClr>
            </a:solidFill>
            <a:prstDash val="solid"/>
          </a:ln>
        </p:spPr>
      </p:sp>
      <p:sp>
        <p:nvSpPr>
          <p:cNvPr id="16" name="Shape 14"/>
          <p:cNvSpPr/>
          <p:nvPr/>
        </p:nvSpPr>
        <p:spPr>
          <a:xfrm>
            <a:off x="7498080" y="1101852"/>
            <a:ext cx="77724" cy="77724"/>
          </a:xfrm>
          <a:prstGeom prst="ellipse">
            <a:avLst/>
          </a:prstGeom>
          <a:solidFill>
            <a:srgbClr val="F4C95D"/>
          </a:solidFill>
          <a:ln w="12700">
            <a:solidFill>
              <a:srgbClr val="F4C95D">
                <a:alpha val="0"/>
              </a:srgbClr>
            </a:solidFill>
            <a:prstDash val="solid"/>
          </a:ln>
        </p:spPr>
      </p:sp>
      <p:sp>
        <p:nvSpPr>
          <p:cNvPr id="17" name="Shape 15"/>
          <p:cNvSpPr/>
          <p:nvPr/>
        </p:nvSpPr>
        <p:spPr>
          <a:xfrm>
            <a:off x="7671816" y="1101852"/>
            <a:ext cx="77724" cy="77724"/>
          </a:xfrm>
          <a:prstGeom prst="ellipse">
            <a:avLst/>
          </a:prstGeom>
          <a:solidFill>
            <a:srgbClr val="38A99A"/>
          </a:solidFill>
          <a:ln w="12700">
            <a:solidFill>
              <a:srgbClr val="38A99A">
                <a:alpha val="0"/>
              </a:srgbClr>
            </a:solidFill>
            <a:prstDash val="solid"/>
          </a:ln>
        </p:spPr>
      </p:sp>
      <p:sp>
        <p:nvSpPr>
          <p:cNvPr id="18" name="Shape 16"/>
          <p:cNvSpPr/>
          <p:nvPr/>
        </p:nvSpPr>
        <p:spPr>
          <a:xfrm>
            <a:off x="7863840" y="1083564"/>
            <a:ext cx="2163470" cy="118872"/>
          </a:xfrm>
          <a:prstGeom prst="roundRect">
            <a:avLst>
              <a:gd name="adj" fmla="val 38462"/>
            </a:avLst>
          </a:prstGeom>
          <a:solidFill>
            <a:srgbClr val="FFFFFF"/>
          </a:solidFill>
          <a:ln w="6350">
            <a:solidFill>
              <a:srgbClr val="D9E1E8"/>
            </a:solidFill>
            <a:prstDash val="solid"/>
          </a:ln>
        </p:spPr>
      </p:sp>
      <p:sp>
        <p:nvSpPr>
          <p:cNvPr id="19" name="Shape 17"/>
          <p:cNvSpPr/>
          <p:nvPr/>
        </p:nvSpPr>
        <p:spPr>
          <a:xfrm>
            <a:off x="7498080" y="1444752"/>
            <a:ext cx="1417320" cy="274320"/>
          </a:xfrm>
          <a:prstGeom prst="roundRect">
            <a:avLst>
              <a:gd name="adj" fmla="val 46667"/>
            </a:avLst>
          </a:prstGeom>
          <a:solidFill>
            <a:srgbClr val="FFF4CC"/>
          </a:solidFill>
          <a:ln w="12700">
            <a:solidFill>
              <a:srgbClr val="FFF4CC">
                <a:alpha val="0"/>
              </a:srgbClr>
            </a:solidFill>
            <a:prstDash val="solid"/>
          </a:ln>
        </p:spPr>
      </p:sp>
      <p:sp>
        <p:nvSpPr>
          <p:cNvPr id="20" name="Text 18"/>
          <p:cNvSpPr/>
          <p:nvPr/>
        </p:nvSpPr>
        <p:spPr>
          <a:xfrm>
            <a:off x="7571232" y="1458468"/>
            <a:ext cx="1271016" cy="256032"/>
          </a:xfrm>
          <a:prstGeom prst="rect">
            <a:avLst/>
          </a:prstGeom>
          <a:noFill/>
          <a:ln/>
        </p:spPr>
        <p:txBody>
          <a:bodyPr wrap="square" lIns="0" tIns="0" rIns="0" bIns="0" rtlCol="0" anchor="ctr">
            <a:normAutofit/>
          </a:bodyPr>
          <a:lstStyle/>
          <a:p>
            <a:pPr algn="ctr" indent="0" marL="0">
              <a:buNone/>
            </a:pPr>
            <a:r>
              <a:rPr lang="en-US" sz="850" b="1" spc="40" kern="0" dirty="0">
                <a:solidFill>
                  <a:srgbClr val="825F08"/>
                </a:solidFill>
                <a:latin typeface="Aptos" pitchFamily="34" charset="0"/>
                <a:ea typeface="Aptos" pitchFamily="34" charset="-122"/>
                <a:cs typeface="Aptos" pitchFamily="34" charset="-120"/>
              </a:rPr>
              <a:t>SIMULASI KASUS</a:t>
            </a:r>
            <a:endParaRPr lang="en-US" sz="850" dirty="0"/>
          </a:p>
        </p:txBody>
      </p:sp>
      <p:sp>
        <p:nvSpPr>
          <p:cNvPr id="21" name="Shape 19"/>
          <p:cNvSpPr/>
          <p:nvPr/>
        </p:nvSpPr>
        <p:spPr>
          <a:xfrm>
            <a:off x="7470648" y="1847088"/>
            <a:ext cx="3566160" cy="1234440"/>
          </a:xfrm>
          <a:prstGeom prst="roundRect">
            <a:avLst>
              <a:gd name="adj" fmla="val 11852"/>
            </a:avLst>
          </a:prstGeom>
          <a:solidFill>
            <a:srgbClr val="FDE8E4"/>
          </a:solidFill>
          <a:ln w="12700">
            <a:solidFill>
              <a:srgbClr val="FDE8E4">
                <a:alpha val="0"/>
              </a:srgbClr>
            </a:solidFill>
            <a:prstDash val="solid"/>
          </a:ln>
        </p:spPr>
      </p:sp>
      <p:sp>
        <p:nvSpPr>
          <p:cNvPr id="22" name="Shape 20"/>
          <p:cNvSpPr/>
          <p:nvPr/>
        </p:nvSpPr>
        <p:spPr>
          <a:xfrm>
            <a:off x="7708392" y="2057400"/>
            <a:ext cx="438912" cy="438912"/>
          </a:xfrm>
          <a:prstGeom prst="ellipse">
            <a:avLst/>
          </a:prstGeom>
          <a:solidFill>
            <a:srgbClr val="F06A5C"/>
          </a:solidFill>
          <a:ln w="12700">
            <a:solidFill>
              <a:srgbClr val="F06A5C">
                <a:alpha val="0"/>
              </a:srgbClr>
            </a:solidFill>
            <a:prstDash val="solid"/>
          </a:ln>
        </p:spPr>
      </p:sp>
      <p:sp>
        <p:nvSpPr>
          <p:cNvPr id="23" name="Text 21"/>
          <p:cNvSpPr/>
          <p:nvPr/>
        </p:nvSpPr>
        <p:spPr>
          <a:xfrm>
            <a:off x="7708392" y="2029968"/>
            <a:ext cx="438912" cy="438912"/>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a:t>
            </a:r>
            <a:endParaRPr lang="en-US" sz="2200" dirty="0"/>
          </a:p>
        </p:txBody>
      </p:sp>
      <p:sp>
        <p:nvSpPr>
          <p:cNvPr id="24" name="Text 22"/>
          <p:cNvSpPr/>
          <p:nvPr/>
        </p:nvSpPr>
        <p:spPr>
          <a:xfrm>
            <a:off x="8275320" y="2002536"/>
            <a:ext cx="2423160" cy="320040"/>
          </a:xfrm>
          <a:prstGeom prst="rect">
            <a:avLst/>
          </a:prstGeom>
          <a:noFill/>
          <a:ln/>
        </p:spPr>
        <p:txBody>
          <a:bodyPr wrap="square" lIns="0" tIns="0" rIns="0" bIns="0" rtlCol="0" anchor="ctr">
            <a:normAutofit/>
          </a:bodyPr>
          <a:lstStyle/>
          <a:p>
            <a:pPr algn="l" indent="0" marL="0">
              <a:buNone/>
            </a:pPr>
            <a:r>
              <a:rPr lang="en-US" sz="1600" b="1" dirty="0">
                <a:solidFill>
                  <a:srgbClr val="102A43"/>
                </a:solidFill>
                <a:latin typeface="Aptos" pitchFamily="34" charset="0"/>
                <a:ea typeface="Aptos" pitchFamily="34" charset="-122"/>
                <a:cs typeface="Aptos" pitchFamily="34" charset="-120"/>
              </a:rPr>
              <a:t>DIAMOND GRATIS?</a:t>
            </a:r>
            <a:endParaRPr lang="en-US" sz="1600" dirty="0"/>
          </a:p>
        </p:txBody>
      </p:sp>
      <p:sp>
        <p:nvSpPr>
          <p:cNvPr id="25" name="Text 23"/>
          <p:cNvSpPr/>
          <p:nvPr/>
        </p:nvSpPr>
        <p:spPr>
          <a:xfrm>
            <a:off x="8275320" y="2359152"/>
            <a:ext cx="2423160" cy="475488"/>
          </a:xfrm>
          <a:prstGeom prst="rect">
            <a:avLst/>
          </a:prstGeom>
          <a:noFill/>
          <a:ln/>
        </p:spPr>
        <p:txBody>
          <a:bodyPr wrap="square" lIns="0" tIns="0" rIns="0" bIns="0" rtlCol="0" anchor="ctr">
            <a:normAutofit/>
          </a:bodyPr>
          <a:lstStyle/>
          <a:p>
            <a:pPr algn="l" indent="0" marL="0">
              <a:buNone/>
            </a:pPr>
            <a:r>
              <a:rPr lang="en-US" sz="1050" dirty="0">
                <a:solidFill>
                  <a:srgbClr val="183044"/>
                </a:solidFill>
                <a:latin typeface="Aptos" pitchFamily="34" charset="0"/>
                <a:ea typeface="Aptos" pitchFamily="34" charset="-122"/>
                <a:cs typeface="Aptos" pitchFamily="34" charset="-120"/>
              </a:rPr>
              <a:t>Waspadai tautan &amp; permintaan data akun</a:t>
            </a:r>
            <a:endParaRPr lang="en-US" sz="1050" dirty="0"/>
          </a:p>
        </p:txBody>
      </p:sp>
      <p:sp>
        <p:nvSpPr>
          <p:cNvPr id="26" name="Shape 24"/>
          <p:cNvSpPr/>
          <p:nvPr/>
        </p:nvSpPr>
        <p:spPr>
          <a:xfrm>
            <a:off x="7470648" y="3273552"/>
            <a:ext cx="3566160" cy="1481328"/>
          </a:xfrm>
          <a:prstGeom prst="roundRect">
            <a:avLst>
              <a:gd name="adj" fmla="val 9877"/>
            </a:avLst>
          </a:prstGeom>
          <a:solidFill>
            <a:srgbClr val="E5EEF7"/>
          </a:solidFill>
          <a:ln w="12700">
            <a:solidFill>
              <a:srgbClr val="E5EEF7">
                <a:alpha val="0"/>
              </a:srgbClr>
            </a:solidFill>
            <a:prstDash val="solid"/>
          </a:ln>
        </p:spPr>
      </p:sp>
      <p:sp>
        <p:nvSpPr>
          <p:cNvPr id="27" name="Shape 25"/>
          <p:cNvSpPr/>
          <p:nvPr/>
        </p:nvSpPr>
        <p:spPr>
          <a:xfrm>
            <a:off x="7662672" y="3465576"/>
            <a:ext cx="1207008" cy="1078992"/>
          </a:xfrm>
          <a:prstGeom prst="roundRect">
            <a:avLst>
              <a:gd name="adj" fmla="val 8475"/>
            </a:avLst>
          </a:prstGeom>
          <a:solidFill>
            <a:srgbClr val="183B56"/>
          </a:solidFill>
          <a:ln w="12700">
            <a:solidFill>
              <a:srgbClr val="183B56">
                <a:alpha val="0"/>
              </a:srgbClr>
            </a:solidFill>
            <a:prstDash val="solid"/>
          </a:ln>
        </p:spPr>
      </p:sp>
      <p:sp>
        <p:nvSpPr>
          <p:cNvPr id="28" name="Shape 26"/>
          <p:cNvSpPr/>
          <p:nvPr/>
        </p:nvSpPr>
        <p:spPr>
          <a:xfrm>
            <a:off x="8019288" y="3776472"/>
            <a:ext cx="493776" cy="493776"/>
          </a:xfrm>
          <a:prstGeom prst="ellipse">
            <a:avLst/>
          </a:prstGeom>
          <a:solidFill>
            <a:srgbClr val="FFFFFF">
              <a:alpha val="92000"/>
            </a:srgbClr>
          </a:solidFill>
          <a:ln w="12700">
            <a:solidFill>
              <a:srgbClr val="FFFFFF">
                <a:alpha val="0"/>
              </a:srgbClr>
            </a:solidFill>
            <a:prstDash val="solid"/>
          </a:ln>
        </p:spPr>
      </p:sp>
      <p:sp>
        <p:nvSpPr>
          <p:cNvPr id="29" name="Shape 27"/>
          <p:cNvSpPr/>
          <p:nvPr/>
        </p:nvSpPr>
        <p:spPr>
          <a:xfrm>
            <a:off x="8202168" y="3913632"/>
            <a:ext cx="182880" cy="210312"/>
          </a:xfrm>
          <a:prstGeom prst="chevron">
            <a:avLst/>
          </a:prstGeom>
          <a:solidFill>
            <a:srgbClr val="F06A5C"/>
          </a:solidFill>
          <a:ln w="12700">
            <a:solidFill>
              <a:srgbClr val="F06A5C">
                <a:alpha val="0"/>
              </a:srgbClr>
            </a:solidFill>
            <a:prstDash val="solid"/>
          </a:ln>
        </p:spPr>
      </p:sp>
      <p:sp>
        <p:nvSpPr>
          <p:cNvPr id="30" name="Text 28"/>
          <p:cNvSpPr/>
          <p:nvPr/>
        </p:nvSpPr>
        <p:spPr>
          <a:xfrm>
            <a:off x="9079992" y="3547872"/>
            <a:ext cx="1737360" cy="274320"/>
          </a:xfrm>
          <a:prstGeom prst="rect">
            <a:avLst/>
          </a:prstGeom>
          <a:noFill/>
          <a:ln/>
        </p:spPr>
        <p:txBody>
          <a:bodyPr wrap="square" lIns="0" tIns="0" rIns="0" bIns="0" rtlCol="0" anchor="ctr">
            <a:normAutofit/>
          </a:bodyPr>
          <a:lstStyle/>
          <a:p>
            <a:pPr algn="l" indent="0" marL="0">
              <a:buNone/>
            </a:pPr>
            <a:r>
              <a:rPr lang="en-US" sz="900" b="1" spc="50" kern="0" dirty="0">
                <a:solidFill>
                  <a:srgbClr val="2F6690"/>
                </a:solidFill>
                <a:latin typeface="Aptos" pitchFamily="34" charset="0"/>
                <a:ea typeface="Aptos" pitchFamily="34" charset="-122"/>
                <a:cs typeface="Aptos" pitchFamily="34" charset="-120"/>
              </a:rPr>
              <a:t>VIDEO / KLAIM VIRAL</a:t>
            </a:r>
            <a:endParaRPr lang="en-US" sz="900" dirty="0"/>
          </a:p>
        </p:txBody>
      </p:sp>
      <p:sp>
        <p:nvSpPr>
          <p:cNvPr id="31" name="Text 29"/>
          <p:cNvSpPr/>
          <p:nvPr/>
        </p:nvSpPr>
        <p:spPr>
          <a:xfrm>
            <a:off x="9079992" y="3867912"/>
            <a:ext cx="1673352" cy="475488"/>
          </a:xfrm>
          <a:prstGeom prst="rect">
            <a:avLst/>
          </a:prstGeom>
          <a:noFill/>
          <a:ln/>
        </p:spPr>
        <p:txBody>
          <a:bodyPr wrap="square" lIns="0" tIns="0" rIns="0" bIns="0" rtlCol="0" anchor="ctr">
            <a:normAutofit/>
          </a:bodyPr>
          <a:lstStyle/>
          <a:p>
            <a:pPr algn="l" indent="0" marL="0">
              <a:buNone/>
            </a:pPr>
            <a:r>
              <a:rPr lang="en-US" sz="1100" b="1" dirty="0">
                <a:solidFill>
                  <a:srgbClr val="102A43"/>
                </a:solidFill>
                <a:latin typeface="Aptos" pitchFamily="34" charset="0"/>
                <a:ea typeface="Aptos" pitchFamily="34" charset="-122"/>
                <a:cs typeface="Aptos" pitchFamily="34" charset="-120"/>
              </a:rPr>
              <a:t>Periksa sumber, konteks, dan bukti</a:t>
            </a:r>
            <a:endParaRPr lang="en-US" sz="1100" dirty="0"/>
          </a:p>
        </p:txBody>
      </p:sp>
      <p:sp>
        <p:nvSpPr>
          <p:cNvPr id="32" name="Shape 30"/>
          <p:cNvSpPr/>
          <p:nvPr/>
        </p:nvSpPr>
        <p:spPr>
          <a:xfrm>
            <a:off x="7772400" y="4754880"/>
            <a:ext cx="1920240" cy="310896"/>
          </a:xfrm>
          <a:prstGeom prst="roundRect">
            <a:avLst>
              <a:gd name="adj" fmla="val 41176"/>
            </a:avLst>
          </a:prstGeom>
          <a:solidFill>
            <a:srgbClr val="DDF4EC"/>
          </a:solidFill>
          <a:ln w="12700">
            <a:solidFill>
              <a:srgbClr val="DDF4EC">
                <a:alpha val="0"/>
              </a:srgbClr>
            </a:solidFill>
            <a:prstDash val="solid"/>
          </a:ln>
        </p:spPr>
      </p:sp>
      <p:sp>
        <p:nvSpPr>
          <p:cNvPr id="33" name="Text 31"/>
          <p:cNvSpPr/>
          <p:nvPr/>
        </p:nvSpPr>
        <p:spPr>
          <a:xfrm>
            <a:off x="7845552" y="4768596"/>
            <a:ext cx="1773936" cy="292608"/>
          </a:xfrm>
          <a:prstGeom prst="rect">
            <a:avLst/>
          </a:prstGeom>
          <a:noFill/>
          <a:ln/>
        </p:spPr>
        <p:txBody>
          <a:bodyPr wrap="square" lIns="0" tIns="0" rIns="0" bIns="0" rtlCol="0" anchor="ctr">
            <a:normAutofit/>
          </a:bodyPr>
          <a:lstStyle/>
          <a:p>
            <a:pPr algn="ctr" indent="0" marL="0">
              <a:buNone/>
            </a:pPr>
            <a:r>
              <a:rPr lang="en-US" sz="1000" b="1" spc="40" kern="0" dirty="0">
                <a:solidFill>
                  <a:srgbClr val="18766F"/>
                </a:solidFill>
                <a:latin typeface="Aptos" pitchFamily="34" charset="0"/>
                <a:ea typeface="Aptos" pitchFamily="34" charset="-122"/>
                <a:cs typeface="Aptos" pitchFamily="34" charset="-120"/>
              </a:rPr>
              <a:t>IBL × BLENDED</a:t>
            </a:r>
            <a:endParaRPr lang="en-US" sz="1000" dirty="0"/>
          </a:p>
        </p:txBody>
      </p:sp>
      <p:sp>
        <p:nvSpPr>
          <p:cNvPr id="34" name="Text 32"/>
          <p:cNvSpPr/>
          <p:nvPr/>
        </p:nvSpPr>
        <p:spPr>
          <a:xfrm>
            <a:off x="731520" y="5650992"/>
            <a:ext cx="3657600" cy="292608"/>
          </a:xfrm>
          <a:prstGeom prst="rect">
            <a:avLst/>
          </a:prstGeom>
          <a:noFill/>
          <a:ln/>
        </p:spPr>
        <p:txBody>
          <a:bodyPr wrap="square" lIns="0" tIns="0" rIns="0" bIns="0" rtlCol="0" anchor="ctr">
            <a:normAutofit/>
          </a:bodyPr>
          <a:lstStyle/>
          <a:p>
            <a:pPr algn="l" indent="0" marL="0">
              <a:buNone/>
            </a:pPr>
            <a:r>
              <a:rPr lang="en-US" sz="1600" b="1" i="1" dirty="0">
                <a:solidFill>
                  <a:srgbClr val="FFFFFF"/>
                </a:solidFill>
                <a:latin typeface="Aptos" pitchFamily="34" charset="0"/>
                <a:ea typeface="Aptos" pitchFamily="34" charset="-122"/>
                <a:cs typeface="Aptos" pitchFamily="34" charset="-120"/>
              </a:rPr>
              <a:t>Saring sebelum sharing.</a:t>
            </a:r>
            <a:endParaRPr lang="en-US" sz="160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B6C6D3"/>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66928" y="329184"/>
            <a:ext cx="1874520" cy="274320"/>
          </a:xfrm>
          <a:prstGeom prst="roundRect">
            <a:avLst>
              <a:gd name="adj" fmla="val 46667"/>
            </a:avLst>
          </a:prstGeom>
          <a:solidFill>
            <a:srgbClr val="DDF4EC"/>
          </a:solidFill>
          <a:ln w="12700">
            <a:solidFill>
              <a:srgbClr val="DDF4EC">
                <a:alpha val="0"/>
              </a:srgbClr>
            </a:solidFill>
            <a:prstDash val="solid"/>
          </a:ln>
        </p:spPr>
      </p:sp>
      <p:sp>
        <p:nvSpPr>
          <p:cNvPr id="3" name="Text 1"/>
          <p:cNvSpPr/>
          <p:nvPr/>
        </p:nvSpPr>
        <p:spPr>
          <a:xfrm>
            <a:off x="640080" y="342900"/>
            <a:ext cx="1728216" cy="256032"/>
          </a:xfrm>
          <a:prstGeom prst="rect">
            <a:avLst/>
          </a:prstGeom>
          <a:noFill/>
          <a:ln/>
        </p:spPr>
        <p:txBody>
          <a:bodyPr wrap="square" lIns="0" tIns="0" rIns="0" bIns="0" rtlCol="0" anchor="ctr">
            <a:normAutofit/>
          </a:bodyPr>
          <a:lstStyle/>
          <a:p>
            <a:pPr algn="ctr" indent="0" marL="0">
              <a:buNone/>
            </a:pPr>
            <a:r>
              <a:rPr lang="en-US" sz="850" b="1" spc="40" kern="0" dirty="0">
                <a:solidFill>
                  <a:srgbClr val="18766F"/>
                </a:solidFill>
                <a:latin typeface="Aptos" pitchFamily="34" charset="0"/>
                <a:ea typeface="Aptos" pitchFamily="34" charset="-122"/>
                <a:cs typeface="Aptos" pitchFamily="34" charset="-120"/>
              </a:rPr>
              <a:t>01 • KONTEKS MASALAH</a:t>
            </a:r>
            <a:endParaRPr lang="en-US" sz="850" dirty="0"/>
          </a:p>
        </p:txBody>
      </p:sp>
      <p:sp>
        <p:nvSpPr>
          <p:cNvPr id="4" name="Text 2"/>
          <p:cNvSpPr/>
          <p:nvPr/>
        </p:nvSpPr>
        <p:spPr>
          <a:xfrm>
            <a:off x="566928" y="749808"/>
            <a:ext cx="10972800" cy="548640"/>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Satu pesan, banyak pertanyaan</a:t>
            </a:r>
            <a:endParaRPr lang="en-US" sz="2800" dirty="0"/>
          </a:p>
        </p:txBody>
      </p:sp>
      <p:sp>
        <p:nvSpPr>
          <p:cNvPr id="5" name="Text 3"/>
          <p:cNvSpPr/>
          <p:nvPr/>
        </p:nvSpPr>
        <p:spPr>
          <a:xfrm>
            <a:off x="585216" y="1307592"/>
            <a:ext cx="10881360" cy="329184"/>
          </a:xfrm>
          <a:prstGeom prst="rect">
            <a:avLst/>
          </a:prstGeom>
          <a:noFill/>
          <a:ln/>
        </p:spPr>
        <p:txBody>
          <a:bodyPr wrap="square" lIns="0" tIns="0" rIns="0" bIns="0" rtlCol="0" anchor="ctr">
            <a:normAutofit/>
          </a:bodyPr>
          <a:lstStyle/>
          <a:p>
            <a:pPr algn="l" indent="0" marL="0">
              <a:buNone/>
            </a:pPr>
            <a:r>
              <a:rPr lang="en-US" sz="1250" dirty="0">
                <a:solidFill>
                  <a:srgbClr val="617587"/>
                </a:solidFill>
                <a:latin typeface="Aptos" pitchFamily="34" charset="0"/>
                <a:ea typeface="Aptos" pitchFamily="34" charset="-122"/>
                <a:cs typeface="Aptos" pitchFamily="34" charset="-120"/>
              </a:rPr>
              <a:t>Kasus dekat dengan kehidupan digital peserta didik menjadi pemantik investigasi.</a:t>
            </a:r>
            <a:endParaRPr lang="en-US" sz="1250" dirty="0"/>
          </a:p>
        </p:txBody>
      </p:sp>
      <p:sp>
        <p:nvSpPr>
          <p:cNvPr id="6" name="Shape 4"/>
          <p:cNvSpPr/>
          <p:nvPr/>
        </p:nvSpPr>
        <p:spPr>
          <a:xfrm>
            <a:off x="594360" y="1874520"/>
            <a:ext cx="5349240" cy="2423160"/>
          </a:xfrm>
          <a:prstGeom prst="roundRect">
            <a:avLst>
              <a:gd name="adj" fmla="val 6792"/>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7" name="Shape 5"/>
          <p:cNvSpPr/>
          <p:nvPr/>
        </p:nvSpPr>
        <p:spPr>
          <a:xfrm>
            <a:off x="594360" y="1874520"/>
            <a:ext cx="109728" cy="2423160"/>
          </a:xfrm>
          <a:prstGeom prst="roundRect">
            <a:avLst>
              <a:gd name="adj" fmla="val 25000"/>
            </a:avLst>
          </a:prstGeom>
          <a:solidFill>
            <a:srgbClr val="F06A5C"/>
          </a:solidFill>
          <a:ln w="12700">
            <a:solidFill>
              <a:srgbClr val="F06A5C">
                <a:alpha val="0"/>
              </a:srgbClr>
            </a:solidFill>
            <a:prstDash val="solid"/>
          </a:ln>
        </p:spPr>
      </p:sp>
      <p:sp>
        <p:nvSpPr>
          <p:cNvPr id="8" name="Shape 6"/>
          <p:cNvSpPr/>
          <p:nvPr/>
        </p:nvSpPr>
        <p:spPr>
          <a:xfrm>
            <a:off x="868680" y="2121408"/>
            <a:ext cx="777240" cy="256032"/>
          </a:xfrm>
          <a:prstGeom prst="roundRect">
            <a:avLst>
              <a:gd name="adj" fmla="val 50000"/>
            </a:avLst>
          </a:prstGeom>
          <a:solidFill>
            <a:srgbClr val="FDE8E4"/>
          </a:solidFill>
          <a:ln w="12700">
            <a:solidFill>
              <a:srgbClr val="FDE8E4">
                <a:alpha val="0"/>
              </a:srgbClr>
            </a:solidFill>
            <a:prstDash val="solid"/>
          </a:ln>
        </p:spPr>
      </p:sp>
      <p:sp>
        <p:nvSpPr>
          <p:cNvPr id="9" name="Text 7"/>
          <p:cNvSpPr/>
          <p:nvPr/>
        </p:nvSpPr>
        <p:spPr>
          <a:xfrm>
            <a:off x="941832" y="2135124"/>
            <a:ext cx="630936" cy="237744"/>
          </a:xfrm>
          <a:prstGeom prst="rect">
            <a:avLst/>
          </a:prstGeom>
          <a:noFill/>
          <a:ln/>
        </p:spPr>
        <p:txBody>
          <a:bodyPr wrap="square" lIns="0" tIns="0" rIns="0" bIns="0" rtlCol="0" anchor="ctr">
            <a:normAutofit/>
          </a:bodyPr>
          <a:lstStyle/>
          <a:p>
            <a:pPr algn="ctr" indent="0" marL="0">
              <a:buNone/>
            </a:pPr>
            <a:r>
              <a:rPr lang="en-US" sz="850" b="1" spc="40" kern="0" dirty="0">
                <a:solidFill>
                  <a:srgbClr val="F06A5C"/>
                </a:solidFill>
                <a:latin typeface="Aptos" pitchFamily="34" charset="0"/>
                <a:ea typeface="Aptos" pitchFamily="34" charset="-122"/>
                <a:cs typeface="Aptos" pitchFamily="34" charset="-120"/>
              </a:rPr>
              <a:t>KASUS A</a:t>
            </a:r>
            <a:endParaRPr lang="en-US" sz="850" dirty="0"/>
          </a:p>
        </p:txBody>
      </p:sp>
      <p:sp>
        <p:nvSpPr>
          <p:cNvPr id="10" name="Text 8"/>
          <p:cNvSpPr/>
          <p:nvPr/>
        </p:nvSpPr>
        <p:spPr>
          <a:xfrm>
            <a:off x="868680" y="2523744"/>
            <a:ext cx="4480560" cy="329184"/>
          </a:xfrm>
          <a:prstGeom prst="rect">
            <a:avLst/>
          </a:prstGeom>
          <a:noFill/>
          <a:ln/>
        </p:spPr>
        <p:txBody>
          <a:bodyPr wrap="square" lIns="0" tIns="0" rIns="0" bIns="0" rtlCol="0" anchor="ctr">
            <a:normAutofit/>
          </a:bodyPr>
          <a:lstStyle/>
          <a:p>
            <a:pPr algn="l" indent="0" marL="0">
              <a:buNone/>
            </a:pPr>
            <a:r>
              <a:rPr lang="en-US" sz="1900" b="1" dirty="0">
                <a:solidFill>
                  <a:srgbClr val="102A43"/>
                </a:solidFill>
                <a:latin typeface="Aptos" pitchFamily="34" charset="0"/>
                <a:ea typeface="Aptos" pitchFamily="34" charset="-122"/>
                <a:cs typeface="Aptos" pitchFamily="34" charset="-120"/>
              </a:rPr>
              <a:t>Phishing: “Diamond Gratis”</a:t>
            </a:r>
            <a:endParaRPr lang="en-US" sz="1900" dirty="0"/>
          </a:p>
        </p:txBody>
      </p:sp>
      <p:sp>
        <p:nvSpPr>
          <p:cNvPr id="11" name="Text 9"/>
          <p:cNvSpPr/>
          <p:nvPr/>
        </p:nvSpPr>
        <p:spPr>
          <a:xfrm>
            <a:off x="868680" y="2944368"/>
            <a:ext cx="4526280" cy="658368"/>
          </a:xfrm>
          <a:prstGeom prst="rect">
            <a:avLst/>
          </a:prstGeom>
          <a:noFill/>
          <a:ln/>
        </p:spPr>
        <p:txBody>
          <a:bodyPr wrap="square" lIns="0" tIns="0" rIns="0" bIns="0" rtlCol="0" anchor="t">
            <a:normAutofit/>
          </a:bodyPr>
          <a:lstStyle/>
          <a:p>
            <a:pPr algn="l" indent="0" marL="0">
              <a:buNone/>
            </a:pPr>
            <a:r>
              <a:rPr lang="en-US" sz="1300" dirty="0">
                <a:solidFill>
                  <a:srgbClr val="183044"/>
                </a:solidFill>
                <a:latin typeface="Aptos" pitchFamily="34" charset="0"/>
                <a:ea typeface="Aptos" pitchFamily="34" charset="-122"/>
                <a:cs typeface="Aptos" pitchFamily="34" charset="-120"/>
              </a:rPr>
              <a:t>Pesan promosi atau hadiah mengarahkan pengguna ke tautan yang berpotensi meminta data akun.</a:t>
            </a:r>
            <a:endParaRPr lang="en-US" sz="1300" dirty="0"/>
          </a:p>
        </p:txBody>
      </p:sp>
      <p:sp>
        <p:nvSpPr>
          <p:cNvPr id="12" name="Shape 10"/>
          <p:cNvSpPr/>
          <p:nvPr/>
        </p:nvSpPr>
        <p:spPr>
          <a:xfrm>
            <a:off x="868680" y="3794760"/>
            <a:ext cx="1600200" cy="274320"/>
          </a:xfrm>
          <a:prstGeom prst="roundRect">
            <a:avLst>
              <a:gd name="adj" fmla="val 46667"/>
            </a:avLst>
          </a:prstGeom>
          <a:solidFill>
            <a:srgbClr val="FFF1EF"/>
          </a:solidFill>
          <a:ln w="12700">
            <a:solidFill>
              <a:srgbClr val="FFF1EF">
                <a:alpha val="0"/>
              </a:srgbClr>
            </a:solidFill>
            <a:prstDash val="solid"/>
          </a:ln>
        </p:spPr>
      </p:sp>
      <p:sp>
        <p:nvSpPr>
          <p:cNvPr id="13" name="Text 11"/>
          <p:cNvSpPr/>
          <p:nvPr/>
        </p:nvSpPr>
        <p:spPr>
          <a:xfrm>
            <a:off x="941832" y="3808476"/>
            <a:ext cx="1453896" cy="256032"/>
          </a:xfrm>
          <a:prstGeom prst="rect">
            <a:avLst/>
          </a:prstGeom>
          <a:noFill/>
          <a:ln/>
        </p:spPr>
        <p:txBody>
          <a:bodyPr wrap="square" lIns="0" tIns="0" rIns="0" bIns="0" rtlCol="0" anchor="ctr">
            <a:normAutofit/>
          </a:bodyPr>
          <a:lstStyle/>
          <a:p>
            <a:pPr algn="ctr" indent="0" marL="0">
              <a:buNone/>
            </a:pPr>
            <a:r>
              <a:rPr lang="en-US" sz="850" b="1" spc="40" kern="0" dirty="0">
                <a:solidFill>
                  <a:srgbClr val="F06A5C"/>
                </a:solidFill>
                <a:latin typeface="Aptos" pitchFamily="34" charset="0"/>
                <a:ea typeface="Aptos" pitchFamily="34" charset="-122"/>
                <a:cs typeface="Aptos" pitchFamily="34" charset="-120"/>
              </a:rPr>
              <a:t>RISIKO: DATA AKUN</a:t>
            </a:r>
            <a:endParaRPr lang="en-US" sz="850" dirty="0"/>
          </a:p>
        </p:txBody>
      </p:sp>
      <p:sp>
        <p:nvSpPr>
          <p:cNvPr id="14" name="Shape 12"/>
          <p:cNvSpPr/>
          <p:nvPr/>
        </p:nvSpPr>
        <p:spPr>
          <a:xfrm>
            <a:off x="6236208" y="1874520"/>
            <a:ext cx="5349240" cy="2423160"/>
          </a:xfrm>
          <a:prstGeom prst="roundRect">
            <a:avLst>
              <a:gd name="adj" fmla="val 6792"/>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15" name="Shape 13"/>
          <p:cNvSpPr/>
          <p:nvPr/>
        </p:nvSpPr>
        <p:spPr>
          <a:xfrm>
            <a:off x="6236208" y="1874520"/>
            <a:ext cx="109728" cy="2423160"/>
          </a:xfrm>
          <a:prstGeom prst="roundRect">
            <a:avLst>
              <a:gd name="adj" fmla="val 25000"/>
            </a:avLst>
          </a:prstGeom>
          <a:solidFill>
            <a:srgbClr val="7868B5"/>
          </a:solidFill>
          <a:ln w="12700">
            <a:solidFill>
              <a:srgbClr val="7868B5">
                <a:alpha val="0"/>
              </a:srgbClr>
            </a:solidFill>
            <a:prstDash val="solid"/>
          </a:ln>
        </p:spPr>
      </p:sp>
      <p:sp>
        <p:nvSpPr>
          <p:cNvPr id="16" name="Shape 14"/>
          <p:cNvSpPr/>
          <p:nvPr/>
        </p:nvSpPr>
        <p:spPr>
          <a:xfrm>
            <a:off x="6510528" y="2121408"/>
            <a:ext cx="777240" cy="256032"/>
          </a:xfrm>
          <a:prstGeom prst="roundRect">
            <a:avLst>
              <a:gd name="adj" fmla="val 50000"/>
            </a:avLst>
          </a:prstGeom>
          <a:solidFill>
            <a:srgbClr val="EEEAFB"/>
          </a:solidFill>
          <a:ln w="12700">
            <a:solidFill>
              <a:srgbClr val="EEEAFB">
                <a:alpha val="0"/>
              </a:srgbClr>
            </a:solidFill>
            <a:prstDash val="solid"/>
          </a:ln>
        </p:spPr>
      </p:sp>
      <p:sp>
        <p:nvSpPr>
          <p:cNvPr id="17" name="Text 15"/>
          <p:cNvSpPr/>
          <p:nvPr/>
        </p:nvSpPr>
        <p:spPr>
          <a:xfrm>
            <a:off x="6583680" y="2135124"/>
            <a:ext cx="630936" cy="237744"/>
          </a:xfrm>
          <a:prstGeom prst="rect">
            <a:avLst/>
          </a:prstGeom>
          <a:noFill/>
          <a:ln/>
        </p:spPr>
        <p:txBody>
          <a:bodyPr wrap="square" lIns="0" tIns="0" rIns="0" bIns="0" rtlCol="0" anchor="ctr">
            <a:normAutofit/>
          </a:bodyPr>
          <a:lstStyle/>
          <a:p>
            <a:pPr algn="ctr" indent="0" marL="0">
              <a:buNone/>
            </a:pPr>
            <a:r>
              <a:rPr lang="en-US" sz="850" b="1" spc="40" kern="0" dirty="0">
                <a:solidFill>
                  <a:srgbClr val="7868B5"/>
                </a:solidFill>
                <a:latin typeface="Aptos" pitchFamily="34" charset="0"/>
                <a:ea typeface="Aptos" pitchFamily="34" charset="-122"/>
                <a:cs typeface="Aptos" pitchFamily="34" charset="-120"/>
              </a:rPr>
              <a:t>KASUS B</a:t>
            </a:r>
            <a:endParaRPr lang="en-US" sz="850" dirty="0"/>
          </a:p>
        </p:txBody>
      </p:sp>
      <p:sp>
        <p:nvSpPr>
          <p:cNvPr id="18" name="Text 16"/>
          <p:cNvSpPr/>
          <p:nvPr/>
        </p:nvSpPr>
        <p:spPr>
          <a:xfrm>
            <a:off x="6510528" y="2523744"/>
            <a:ext cx="4526280" cy="329184"/>
          </a:xfrm>
          <a:prstGeom prst="rect">
            <a:avLst/>
          </a:prstGeom>
          <a:noFill/>
          <a:ln/>
        </p:spPr>
        <p:txBody>
          <a:bodyPr wrap="square" lIns="0" tIns="0" rIns="0" bIns="0" rtlCol="0" anchor="ctr">
            <a:normAutofit/>
          </a:bodyPr>
          <a:lstStyle/>
          <a:p>
            <a:pPr algn="l" indent="0" marL="0">
              <a:buNone/>
            </a:pPr>
            <a:r>
              <a:rPr lang="en-US" sz="1900" b="1" dirty="0">
                <a:solidFill>
                  <a:srgbClr val="102A43"/>
                </a:solidFill>
                <a:latin typeface="Aptos" pitchFamily="34" charset="0"/>
                <a:ea typeface="Aptos" pitchFamily="34" charset="-122"/>
                <a:cs typeface="Aptos" pitchFamily="34" charset="-120"/>
              </a:rPr>
              <a:t>Deepfake / video manipulasi</a:t>
            </a:r>
            <a:endParaRPr lang="en-US" sz="1900" dirty="0"/>
          </a:p>
        </p:txBody>
      </p:sp>
      <p:sp>
        <p:nvSpPr>
          <p:cNvPr id="19" name="Text 17"/>
          <p:cNvSpPr/>
          <p:nvPr/>
        </p:nvSpPr>
        <p:spPr>
          <a:xfrm>
            <a:off x="6510528" y="2944368"/>
            <a:ext cx="4526280" cy="658368"/>
          </a:xfrm>
          <a:prstGeom prst="rect">
            <a:avLst/>
          </a:prstGeom>
          <a:noFill/>
          <a:ln/>
        </p:spPr>
        <p:txBody>
          <a:bodyPr wrap="square" lIns="0" tIns="0" rIns="0" bIns="0" rtlCol="0" anchor="t">
            <a:normAutofit/>
          </a:bodyPr>
          <a:lstStyle/>
          <a:p>
            <a:pPr algn="l" indent="0" marL="0">
              <a:buNone/>
            </a:pPr>
            <a:r>
              <a:rPr lang="en-US" sz="1300" dirty="0">
                <a:solidFill>
                  <a:srgbClr val="183044"/>
                </a:solidFill>
                <a:latin typeface="Aptos" pitchFamily="34" charset="0"/>
                <a:ea typeface="Aptos" pitchFamily="34" charset="-122"/>
                <a:cs typeface="Aptos" pitchFamily="34" charset="-120"/>
              </a:rPr>
              <a:t>Video dan narasi yang memancing emosi dapat dipercaya atau dibagikan sebelum sumber dan konteksnya diperiksa.</a:t>
            </a:r>
            <a:endParaRPr lang="en-US" sz="1300" dirty="0"/>
          </a:p>
        </p:txBody>
      </p:sp>
      <p:sp>
        <p:nvSpPr>
          <p:cNvPr id="20" name="Shape 18"/>
          <p:cNvSpPr/>
          <p:nvPr/>
        </p:nvSpPr>
        <p:spPr>
          <a:xfrm>
            <a:off x="6510528" y="3794760"/>
            <a:ext cx="1828800" cy="274320"/>
          </a:xfrm>
          <a:prstGeom prst="roundRect">
            <a:avLst>
              <a:gd name="adj" fmla="val 46667"/>
            </a:avLst>
          </a:prstGeom>
          <a:solidFill>
            <a:srgbClr val="F1EEFF"/>
          </a:solidFill>
          <a:ln w="12700">
            <a:solidFill>
              <a:srgbClr val="F1EEFF">
                <a:alpha val="0"/>
              </a:srgbClr>
            </a:solidFill>
            <a:prstDash val="solid"/>
          </a:ln>
        </p:spPr>
      </p:sp>
      <p:sp>
        <p:nvSpPr>
          <p:cNvPr id="21" name="Text 19"/>
          <p:cNvSpPr/>
          <p:nvPr/>
        </p:nvSpPr>
        <p:spPr>
          <a:xfrm>
            <a:off x="6583680" y="3808476"/>
            <a:ext cx="1682496" cy="256032"/>
          </a:xfrm>
          <a:prstGeom prst="rect">
            <a:avLst/>
          </a:prstGeom>
          <a:noFill/>
          <a:ln/>
        </p:spPr>
        <p:txBody>
          <a:bodyPr wrap="square" lIns="0" tIns="0" rIns="0" bIns="0" rtlCol="0" anchor="ctr">
            <a:normAutofit/>
          </a:bodyPr>
          <a:lstStyle/>
          <a:p>
            <a:pPr algn="ctr" indent="0" marL="0">
              <a:buNone/>
            </a:pPr>
            <a:r>
              <a:rPr lang="en-US" sz="850" b="1" spc="40" kern="0" dirty="0">
                <a:solidFill>
                  <a:srgbClr val="7868B5"/>
                </a:solidFill>
                <a:latin typeface="Aptos" pitchFamily="34" charset="0"/>
                <a:ea typeface="Aptos" pitchFamily="34" charset="-122"/>
                <a:cs typeface="Aptos" pitchFamily="34" charset="-120"/>
              </a:rPr>
              <a:t>RISIKO: MISINFORMASI</a:t>
            </a:r>
            <a:endParaRPr lang="en-US" sz="850" dirty="0"/>
          </a:p>
        </p:txBody>
      </p:sp>
      <p:sp>
        <p:nvSpPr>
          <p:cNvPr id="22" name="Shape 20"/>
          <p:cNvSpPr/>
          <p:nvPr/>
        </p:nvSpPr>
        <p:spPr>
          <a:xfrm>
            <a:off x="594360" y="4645152"/>
            <a:ext cx="10991088" cy="1115568"/>
          </a:xfrm>
          <a:prstGeom prst="roundRect">
            <a:avLst>
              <a:gd name="adj" fmla="val 14754"/>
            </a:avLst>
          </a:prstGeom>
          <a:solidFill>
            <a:srgbClr val="102A43"/>
          </a:solidFill>
          <a:ln w="12700">
            <a:solidFill>
              <a:srgbClr val="102A43">
                <a:alpha val="0"/>
              </a:srgbClr>
            </a:solidFill>
            <a:prstDash val="solid"/>
          </a:ln>
        </p:spPr>
      </p:sp>
      <p:sp>
        <p:nvSpPr>
          <p:cNvPr id="23" name="Text 21"/>
          <p:cNvSpPr/>
          <p:nvPr/>
        </p:nvSpPr>
        <p:spPr>
          <a:xfrm>
            <a:off x="868680" y="4846320"/>
            <a:ext cx="2011680" cy="228600"/>
          </a:xfrm>
          <a:prstGeom prst="rect">
            <a:avLst/>
          </a:prstGeom>
          <a:noFill/>
          <a:ln/>
        </p:spPr>
        <p:txBody>
          <a:bodyPr wrap="square" lIns="0" tIns="0" rIns="0" bIns="0" rtlCol="0" anchor="ctr">
            <a:normAutofit/>
          </a:bodyPr>
          <a:lstStyle/>
          <a:p>
            <a:pPr algn="l" indent="0" marL="0">
              <a:buNone/>
            </a:pPr>
            <a:r>
              <a:rPr lang="en-US" sz="900" b="1" spc="100" kern="0" dirty="0">
                <a:solidFill>
                  <a:srgbClr val="F4C95D"/>
                </a:solidFill>
                <a:latin typeface="Aptos" pitchFamily="34" charset="0"/>
                <a:ea typeface="Aptos" pitchFamily="34" charset="-122"/>
                <a:cs typeface="Aptos" pitchFamily="34" charset="-120"/>
              </a:rPr>
              <a:t>PERTANYAAN PEMANTIK</a:t>
            </a:r>
            <a:endParaRPr lang="en-US" sz="900" dirty="0"/>
          </a:p>
        </p:txBody>
      </p:sp>
      <p:sp>
        <p:nvSpPr>
          <p:cNvPr id="24" name="Shape 22"/>
          <p:cNvSpPr/>
          <p:nvPr/>
        </p:nvSpPr>
        <p:spPr>
          <a:xfrm>
            <a:off x="2880360" y="4901184"/>
            <a:ext cx="310896" cy="310896"/>
          </a:xfrm>
          <a:prstGeom prst="ellipse">
            <a:avLst/>
          </a:prstGeom>
          <a:solidFill>
            <a:srgbClr val="F06A5C"/>
          </a:solidFill>
          <a:ln w="12700">
            <a:solidFill>
              <a:srgbClr val="F06A5C">
                <a:alpha val="0"/>
              </a:srgbClr>
            </a:solidFill>
            <a:prstDash val="solid"/>
          </a:ln>
        </p:spPr>
      </p:sp>
      <p:sp>
        <p:nvSpPr>
          <p:cNvPr id="25" name="Text 23"/>
          <p:cNvSpPr/>
          <p:nvPr/>
        </p:nvSpPr>
        <p:spPr>
          <a:xfrm>
            <a:off x="2880360" y="4901184"/>
            <a:ext cx="310896" cy="310896"/>
          </a:xfrm>
          <a:prstGeom prst="rect">
            <a:avLst/>
          </a:prstGeom>
          <a:noFill/>
          <a:ln/>
        </p:spPr>
        <p:txBody>
          <a:bodyPr wrap="square" lIns="0" tIns="0" rIns="0" bIns="0" rtlCol="0" anchor="ctr">
            <a:normAutofit/>
          </a:bodyPr>
          <a:lstStyle/>
          <a:p>
            <a:pPr algn="ctr" indent="0" marL="0">
              <a:buNone/>
            </a:pPr>
            <a:r>
              <a:rPr lang="en-US" sz="900" b="1" dirty="0">
                <a:solidFill>
                  <a:srgbClr val="102A43"/>
                </a:solidFill>
                <a:latin typeface="Aptos" pitchFamily="34" charset="0"/>
                <a:ea typeface="Aptos" pitchFamily="34" charset="-122"/>
                <a:cs typeface="Aptos" pitchFamily="34" charset="-120"/>
              </a:rPr>
              <a:t>01</a:t>
            </a:r>
            <a:endParaRPr lang="en-US" sz="900" dirty="0"/>
          </a:p>
        </p:txBody>
      </p:sp>
      <p:sp>
        <p:nvSpPr>
          <p:cNvPr id="26" name="Text 24"/>
          <p:cNvSpPr/>
          <p:nvPr/>
        </p:nvSpPr>
        <p:spPr>
          <a:xfrm>
            <a:off x="3291840" y="4837176"/>
            <a:ext cx="2148840" cy="502920"/>
          </a:xfrm>
          <a:prstGeom prst="rect">
            <a:avLst/>
          </a:prstGeom>
          <a:noFill/>
          <a:ln/>
        </p:spPr>
        <p:txBody>
          <a:bodyPr wrap="square" lIns="0" tIns="0" rIns="0" bIns="0" rtlCol="0" anchor="ctr">
            <a:normAutofit/>
          </a:bodyPr>
          <a:lstStyle/>
          <a:p>
            <a:pPr algn="l" indent="0" marL="0">
              <a:buNone/>
            </a:pPr>
            <a:r>
              <a:rPr lang="en-US" sz="1240" b="1" dirty="0">
                <a:solidFill>
                  <a:srgbClr val="FFFFFF"/>
                </a:solidFill>
                <a:latin typeface="Aptos" pitchFamily="34" charset="0"/>
                <a:ea typeface="Aptos" pitchFamily="34" charset="-122"/>
                <a:cs typeface="Aptos" pitchFamily="34" charset="-120"/>
              </a:rPr>
              <a:t>Klaim apa yang harus diuji?</a:t>
            </a:r>
            <a:endParaRPr lang="en-US" sz="1240" dirty="0"/>
          </a:p>
        </p:txBody>
      </p:sp>
      <p:sp>
        <p:nvSpPr>
          <p:cNvPr id="27" name="Shape 25"/>
          <p:cNvSpPr/>
          <p:nvPr/>
        </p:nvSpPr>
        <p:spPr>
          <a:xfrm>
            <a:off x="5669280" y="4901184"/>
            <a:ext cx="310896" cy="310896"/>
          </a:xfrm>
          <a:prstGeom prst="ellipse">
            <a:avLst/>
          </a:prstGeom>
          <a:solidFill>
            <a:srgbClr val="38A99A"/>
          </a:solidFill>
          <a:ln w="12700">
            <a:solidFill>
              <a:srgbClr val="38A99A">
                <a:alpha val="0"/>
              </a:srgbClr>
            </a:solidFill>
            <a:prstDash val="solid"/>
          </a:ln>
        </p:spPr>
      </p:sp>
      <p:sp>
        <p:nvSpPr>
          <p:cNvPr id="28" name="Text 26"/>
          <p:cNvSpPr/>
          <p:nvPr/>
        </p:nvSpPr>
        <p:spPr>
          <a:xfrm>
            <a:off x="5669280" y="4901184"/>
            <a:ext cx="310896" cy="310896"/>
          </a:xfrm>
          <a:prstGeom prst="rect">
            <a:avLst/>
          </a:prstGeom>
          <a:noFill/>
          <a:ln/>
        </p:spPr>
        <p:txBody>
          <a:bodyPr wrap="square" lIns="0" tIns="0" rIns="0" bIns="0" rtlCol="0" anchor="ctr">
            <a:normAutofit/>
          </a:bodyPr>
          <a:lstStyle/>
          <a:p>
            <a:pPr algn="ctr" indent="0" marL="0">
              <a:buNone/>
            </a:pPr>
            <a:r>
              <a:rPr lang="en-US" sz="900" b="1" dirty="0">
                <a:solidFill>
                  <a:srgbClr val="102A43"/>
                </a:solidFill>
                <a:latin typeface="Aptos" pitchFamily="34" charset="0"/>
                <a:ea typeface="Aptos" pitchFamily="34" charset="-122"/>
                <a:cs typeface="Aptos" pitchFamily="34" charset="-120"/>
              </a:rPr>
              <a:t>02</a:t>
            </a:r>
            <a:endParaRPr lang="en-US" sz="900" dirty="0"/>
          </a:p>
        </p:txBody>
      </p:sp>
      <p:sp>
        <p:nvSpPr>
          <p:cNvPr id="29" name="Text 27"/>
          <p:cNvSpPr/>
          <p:nvPr/>
        </p:nvSpPr>
        <p:spPr>
          <a:xfrm>
            <a:off x="6080760" y="4837176"/>
            <a:ext cx="2148840" cy="502920"/>
          </a:xfrm>
          <a:prstGeom prst="rect">
            <a:avLst/>
          </a:prstGeom>
          <a:noFill/>
          <a:ln/>
        </p:spPr>
        <p:txBody>
          <a:bodyPr wrap="square" lIns="0" tIns="0" rIns="0" bIns="0" rtlCol="0" anchor="ctr">
            <a:normAutofit/>
          </a:bodyPr>
          <a:lstStyle/>
          <a:p>
            <a:pPr algn="l" indent="0" marL="0">
              <a:buNone/>
            </a:pPr>
            <a:r>
              <a:rPr lang="en-US" sz="1240" b="1" dirty="0">
                <a:solidFill>
                  <a:srgbClr val="FFFFFF"/>
                </a:solidFill>
                <a:latin typeface="Aptos" pitchFamily="34" charset="0"/>
                <a:ea typeface="Aptos" pitchFamily="34" charset="-122"/>
                <a:cs typeface="Aptos" pitchFamily="34" charset="-120"/>
              </a:rPr>
              <a:t>Bukti apa yang dapat dipercaya?</a:t>
            </a:r>
            <a:endParaRPr lang="en-US" sz="1240" dirty="0"/>
          </a:p>
        </p:txBody>
      </p:sp>
      <p:sp>
        <p:nvSpPr>
          <p:cNvPr id="30" name="Shape 28"/>
          <p:cNvSpPr/>
          <p:nvPr/>
        </p:nvSpPr>
        <p:spPr>
          <a:xfrm>
            <a:off x="8458200" y="4901184"/>
            <a:ext cx="310896" cy="310896"/>
          </a:xfrm>
          <a:prstGeom prst="ellipse">
            <a:avLst/>
          </a:prstGeom>
          <a:solidFill>
            <a:srgbClr val="F4C95D"/>
          </a:solidFill>
          <a:ln w="12700">
            <a:solidFill>
              <a:srgbClr val="F4C95D">
                <a:alpha val="0"/>
              </a:srgbClr>
            </a:solidFill>
            <a:prstDash val="solid"/>
          </a:ln>
        </p:spPr>
      </p:sp>
      <p:sp>
        <p:nvSpPr>
          <p:cNvPr id="31" name="Text 29"/>
          <p:cNvSpPr/>
          <p:nvPr/>
        </p:nvSpPr>
        <p:spPr>
          <a:xfrm>
            <a:off x="8458200" y="4901184"/>
            <a:ext cx="310896" cy="310896"/>
          </a:xfrm>
          <a:prstGeom prst="rect">
            <a:avLst/>
          </a:prstGeom>
          <a:noFill/>
          <a:ln/>
        </p:spPr>
        <p:txBody>
          <a:bodyPr wrap="square" lIns="0" tIns="0" rIns="0" bIns="0" rtlCol="0" anchor="ctr">
            <a:normAutofit/>
          </a:bodyPr>
          <a:lstStyle/>
          <a:p>
            <a:pPr algn="ctr" indent="0" marL="0">
              <a:buNone/>
            </a:pPr>
            <a:r>
              <a:rPr lang="en-US" sz="900" b="1" dirty="0">
                <a:solidFill>
                  <a:srgbClr val="102A43"/>
                </a:solidFill>
                <a:latin typeface="Aptos" pitchFamily="34" charset="0"/>
                <a:ea typeface="Aptos" pitchFamily="34" charset="-122"/>
                <a:cs typeface="Aptos" pitchFamily="34" charset="-120"/>
              </a:rPr>
              <a:t>03</a:t>
            </a:r>
            <a:endParaRPr lang="en-US" sz="900" dirty="0"/>
          </a:p>
        </p:txBody>
      </p:sp>
      <p:sp>
        <p:nvSpPr>
          <p:cNvPr id="32" name="Text 30"/>
          <p:cNvSpPr/>
          <p:nvPr/>
        </p:nvSpPr>
        <p:spPr>
          <a:xfrm>
            <a:off x="8869680" y="4837176"/>
            <a:ext cx="2148840" cy="502920"/>
          </a:xfrm>
          <a:prstGeom prst="rect">
            <a:avLst/>
          </a:prstGeom>
          <a:noFill/>
          <a:ln/>
        </p:spPr>
        <p:txBody>
          <a:bodyPr wrap="square" lIns="0" tIns="0" rIns="0" bIns="0" rtlCol="0" anchor="ctr">
            <a:normAutofit/>
          </a:bodyPr>
          <a:lstStyle/>
          <a:p>
            <a:pPr algn="l" indent="0" marL="0">
              <a:buNone/>
            </a:pPr>
            <a:r>
              <a:rPr lang="en-US" sz="1240" b="1" dirty="0">
                <a:solidFill>
                  <a:srgbClr val="FFFFFF"/>
                </a:solidFill>
                <a:latin typeface="Aptos" pitchFamily="34" charset="0"/>
                <a:ea typeface="Aptos" pitchFamily="34" charset="-122"/>
                <a:cs typeface="Aptos" pitchFamily="34" charset="-120"/>
              </a:rPr>
              <a:t>Apa respons digital yang aman?</a:t>
            </a:r>
            <a:endParaRPr lang="en-US" sz="124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37587"/>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66928" y="329184"/>
            <a:ext cx="1810512" cy="274320"/>
          </a:xfrm>
          <a:prstGeom prst="roundRect">
            <a:avLst>
              <a:gd name="adj" fmla="val 46667"/>
            </a:avLst>
          </a:prstGeom>
          <a:solidFill>
            <a:srgbClr val="DDF4EC"/>
          </a:solidFill>
          <a:ln w="12700">
            <a:solidFill>
              <a:srgbClr val="DDF4EC">
                <a:alpha val="0"/>
              </a:srgbClr>
            </a:solidFill>
            <a:prstDash val="solid"/>
          </a:ln>
        </p:spPr>
      </p:sp>
      <p:sp>
        <p:nvSpPr>
          <p:cNvPr id="3" name="Text 1"/>
          <p:cNvSpPr/>
          <p:nvPr/>
        </p:nvSpPr>
        <p:spPr>
          <a:xfrm>
            <a:off x="640080" y="342900"/>
            <a:ext cx="1664208" cy="256032"/>
          </a:xfrm>
          <a:prstGeom prst="rect">
            <a:avLst/>
          </a:prstGeom>
          <a:noFill/>
          <a:ln/>
        </p:spPr>
        <p:txBody>
          <a:bodyPr wrap="square" lIns="0" tIns="0" rIns="0" bIns="0" rtlCol="0" anchor="ctr">
            <a:normAutofit/>
          </a:bodyPr>
          <a:lstStyle/>
          <a:p>
            <a:pPr algn="ctr" indent="0" marL="0">
              <a:buNone/>
            </a:pPr>
            <a:r>
              <a:rPr lang="en-US" sz="850" b="1" spc="40" kern="0" dirty="0">
                <a:solidFill>
                  <a:srgbClr val="18766F"/>
                </a:solidFill>
                <a:latin typeface="Aptos" pitchFamily="34" charset="0"/>
                <a:ea typeface="Aptos" pitchFamily="34" charset="-122"/>
                <a:cs typeface="Aptos" pitchFamily="34" charset="-120"/>
              </a:rPr>
              <a:t>02 • TUJUAN BELAJAR</a:t>
            </a:r>
            <a:endParaRPr lang="en-US" sz="850" dirty="0"/>
          </a:p>
        </p:txBody>
      </p:sp>
      <p:sp>
        <p:nvSpPr>
          <p:cNvPr id="4" name="Text 2"/>
          <p:cNvSpPr/>
          <p:nvPr/>
        </p:nvSpPr>
        <p:spPr>
          <a:xfrm>
            <a:off x="566928" y="749808"/>
            <a:ext cx="10972800" cy="548640"/>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Apa yang harus dikuasai peserta didik?</a:t>
            </a:r>
            <a:endParaRPr lang="en-US" sz="2800" dirty="0"/>
          </a:p>
        </p:txBody>
      </p:sp>
      <p:sp>
        <p:nvSpPr>
          <p:cNvPr id="5" name="Text 3"/>
          <p:cNvSpPr/>
          <p:nvPr/>
        </p:nvSpPr>
        <p:spPr>
          <a:xfrm>
            <a:off x="585216" y="1307592"/>
            <a:ext cx="10881360" cy="329184"/>
          </a:xfrm>
          <a:prstGeom prst="rect">
            <a:avLst/>
          </a:prstGeom>
          <a:noFill/>
          <a:ln/>
        </p:spPr>
        <p:txBody>
          <a:bodyPr wrap="square" lIns="0" tIns="0" rIns="0" bIns="0" rtlCol="0" anchor="ctr">
            <a:normAutofit/>
          </a:bodyPr>
          <a:lstStyle/>
          <a:p>
            <a:pPr algn="l" indent="0" marL="0">
              <a:buNone/>
            </a:pPr>
            <a:r>
              <a:rPr lang="en-US" sz="1250" dirty="0">
                <a:solidFill>
                  <a:srgbClr val="617587"/>
                </a:solidFill>
                <a:latin typeface="Aptos" pitchFamily="34" charset="0"/>
                <a:ea typeface="Aptos" pitchFamily="34" charset="-122"/>
                <a:cs typeface="Aptos" pitchFamily="34" charset="-120"/>
              </a:rPr>
              <a:t>Tujuan dirumuskan sebagai tindakan yang dapat diamati melalui artefak belajar.</a:t>
            </a:r>
            <a:endParaRPr lang="en-US" sz="1250" dirty="0"/>
          </a:p>
        </p:txBody>
      </p:sp>
      <p:sp>
        <p:nvSpPr>
          <p:cNvPr id="6" name="Shape 4"/>
          <p:cNvSpPr/>
          <p:nvPr/>
        </p:nvSpPr>
        <p:spPr>
          <a:xfrm>
            <a:off x="594360" y="1901952"/>
            <a:ext cx="3520440" cy="3566160"/>
          </a:xfrm>
          <a:prstGeom prst="roundRect">
            <a:avLst>
              <a:gd name="adj" fmla="val 4675"/>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7" name="Shape 5"/>
          <p:cNvSpPr/>
          <p:nvPr/>
        </p:nvSpPr>
        <p:spPr>
          <a:xfrm>
            <a:off x="822960" y="2157984"/>
            <a:ext cx="502920" cy="502920"/>
          </a:xfrm>
          <a:prstGeom prst="ellipse">
            <a:avLst/>
          </a:prstGeom>
          <a:solidFill>
            <a:srgbClr val="F06A5C"/>
          </a:solidFill>
          <a:ln w="12700">
            <a:solidFill>
              <a:srgbClr val="F06A5C">
                <a:alpha val="0"/>
              </a:srgbClr>
            </a:solidFill>
            <a:prstDash val="solid"/>
          </a:ln>
        </p:spPr>
      </p:sp>
      <p:sp>
        <p:nvSpPr>
          <p:cNvPr id="8" name="Text 6"/>
          <p:cNvSpPr/>
          <p:nvPr/>
        </p:nvSpPr>
        <p:spPr>
          <a:xfrm>
            <a:off x="822960" y="2157984"/>
            <a:ext cx="502920" cy="5029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01</a:t>
            </a:r>
            <a:endParaRPr lang="en-US" sz="1400" dirty="0"/>
          </a:p>
        </p:txBody>
      </p:sp>
      <p:sp>
        <p:nvSpPr>
          <p:cNvPr id="9" name="Shape 7"/>
          <p:cNvSpPr/>
          <p:nvPr/>
        </p:nvSpPr>
        <p:spPr>
          <a:xfrm>
            <a:off x="1490472" y="2267712"/>
            <a:ext cx="1143000" cy="246888"/>
          </a:xfrm>
          <a:prstGeom prst="roundRect">
            <a:avLst>
              <a:gd name="adj" fmla="val 51852"/>
            </a:avLst>
          </a:prstGeom>
          <a:solidFill>
            <a:srgbClr val="FDE8E4"/>
          </a:solidFill>
          <a:ln w="12700">
            <a:solidFill>
              <a:srgbClr val="FDE8E4">
                <a:alpha val="0"/>
              </a:srgbClr>
            </a:solidFill>
            <a:prstDash val="solid"/>
          </a:ln>
        </p:spPr>
      </p:sp>
      <p:sp>
        <p:nvSpPr>
          <p:cNvPr id="10" name="Text 8"/>
          <p:cNvSpPr/>
          <p:nvPr/>
        </p:nvSpPr>
        <p:spPr>
          <a:xfrm>
            <a:off x="1563624" y="2281428"/>
            <a:ext cx="996696" cy="228600"/>
          </a:xfrm>
          <a:prstGeom prst="rect">
            <a:avLst/>
          </a:prstGeom>
          <a:noFill/>
          <a:ln/>
        </p:spPr>
        <p:txBody>
          <a:bodyPr wrap="square" lIns="0" tIns="0" rIns="0" bIns="0" rtlCol="0" anchor="ctr">
            <a:normAutofit/>
          </a:bodyPr>
          <a:lstStyle/>
          <a:p>
            <a:pPr algn="ctr" indent="0" marL="0">
              <a:buNone/>
            </a:pPr>
            <a:r>
              <a:rPr lang="en-US" sz="810" b="1" spc="40" kern="0" dirty="0">
                <a:solidFill>
                  <a:srgbClr val="F06A5C"/>
                </a:solidFill>
                <a:latin typeface="Aptos" pitchFamily="34" charset="0"/>
                <a:ea typeface="Aptos" pitchFamily="34" charset="-122"/>
                <a:cs typeface="Aptos" pitchFamily="34" charset="-120"/>
              </a:rPr>
              <a:t>IDENTIFIKASI</a:t>
            </a:r>
            <a:endParaRPr lang="en-US" sz="810" dirty="0"/>
          </a:p>
        </p:txBody>
      </p:sp>
      <p:sp>
        <p:nvSpPr>
          <p:cNvPr id="11" name="Text 9"/>
          <p:cNvSpPr/>
          <p:nvPr/>
        </p:nvSpPr>
        <p:spPr>
          <a:xfrm>
            <a:off x="822960" y="2852928"/>
            <a:ext cx="2999232" cy="566928"/>
          </a:xfrm>
          <a:prstGeom prst="rect">
            <a:avLst/>
          </a:prstGeom>
          <a:noFill/>
          <a:ln/>
        </p:spPr>
        <p:txBody>
          <a:bodyPr wrap="square" lIns="0" tIns="0" rIns="0" bIns="0" rtlCol="0" anchor="t">
            <a:normAutofit/>
          </a:bodyPr>
          <a:lstStyle/>
          <a:p>
            <a:pPr algn="l" indent="0" marL="0">
              <a:buNone/>
            </a:pPr>
            <a:r>
              <a:rPr lang="en-US" sz="1800" b="1" dirty="0">
                <a:solidFill>
                  <a:srgbClr val="102A43"/>
                </a:solidFill>
                <a:latin typeface="Aptos" pitchFamily="34" charset="0"/>
                <a:ea typeface="Aptos" pitchFamily="34" charset="-122"/>
                <a:cs typeface="Aptos" pitchFamily="34" charset="-120"/>
              </a:rPr>
              <a:t>Mengenali tanda mencurigakan</a:t>
            </a:r>
            <a:endParaRPr lang="en-US" sz="1800" dirty="0"/>
          </a:p>
        </p:txBody>
      </p:sp>
      <p:sp>
        <p:nvSpPr>
          <p:cNvPr id="12" name="Text 10"/>
          <p:cNvSpPr/>
          <p:nvPr/>
        </p:nvSpPr>
        <p:spPr>
          <a:xfrm>
            <a:off x="822960" y="3547872"/>
            <a:ext cx="2999232" cy="1133856"/>
          </a:xfrm>
          <a:prstGeom prst="rect">
            <a:avLst/>
          </a:prstGeom>
          <a:noFill/>
          <a:ln/>
        </p:spPr>
        <p:txBody>
          <a:bodyPr wrap="square" lIns="0" tIns="0" rIns="0" bIns="0" rtlCol="0" anchor="t">
            <a:normAutofit/>
          </a:bodyPr>
          <a:lstStyle/>
          <a:p>
            <a:pPr algn="l" indent="0" marL="0">
              <a:buNone/>
            </a:pPr>
            <a:r>
              <a:rPr lang="en-US" sz="1220" dirty="0">
                <a:solidFill>
                  <a:srgbClr val="183044"/>
                </a:solidFill>
                <a:latin typeface="Aptos" pitchFamily="34" charset="0"/>
                <a:ea typeface="Aptos" pitchFamily="34" charset="-122"/>
                <a:cs typeface="Aptos" pitchFamily="34" charset="-120"/>
              </a:rPr>
              <a:t>Menganalisis minimal 3 indikator pada pesan phishing dan/atau video yang diduga dimanipulasi, disertai alasan berbasis bukti.</a:t>
            </a:r>
            <a:endParaRPr lang="en-US" sz="1220" dirty="0"/>
          </a:p>
        </p:txBody>
      </p:sp>
      <p:sp>
        <p:nvSpPr>
          <p:cNvPr id="13" name="Shape 11"/>
          <p:cNvSpPr/>
          <p:nvPr/>
        </p:nvSpPr>
        <p:spPr>
          <a:xfrm>
            <a:off x="822960" y="4846320"/>
            <a:ext cx="3017520" cy="0"/>
          </a:xfrm>
          <a:prstGeom prst="line">
            <a:avLst/>
          </a:prstGeom>
          <a:noFill/>
          <a:ln w="12700">
            <a:solidFill>
              <a:srgbClr val="D9E1E8"/>
            </a:solidFill>
            <a:prstDash val="solid"/>
            <a:headEnd type="none"/>
            <a:tailEnd type="none"/>
          </a:ln>
        </p:spPr>
      </p:sp>
      <p:sp>
        <p:nvSpPr>
          <p:cNvPr id="14" name="Text 12"/>
          <p:cNvSpPr/>
          <p:nvPr/>
        </p:nvSpPr>
        <p:spPr>
          <a:xfrm>
            <a:off x="822960" y="5010912"/>
            <a:ext cx="3017520" cy="256032"/>
          </a:xfrm>
          <a:prstGeom prst="rect">
            <a:avLst/>
          </a:prstGeom>
          <a:noFill/>
          <a:ln/>
        </p:spPr>
        <p:txBody>
          <a:bodyPr wrap="square" lIns="0" tIns="0" rIns="0" bIns="0" rtlCol="0" anchor="ctr">
            <a:normAutofit/>
          </a:bodyPr>
          <a:lstStyle/>
          <a:p>
            <a:pPr algn="l" indent="0" marL="0">
              <a:buNone/>
            </a:pPr>
            <a:r>
              <a:rPr lang="en-US" sz="1000" b="1" dirty="0">
                <a:solidFill>
                  <a:srgbClr val="F06A5C"/>
                </a:solidFill>
                <a:latin typeface="Aptos" pitchFamily="34" charset="0"/>
                <a:ea typeface="Aptos" pitchFamily="34" charset="-122"/>
                <a:cs typeface="Aptos" pitchFamily="34" charset="-120"/>
              </a:rPr>
              <a:t>Bukti: daftar indikator</a:t>
            </a:r>
            <a:endParaRPr lang="en-US" sz="1000" dirty="0"/>
          </a:p>
        </p:txBody>
      </p:sp>
      <p:sp>
        <p:nvSpPr>
          <p:cNvPr id="15" name="Shape 13"/>
          <p:cNvSpPr/>
          <p:nvPr/>
        </p:nvSpPr>
        <p:spPr>
          <a:xfrm>
            <a:off x="4325112" y="1901952"/>
            <a:ext cx="3520440" cy="3566160"/>
          </a:xfrm>
          <a:prstGeom prst="roundRect">
            <a:avLst>
              <a:gd name="adj" fmla="val 4675"/>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16" name="Shape 14"/>
          <p:cNvSpPr/>
          <p:nvPr/>
        </p:nvSpPr>
        <p:spPr>
          <a:xfrm>
            <a:off x="4553712" y="2157984"/>
            <a:ext cx="502920" cy="502920"/>
          </a:xfrm>
          <a:prstGeom prst="ellipse">
            <a:avLst/>
          </a:prstGeom>
          <a:solidFill>
            <a:srgbClr val="38A99A"/>
          </a:solidFill>
          <a:ln w="12700">
            <a:solidFill>
              <a:srgbClr val="38A99A">
                <a:alpha val="0"/>
              </a:srgbClr>
            </a:solidFill>
            <a:prstDash val="solid"/>
          </a:ln>
        </p:spPr>
      </p:sp>
      <p:sp>
        <p:nvSpPr>
          <p:cNvPr id="17" name="Text 15"/>
          <p:cNvSpPr/>
          <p:nvPr/>
        </p:nvSpPr>
        <p:spPr>
          <a:xfrm>
            <a:off x="4553712" y="2157984"/>
            <a:ext cx="502920" cy="5029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02</a:t>
            </a:r>
            <a:endParaRPr lang="en-US" sz="1400" dirty="0"/>
          </a:p>
        </p:txBody>
      </p:sp>
      <p:sp>
        <p:nvSpPr>
          <p:cNvPr id="18" name="Shape 16"/>
          <p:cNvSpPr/>
          <p:nvPr/>
        </p:nvSpPr>
        <p:spPr>
          <a:xfrm>
            <a:off x="5221224" y="2267712"/>
            <a:ext cx="1143000" cy="246888"/>
          </a:xfrm>
          <a:prstGeom prst="roundRect">
            <a:avLst>
              <a:gd name="adj" fmla="val 51852"/>
            </a:avLst>
          </a:prstGeom>
          <a:solidFill>
            <a:srgbClr val="DDF4EC"/>
          </a:solidFill>
          <a:ln w="12700">
            <a:solidFill>
              <a:srgbClr val="DDF4EC">
                <a:alpha val="0"/>
              </a:srgbClr>
            </a:solidFill>
            <a:prstDash val="solid"/>
          </a:ln>
        </p:spPr>
      </p:sp>
      <p:sp>
        <p:nvSpPr>
          <p:cNvPr id="19" name="Text 17"/>
          <p:cNvSpPr/>
          <p:nvPr/>
        </p:nvSpPr>
        <p:spPr>
          <a:xfrm>
            <a:off x="5294376" y="2281428"/>
            <a:ext cx="996696" cy="228600"/>
          </a:xfrm>
          <a:prstGeom prst="rect">
            <a:avLst/>
          </a:prstGeom>
          <a:noFill/>
          <a:ln/>
        </p:spPr>
        <p:txBody>
          <a:bodyPr wrap="square" lIns="0" tIns="0" rIns="0" bIns="0" rtlCol="0" anchor="ctr">
            <a:normAutofit/>
          </a:bodyPr>
          <a:lstStyle/>
          <a:p>
            <a:pPr algn="ctr" indent="0" marL="0">
              <a:buNone/>
            </a:pPr>
            <a:r>
              <a:rPr lang="en-US" sz="810" b="1" spc="40" kern="0" dirty="0">
                <a:solidFill>
                  <a:srgbClr val="38A99A"/>
                </a:solidFill>
                <a:latin typeface="Aptos" pitchFamily="34" charset="0"/>
                <a:ea typeface="Aptos" pitchFamily="34" charset="-122"/>
                <a:cs typeface="Aptos" pitchFamily="34" charset="-120"/>
              </a:rPr>
              <a:t>INVESTIGASI</a:t>
            </a:r>
            <a:endParaRPr lang="en-US" sz="810" dirty="0"/>
          </a:p>
        </p:txBody>
      </p:sp>
      <p:sp>
        <p:nvSpPr>
          <p:cNvPr id="20" name="Text 18"/>
          <p:cNvSpPr/>
          <p:nvPr/>
        </p:nvSpPr>
        <p:spPr>
          <a:xfrm>
            <a:off x="4553712" y="2852928"/>
            <a:ext cx="2999232" cy="566928"/>
          </a:xfrm>
          <a:prstGeom prst="rect">
            <a:avLst/>
          </a:prstGeom>
          <a:noFill/>
          <a:ln/>
        </p:spPr>
        <p:txBody>
          <a:bodyPr wrap="square" lIns="0" tIns="0" rIns="0" bIns="0" rtlCol="0" anchor="t">
            <a:normAutofit/>
          </a:bodyPr>
          <a:lstStyle/>
          <a:p>
            <a:pPr algn="l" indent="0" marL="0">
              <a:buNone/>
            </a:pPr>
            <a:r>
              <a:rPr lang="en-US" sz="1800" b="1" dirty="0">
                <a:solidFill>
                  <a:srgbClr val="102A43"/>
                </a:solidFill>
                <a:latin typeface="Aptos" pitchFamily="34" charset="0"/>
                <a:ea typeface="Aptos" pitchFamily="34" charset="-122"/>
                <a:cs typeface="Aptos" pitchFamily="34" charset="-120"/>
              </a:rPr>
              <a:t>Memverifikasi lintas sumber</a:t>
            </a:r>
            <a:endParaRPr lang="en-US" sz="1800" dirty="0"/>
          </a:p>
        </p:txBody>
      </p:sp>
      <p:sp>
        <p:nvSpPr>
          <p:cNvPr id="21" name="Text 19"/>
          <p:cNvSpPr/>
          <p:nvPr/>
        </p:nvSpPr>
        <p:spPr>
          <a:xfrm>
            <a:off x="4553712" y="3547872"/>
            <a:ext cx="2999232" cy="1133856"/>
          </a:xfrm>
          <a:prstGeom prst="rect">
            <a:avLst/>
          </a:prstGeom>
          <a:noFill/>
          <a:ln/>
        </p:spPr>
        <p:txBody>
          <a:bodyPr wrap="square" lIns="0" tIns="0" rIns="0" bIns="0" rtlCol="0" anchor="t">
            <a:normAutofit/>
          </a:bodyPr>
          <a:lstStyle/>
          <a:p>
            <a:pPr algn="l" indent="0" marL="0">
              <a:buNone/>
            </a:pPr>
            <a:r>
              <a:rPr lang="en-US" sz="1220" dirty="0">
                <a:solidFill>
                  <a:srgbClr val="183044"/>
                </a:solidFill>
                <a:latin typeface="Aptos" pitchFamily="34" charset="0"/>
                <a:ea typeface="Aptos" pitchFamily="34" charset="-122"/>
                <a:cs typeface="Aptos" pitchFamily="34" charset="-120"/>
              </a:rPr>
              <a:t>Mempraktikkan lateral reading dan reverse image search jika tersedia, membandingkan minimal 2 sumber relevan, lalu mencatat proses di LKPD digital.</a:t>
            </a:r>
            <a:endParaRPr lang="en-US" sz="1220" dirty="0"/>
          </a:p>
        </p:txBody>
      </p:sp>
      <p:sp>
        <p:nvSpPr>
          <p:cNvPr id="22" name="Shape 20"/>
          <p:cNvSpPr/>
          <p:nvPr/>
        </p:nvSpPr>
        <p:spPr>
          <a:xfrm>
            <a:off x="4553712" y="4846320"/>
            <a:ext cx="3017520" cy="0"/>
          </a:xfrm>
          <a:prstGeom prst="line">
            <a:avLst/>
          </a:prstGeom>
          <a:noFill/>
          <a:ln w="12700">
            <a:solidFill>
              <a:srgbClr val="D9E1E8"/>
            </a:solidFill>
            <a:prstDash val="solid"/>
            <a:headEnd type="none"/>
            <a:tailEnd type="none"/>
          </a:ln>
        </p:spPr>
      </p:sp>
      <p:sp>
        <p:nvSpPr>
          <p:cNvPr id="23" name="Text 21"/>
          <p:cNvSpPr/>
          <p:nvPr/>
        </p:nvSpPr>
        <p:spPr>
          <a:xfrm>
            <a:off x="4553712" y="5010912"/>
            <a:ext cx="3017520" cy="256032"/>
          </a:xfrm>
          <a:prstGeom prst="rect">
            <a:avLst/>
          </a:prstGeom>
          <a:noFill/>
          <a:ln/>
        </p:spPr>
        <p:txBody>
          <a:bodyPr wrap="square" lIns="0" tIns="0" rIns="0" bIns="0" rtlCol="0" anchor="ctr">
            <a:normAutofit/>
          </a:bodyPr>
          <a:lstStyle/>
          <a:p>
            <a:pPr algn="l" indent="0" marL="0">
              <a:buNone/>
            </a:pPr>
            <a:r>
              <a:rPr lang="en-US" sz="1000" b="1" dirty="0">
                <a:solidFill>
                  <a:srgbClr val="38A99A"/>
                </a:solidFill>
                <a:latin typeface="Aptos" pitchFamily="34" charset="0"/>
                <a:ea typeface="Aptos" pitchFamily="34" charset="-122"/>
                <a:cs typeface="Aptos" pitchFamily="34" charset="-120"/>
              </a:rPr>
              <a:t>Bukti: LKPD digital</a:t>
            </a:r>
            <a:endParaRPr lang="en-US" sz="1000" dirty="0"/>
          </a:p>
        </p:txBody>
      </p:sp>
      <p:sp>
        <p:nvSpPr>
          <p:cNvPr id="24" name="Shape 22"/>
          <p:cNvSpPr/>
          <p:nvPr/>
        </p:nvSpPr>
        <p:spPr>
          <a:xfrm>
            <a:off x="8055864" y="1901952"/>
            <a:ext cx="3520440" cy="3566160"/>
          </a:xfrm>
          <a:prstGeom prst="roundRect">
            <a:avLst>
              <a:gd name="adj" fmla="val 4675"/>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25" name="Shape 23"/>
          <p:cNvSpPr/>
          <p:nvPr/>
        </p:nvSpPr>
        <p:spPr>
          <a:xfrm>
            <a:off x="8284464" y="2157984"/>
            <a:ext cx="502920" cy="502920"/>
          </a:xfrm>
          <a:prstGeom prst="ellipse">
            <a:avLst/>
          </a:prstGeom>
          <a:solidFill>
            <a:srgbClr val="7868B5"/>
          </a:solidFill>
          <a:ln w="12700">
            <a:solidFill>
              <a:srgbClr val="7868B5">
                <a:alpha val="0"/>
              </a:srgbClr>
            </a:solidFill>
            <a:prstDash val="solid"/>
          </a:ln>
        </p:spPr>
      </p:sp>
      <p:sp>
        <p:nvSpPr>
          <p:cNvPr id="26" name="Text 24"/>
          <p:cNvSpPr/>
          <p:nvPr/>
        </p:nvSpPr>
        <p:spPr>
          <a:xfrm>
            <a:off x="8284464" y="2157984"/>
            <a:ext cx="502920" cy="5029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03</a:t>
            </a:r>
            <a:endParaRPr lang="en-US" sz="1400" dirty="0"/>
          </a:p>
        </p:txBody>
      </p:sp>
      <p:sp>
        <p:nvSpPr>
          <p:cNvPr id="27" name="Shape 25"/>
          <p:cNvSpPr/>
          <p:nvPr/>
        </p:nvSpPr>
        <p:spPr>
          <a:xfrm>
            <a:off x="8951976" y="2267712"/>
            <a:ext cx="1143000" cy="246888"/>
          </a:xfrm>
          <a:prstGeom prst="roundRect">
            <a:avLst>
              <a:gd name="adj" fmla="val 51852"/>
            </a:avLst>
          </a:prstGeom>
          <a:solidFill>
            <a:srgbClr val="EEEAFB"/>
          </a:solidFill>
          <a:ln w="12700">
            <a:solidFill>
              <a:srgbClr val="EEEAFB">
                <a:alpha val="0"/>
              </a:srgbClr>
            </a:solidFill>
            <a:prstDash val="solid"/>
          </a:ln>
        </p:spPr>
      </p:sp>
      <p:sp>
        <p:nvSpPr>
          <p:cNvPr id="28" name="Text 26"/>
          <p:cNvSpPr/>
          <p:nvPr/>
        </p:nvSpPr>
        <p:spPr>
          <a:xfrm>
            <a:off x="9025128" y="2281428"/>
            <a:ext cx="996696" cy="228600"/>
          </a:xfrm>
          <a:prstGeom prst="rect">
            <a:avLst/>
          </a:prstGeom>
          <a:noFill/>
          <a:ln/>
        </p:spPr>
        <p:txBody>
          <a:bodyPr wrap="square" lIns="0" tIns="0" rIns="0" bIns="0" rtlCol="0" anchor="ctr">
            <a:normAutofit/>
          </a:bodyPr>
          <a:lstStyle/>
          <a:p>
            <a:pPr algn="ctr" indent="0" marL="0">
              <a:buNone/>
            </a:pPr>
            <a:r>
              <a:rPr lang="en-US" sz="810" b="1" spc="40" kern="0" dirty="0">
                <a:solidFill>
                  <a:srgbClr val="7868B5"/>
                </a:solidFill>
                <a:latin typeface="Aptos" pitchFamily="34" charset="0"/>
                <a:ea typeface="Aptos" pitchFamily="34" charset="-122"/>
                <a:cs typeface="Aptos" pitchFamily="34" charset="-120"/>
              </a:rPr>
              <a:t>KEPUTUSAN</a:t>
            </a:r>
            <a:endParaRPr lang="en-US" sz="810" dirty="0"/>
          </a:p>
        </p:txBody>
      </p:sp>
      <p:sp>
        <p:nvSpPr>
          <p:cNvPr id="29" name="Text 27"/>
          <p:cNvSpPr/>
          <p:nvPr/>
        </p:nvSpPr>
        <p:spPr>
          <a:xfrm>
            <a:off x="8284464" y="2852928"/>
            <a:ext cx="2999232" cy="566928"/>
          </a:xfrm>
          <a:prstGeom prst="rect">
            <a:avLst/>
          </a:prstGeom>
          <a:noFill/>
          <a:ln/>
        </p:spPr>
        <p:txBody>
          <a:bodyPr wrap="square" lIns="0" tIns="0" rIns="0" bIns="0" rtlCol="0" anchor="t">
            <a:normAutofit/>
          </a:bodyPr>
          <a:lstStyle/>
          <a:p>
            <a:pPr algn="l" indent="0" marL="0">
              <a:buNone/>
            </a:pPr>
            <a:r>
              <a:rPr lang="en-US" sz="1800" b="1" dirty="0">
                <a:solidFill>
                  <a:srgbClr val="102A43"/>
                </a:solidFill>
                <a:latin typeface="Aptos" pitchFamily="34" charset="0"/>
                <a:ea typeface="Aptos" pitchFamily="34" charset="-122"/>
                <a:cs typeface="Aptos" pitchFamily="34" charset="-120"/>
              </a:rPr>
              <a:t>Bertindak secara bertanggung jawab</a:t>
            </a:r>
            <a:endParaRPr lang="en-US" sz="1800" dirty="0"/>
          </a:p>
        </p:txBody>
      </p:sp>
      <p:sp>
        <p:nvSpPr>
          <p:cNvPr id="30" name="Text 28"/>
          <p:cNvSpPr/>
          <p:nvPr/>
        </p:nvSpPr>
        <p:spPr>
          <a:xfrm>
            <a:off x="8284464" y="3547872"/>
            <a:ext cx="2999232" cy="1133856"/>
          </a:xfrm>
          <a:prstGeom prst="rect">
            <a:avLst/>
          </a:prstGeom>
          <a:noFill/>
          <a:ln/>
        </p:spPr>
        <p:txBody>
          <a:bodyPr wrap="square" lIns="0" tIns="0" rIns="0" bIns="0" rtlCol="0" anchor="t">
            <a:normAutofit/>
          </a:bodyPr>
          <a:lstStyle/>
          <a:p>
            <a:pPr algn="l" indent="0" marL="0">
              <a:buNone/>
            </a:pPr>
            <a:r>
              <a:rPr lang="en-US" sz="1220" dirty="0">
                <a:solidFill>
                  <a:srgbClr val="183044"/>
                </a:solidFill>
                <a:latin typeface="Aptos" pitchFamily="34" charset="0"/>
                <a:ea typeface="Aptos" pitchFamily="34" charset="-122"/>
                <a:cs typeface="Aptos" pitchFamily="34" charset="-120"/>
              </a:rPr>
              <a:t>Menyampaikan kesimpulan berbasis bukti serta memilih respons aman: tidak mengeklik, tidak meneruskan sebelum verifikasi, dan melaporkan konten mencurigakan.</a:t>
            </a:r>
            <a:endParaRPr lang="en-US" sz="1220" dirty="0"/>
          </a:p>
        </p:txBody>
      </p:sp>
      <p:sp>
        <p:nvSpPr>
          <p:cNvPr id="31" name="Shape 29"/>
          <p:cNvSpPr/>
          <p:nvPr/>
        </p:nvSpPr>
        <p:spPr>
          <a:xfrm>
            <a:off x="8284464" y="4846320"/>
            <a:ext cx="3017520" cy="0"/>
          </a:xfrm>
          <a:prstGeom prst="line">
            <a:avLst/>
          </a:prstGeom>
          <a:noFill/>
          <a:ln w="12700">
            <a:solidFill>
              <a:srgbClr val="D9E1E8"/>
            </a:solidFill>
            <a:prstDash val="solid"/>
            <a:headEnd type="none"/>
            <a:tailEnd type="none"/>
          </a:ln>
        </p:spPr>
      </p:sp>
      <p:sp>
        <p:nvSpPr>
          <p:cNvPr id="32" name="Text 30"/>
          <p:cNvSpPr/>
          <p:nvPr/>
        </p:nvSpPr>
        <p:spPr>
          <a:xfrm>
            <a:off x="8284464" y="5010912"/>
            <a:ext cx="3017520" cy="256032"/>
          </a:xfrm>
          <a:prstGeom prst="rect">
            <a:avLst/>
          </a:prstGeom>
          <a:noFill/>
          <a:ln/>
        </p:spPr>
        <p:txBody>
          <a:bodyPr wrap="square" lIns="0" tIns="0" rIns="0" bIns="0" rtlCol="0" anchor="ctr">
            <a:normAutofit/>
          </a:bodyPr>
          <a:lstStyle/>
          <a:p>
            <a:pPr algn="l" indent="0" marL="0">
              <a:buNone/>
            </a:pPr>
            <a:r>
              <a:rPr lang="en-US" sz="1000" b="1" dirty="0">
                <a:solidFill>
                  <a:srgbClr val="7868B5"/>
                </a:solidFill>
                <a:latin typeface="Aptos" pitchFamily="34" charset="0"/>
                <a:ea typeface="Aptos" pitchFamily="34" charset="-122"/>
                <a:cs typeface="Aptos" pitchFamily="34" charset="-120"/>
              </a:rPr>
              <a:t>Bukti: simpulan + tiket keluar</a:t>
            </a:r>
            <a:endParaRPr lang="en-US" sz="1000" dirty="0"/>
          </a:p>
        </p:txBody>
      </p:sp>
      <p:sp>
        <p:nvSpPr>
          <p:cNvPr id="33" name="Text 31"/>
          <p:cNvSpPr/>
          <p:nvPr/>
        </p:nvSpPr>
        <p:spPr>
          <a:xfrm>
            <a:off x="713232" y="5733288"/>
            <a:ext cx="10881360" cy="320040"/>
          </a:xfrm>
          <a:prstGeom prst="rect">
            <a:avLst/>
          </a:prstGeom>
          <a:noFill/>
          <a:ln/>
        </p:spPr>
        <p:txBody>
          <a:bodyPr wrap="square" lIns="0" tIns="0" rIns="0" bIns="0" rtlCol="0" anchor="ctr">
            <a:normAutofit/>
          </a:bodyPr>
          <a:lstStyle/>
          <a:p>
            <a:pPr algn="ctr" indent="0" marL="0">
              <a:buNone/>
            </a:pPr>
            <a:r>
              <a:rPr lang="en-US" sz="1220" b="1" dirty="0">
                <a:solidFill>
                  <a:srgbClr val="18766F"/>
                </a:solidFill>
                <a:latin typeface="Aptos" pitchFamily="34" charset="0"/>
                <a:ea typeface="Aptos" pitchFamily="34" charset="-122"/>
                <a:cs typeface="Aptos" pitchFamily="34" charset="-120"/>
              </a:rPr>
              <a:t>Indikator penting: yang dinilai adalah proses verifikasi dan kualitas bukti, bukan sekadar menebak benar atau salah.</a:t>
            </a:r>
            <a:endParaRPr lang="en-US" sz="122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37587"/>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94360" y="384048"/>
            <a:ext cx="1965960" cy="274320"/>
          </a:xfrm>
          <a:prstGeom prst="roundRect">
            <a:avLst>
              <a:gd name="adj" fmla="val 46667"/>
            </a:avLst>
          </a:prstGeom>
          <a:solidFill>
            <a:srgbClr val="284861"/>
          </a:solidFill>
          <a:ln w="12700">
            <a:solidFill>
              <a:srgbClr val="284861">
                <a:alpha val="0"/>
              </a:srgbClr>
            </a:solidFill>
            <a:prstDash val="solid"/>
          </a:ln>
        </p:spPr>
      </p:sp>
      <p:sp>
        <p:nvSpPr>
          <p:cNvPr id="3" name="Text 1"/>
          <p:cNvSpPr/>
          <p:nvPr/>
        </p:nvSpPr>
        <p:spPr>
          <a:xfrm>
            <a:off x="667512" y="397764"/>
            <a:ext cx="1819656" cy="256032"/>
          </a:xfrm>
          <a:prstGeom prst="rect">
            <a:avLst/>
          </a:prstGeom>
          <a:noFill/>
          <a:ln/>
        </p:spPr>
        <p:txBody>
          <a:bodyPr wrap="square" lIns="0" tIns="0" rIns="0" bIns="0" rtlCol="0" anchor="ctr">
            <a:normAutofit/>
          </a:bodyPr>
          <a:lstStyle/>
          <a:p>
            <a:pPr algn="ctr" indent="0" marL="0">
              <a:buNone/>
            </a:pPr>
            <a:r>
              <a:rPr lang="en-US" sz="850" b="1" spc="40" kern="0" dirty="0">
                <a:solidFill>
                  <a:srgbClr val="DDF4EC"/>
                </a:solidFill>
                <a:latin typeface="Aptos" pitchFamily="34" charset="0"/>
                <a:ea typeface="Aptos" pitchFamily="34" charset="-122"/>
                <a:cs typeface="Aptos" pitchFamily="34" charset="-120"/>
              </a:rPr>
              <a:t>03 • DESAIN PEDAGOGIS</a:t>
            </a:r>
            <a:endParaRPr lang="en-US" sz="850" dirty="0"/>
          </a:p>
        </p:txBody>
      </p:sp>
      <p:sp>
        <p:nvSpPr>
          <p:cNvPr id="4" name="Text 2"/>
          <p:cNvSpPr/>
          <p:nvPr/>
        </p:nvSpPr>
        <p:spPr>
          <a:xfrm>
            <a:off x="594360" y="859536"/>
            <a:ext cx="10881360" cy="896112"/>
          </a:xfrm>
          <a:prstGeom prst="rect">
            <a:avLst/>
          </a:prstGeom>
          <a:noFill/>
          <a:ln/>
        </p:spPr>
        <p:txBody>
          <a:bodyPr wrap="square" lIns="0" tIns="0" rIns="0" bIns="0" rtlCol="0" anchor="ctr">
            <a:normAutofit/>
          </a:bodyPr>
          <a:lstStyle/>
          <a:p>
            <a:pPr algn="l" indent="0" marL="0">
              <a:buNone/>
            </a:pPr>
            <a:r>
              <a:rPr lang="en-US" sz="2600" b="1" dirty="0">
                <a:solidFill>
                  <a:srgbClr val="FFFFFF"/>
                </a:solidFill>
                <a:latin typeface="Aptos Display" pitchFamily="34" charset="0"/>
                <a:ea typeface="Aptos Display" pitchFamily="34" charset="-122"/>
                <a:cs typeface="Aptos Display" pitchFamily="34" charset="-120"/>
              </a:rPr>
              <a:t>IBL memberi alasan untuk menyelidiki,</a:t>
            </a:r>
            <a:endParaRPr lang="en-US" sz="2600" dirty="0"/>
          </a:p>
          <a:p>
            <a:pPr algn="l" indent="0" marL="0">
              <a:buNone/>
            </a:pPr>
            <a:r>
              <a:rPr lang="en-US" sz="2600" b="1" dirty="0">
                <a:solidFill>
                  <a:srgbClr val="FFFFFF"/>
                </a:solidFill>
                <a:latin typeface="Aptos Display" pitchFamily="34" charset="0"/>
                <a:ea typeface="Aptos Display" pitchFamily="34" charset="-122"/>
                <a:cs typeface="Aptos Display" pitchFamily="34" charset="-120"/>
              </a:rPr>
              <a:t>bukan sekadar menerima jawaban.</a:t>
            </a:r>
            <a:endParaRPr lang="en-US" sz="2600" dirty="0"/>
          </a:p>
        </p:txBody>
      </p:sp>
      <p:sp>
        <p:nvSpPr>
          <p:cNvPr id="5" name="Text 3"/>
          <p:cNvSpPr/>
          <p:nvPr/>
        </p:nvSpPr>
        <p:spPr>
          <a:xfrm>
            <a:off x="621792" y="1828800"/>
            <a:ext cx="10607040" cy="329184"/>
          </a:xfrm>
          <a:prstGeom prst="rect">
            <a:avLst/>
          </a:prstGeom>
          <a:noFill/>
          <a:ln/>
        </p:spPr>
        <p:txBody>
          <a:bodyPr wrap="square" lIns="0" tIns="0" rIns="0" bIns="0" rtlCol="0" anchor="ctr">
            <a:normAutofit/>
          </a:bodyPr>
          <a:lstStyle/>
          <a:p>
            <a:pPr algn="l" indent="0" marL="0">
              <a:buNone/>
            </a:pPr>
            <a:r>
              <a:rPr lang="en-US" sz="1250" dirty="0">
                <a:solidFill>
                  <a:srgbClr val="C0CFDA"/>
                </a:solidFill>
                <a:latin typeface="Aptos" pitchFamily="34" charset="0"/>
                <a:ea typeface="Aptos" pitchFamily="34" charset="-122"/>
                <a:cs typeface="Aptos" pitchFamily="34" charset="-120"/>
              </a:rPr>
              <a:t>Siklus inquiry dipadukan dengan literasi informasi dan desain pembelajaran bauran.</a:t>
            </a:r>
            <a:endParaRPr lang="en-US" sz="1250" dirty="0"/>
          </a:p>
        </p:txBody>
      </p:sp>
      <p:sp>
        <p:nvSpPr>
          <p:cNvPr id="6" name="Shape 4"/>
          <p:cNvSpPr/>
          <p:nvPr/>
        </p:nvSpPr>
        <p:spPr>
          <a:xfrm>
            <a:off x="640080" y="2542032"/>
            <a:ext cx="2139696" cy="1051560"/>
          </a:xfrm>
          <a:prstGeom prst="roundRect">
            <a:avLst>
              <a:gd name="adj" fmla="val 12174"/>
            </a:avLst>
          </a:prstGeom>
          <a:solidFill>
            <a:srgbClr val="1B3B55"/>
          </a:solidFill>
          <a:ln w="12700">
            <a:solidFill>
              <a:srgbClr val="31506D"/>
            </a:solidFill>
            <a:prstDash val="solid"/>
          </a:ln>
        </p:spPr>
      </p:sp>
      <p:sp>
        <p:nvSpPr>
          <p:cNvPr id="7" name="Shape 5"/>
          <p:cNvSpPr/>
          <p:nvPr/>
        </p:nvSpPr>
        <p:spPr>
          <a:xfrm>
            <a:off x="777240" y="2724912"/>
            <a:ext cx="347472" cy="347472"/>
          </a:xfrm>
          <a:prstGeom prst="ellipse">
            <a:avLst/>
          </a:prstGeom>
          <a:solidFill>
            <a:srgbClr val="F4C95D"/>
          </a:solidFill>
          <a:ln w="12700">
            <a:solidFill>
              <a:srgbClr val="F4C95D">
                <a:alpha val="0"/>
              </a:srgbClr>
            </a:solidFill>
            <a:prstDash val="solid"/>
          </a:ln>
        </p:spPr>
      </p:sp>
      <p:sp>
        <p:nvSpPr>
          <p:cNvPr id="8" name="Text 6"/>
          <p:cNvSpPr/>
          <p:nvPr/>
        </p:nvSpPr>
        <p:spPr>
          <a:xfrm>
            <a:off x="777240" y="2724912"/>
            <a:ext cx="347472" cy="347472"/>
          </a:xfrm>
          <a:prstGeom prst="rect">
            <a:avLst/>
          </a:prstGeom>
          <a:noFill/>
          <a:ln/>
        </p:spPr>
        <p:txBody>
          <a:bodyPr wrap="square" lIns="0" tIns="0" rIns="0" bIns="0" rtlCol="0" anchor="ctr">
            <a:normAutofit/>
          </a:bodyPr>
          <a:lstStyle/>
          <a:p>
            <a:pPr algn="ctr" indent="0" marL="0">
              <a:buNone/>
            </a:pPr>
            <a:r>
              <a:rPr lang="en-US" sz="1100" b="1" dirty="0">
                <a:solidFill>
                  <a:srgbClr val="102A43"/>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1225296" y="2724912"/>
            <a:ext cx="1417320" cy="256032"/>
          </a:xfrm>
          <a:prstGeom prst="rect">
            <a:avLst/>
          </a:prstGeom>
          <a:noFill/>
          <a:ln/>
        </p:spPr>
        <p:txBody>
          <a:bodyPr wrap="square" lIns="0" tIns="0" rIns="0" bIns="0" rtlCol="0" anchor="ctr">
            <a:normAutofit/>
          </a:bodyPr>
          <a:lstStyle/>
          <a:p>
            <a:pPr algn="l" indent="0" marL="0">
              <a:buNone/>
            </a:pPr>
            <a:r>
              <a:rPr lang="en-US" sz="1000" b="1" spc="50" kern="0" dirty="0">
                <a:solidFill>
                  <a:srgbClr val="FFFFFF"/>
                </a:solidFill>
                <a:latin typeface="Aptos" pitchFamily="34" charset="0"/>
                <a:ea typeface="Aptos" pitchFamily="34" charset="-122"/>
                <a:cs typeface="Aptos" pitchFamily="34" charset="-120"/>
              </a:rPr>
              <a:t>TANYAKAN</a:t>
            </a:r>
            <a:endParaRPr lang="en-US" sz="1000" dirty="0"/>
          </a:p>
        </p:txBody>
      </p:sp>
      <p:sp>
        <p:nvSpPr>
          <p:cNvPr id="10" name="Text 8"/>
          <p:cNvSpPr/>
          <p:nvPr/>
        </p:nvSpPr>
        <p:spPr>
          <a:xfrm>
            <a:off x="786384" y="3172968"/>
            <a:ext cx="1874520" cy="219456"/>
          </a:xfrm>
          <a:prstGeom prst="rect">
            <a:avLst/>
          </a:prstGeom>
          <a:noFill/>
          <a:ln/>
        </p:spPr>
        <p:txBody>
          <a:bodyPr wrap="square" lIns="0" tIns="0" rIns="0" bIns="0" rtlCol="0" anchor="ctr">
            <a:normAutofit/>
          </a:bodyPr>
          <a:lstStyle/>
          <a:p>
            <a:pPr algn="l" indent="0" marL="0">
              <a:buNone/>
            </a:pPr>
            <a:r>
              <a:rPr lang="en-US" sz="1000" dirty="0">
                <a:solidFill>
                  <a:srgbClr val="DCE7EE"/>
                </a:solidFill>
                <a:latin typeface="Aptos" pitchFamily="34" charset="0"/>
                <a:ea typeface="Aptos" pitchFamily="34" charset="-122"/>
                <a:cs typeface="Aptos" pitchFamily="34" charset="-120"/>
              </a:rPr>
              <a:t>Rumuskan masalah</a:t>
            </a:r>
            <a:endParaRPr lang="en-US" sz="1000" dirty="0"/>
          </a:p>
        </p:txBody>
      </p:sp>
      <p:sp>
        <p:nvSpPr>
          <p:cNvPr id="11" name="Text 9"/>
          <p:cNvSpPr/>
          <p:nvPr/>
        </p:nvSpPr>
        <p:spPr>
          <a:xfrm>
            <a:off x="2807208" y="2816352"/>
            <a:ext cx="118872" cy="219456"/>
          </a:xfrm>
          <a:prstGeom prst="rect">
            <a:avLst/>
          </a:prstGeom>
          <a:noFill/>
          <a:ln/>
        </p:spPr>
        <p:txBody>
          <a:bodyPr wrap="square" lIns="0" tIns="0" rIns="0" bIns="0" rtlCol="0" anchor="ctr">
            <a:normAutofit/>
          </a:bodyPr>
          <a:lstStyle/>
          <a:p>
            <a:pPr algn="ctr" indent="0" marL="0">
              <a:buNone/>
            </a:pPr>
            <a:r>
              <a:rPr lang="en-US" sz="2400" b="1" dirty="0">
                <a:solidFill>
                  <a:srgbClr val="F4C95D"/>
                </a:solidFill>
                <a:latin typeface="Aptos" pitchFamily="34" charset="0"/>
                <a:ea typeface="Aptos" pitchFamily="34" charset="-122"/>
                <a:cs typeface="Aptos" pitchFamily="34" charset="-120"/>
              </a:rPr>
              <a:t>›</a:t>
            </a:r>
            <a:endParaRPr lang="en-US" sz="2400" dirty="0"/>
          </a:p>
        </p:txBody>
      </p:sp>
      <p:sp>
        <p:nvSpPr>
          <p:cNvPr id="12" name="Shape 10"/>
          <p:cNvSpPr/>
          <p:nvPr/>
        </p:nvSpPr>
        <p:spPr>
          <a:xfrm>
            <a:off x="2944368" y="2542032"/>
            <a:ext cx="2139696" cy="1051560"/>
          </a:xfrm>
          <a:prstGeom prst="roundRect">
            <a:avLst>
              <a:gd name="adj" fmla="val 12174"/>
            </a:avLst>
          </a:prstGeom>
          <a:solidFill>
            <a:srgbClr val="1B3B55"/>
          </a:solidFill>
          <a:ln w="12700">
            <a:solidFill>
              <a:srgbClr val="31506D"/>
            </a:solidFill>
            <a:prstDash val="solid"/>
          </a:ln>
        </p:spPr>
      </p:sp>
      <p:sp>
        <p:nvSpPr>
          <p:cNvPr id="13" name="Shape 11"/>
          <p:cNvSpPr/>
          <p:nvPr/>
        </p:nvSpPr>
        <p:spPr>
          <a:xfrm>
            <a:off x="3081528" y="2724912"/>
            <a:ext cx="347472" cy="347472"/>
          </a:xfrm>
          <a:prstGeom prst="ellipse">
            <a:avLst/>
          </a:prstGeom>
          <a:solidFill>
            <a:srgbClr val="F4C95D"/>
          </a:solidFill>
          <a:ln w="12700">
            <a:solidFill>
              <a:srgbClr val="F4C95D">
                <a:alpha val="0"/>
              </a:srgbClr>
            </a:solidFill>
            <a:prstDash val="solid"/>
          </a:ln>
        </p:spPr>
      </p:sp>
      <p:sp>
        <p:nvSpPr>
          <p:cNvPr id="14" name="Text 12"/>
          <p:cNvSpPr/>
          <p:nvPr/>
        </p:nvSpPr>
        <p:spPr>
          <a:xfrm>
            <a:off x="3081528" y="2724912"/>
            <a:ext cx="347472" cy="347472"/>
          </a:xfrm>
          <a:prstGeom prst="rect">
            <a:avLst/>
          </a:prstGeom>
          <a:noFill/>
          <a:ln/>
        </p:spPr>
        <p:txBody>
          <a:bodyPr wrap="square" lIns="0" tIns="0" rIns="0" bIns="0" rtlCol="0" anchor="ctr">
            <a:normAutofit/>
          </a:bodyPr>
          <a:lstStyle/>
          <a:p>
            <a:pPr algn="ctr" indent="0" marL="0">
              <a:buNone/>
            </a:pPr>
            <a:r>
              <a:rPr lang="en-US" sz="1100" b="1" dirty="0">
                <a:solidFill>
                  <a:srgbClr val="102A43"/>
                </a:solidFill>
                <a:latin typeface="Aptos" pitchFamily="34" charset="0"/>
                <a:ea typeface="Aptos" pitchFamily="34" charset="-122"/>
                <a:cs typeface="Aptos" pitchFamily="34" charset="-120"/>
              </a:rPr>
              <a:t>2</a:t>
            </a:r>
            <a:endParaRPr lang="en-US" sz="1100" dirty="0"/>
          </a:p>
        </p:txBody>
      </p:sp>
      <p:sp>
        <p:nvSpPr>
          <p:cNvPr id="15" name="Text 13"/>
          <p:cNvSpPr/>
          <p:nvPr/>
        </p:nvSpPr>
        <p:spPr>
          <a:xfrm>
            <a:off x="3529584" y="2724912"/>
            <a:ext cx="1417320" cy="256032"/>
          </a:xfrm>
          <a:prstGeom prst="rect">
            <a:avLst/>
          </a:prstGeom>
          <a:noFill/>
          <a:ln/>
        </p:spPr>
        <p:txBody>
          <a:bodyPr wrap="square" lIns="0" tIns="0" rIns="0" bIns="0" rtlCol="0" anchor="ctr">
            <a:normAutofit/>
          </a:bodyPr>
          <a:lstStyle/>
          <a:p>
            <a:pPr algn="l" indent="0" marL="0">
              <a:buNone/>
            </a:pPr>
            <a:r>
              <a:rPr lang="en-US" sz="1000" b="1" spc="50" kern="0" dirty="0">
                <a:solidFill>
                  <a:srgbClr val="FFFFFF"/>
                </a:solidFill>
                <a:latin typeface="Aptos" pitchFamily="34" charset="0"/>
                <a:ea typeface="Aptos" pitchFamily="34" charset="-122"/>
                <a:cs typeface="Aptos" pitchFamily="34" charset="-120"/>
              </a:rPr>
              <a:t>RENCANAKAN</a:t>
            </a:r>
            <a:endParaRPr lang="en-US" sz="1000" dirty="0"/>
          </a:p>
        </p:txBody>
      </p:sp>
      <p:sp>
        <p:nvSpPr>
          <p:cNvPr id="16" name="Text 14"/>
          <p:cNvSpPr/>
          <p:nvPr/>
        </p:nvSpPr>
        <p:spPr>
          <a:xfrm>
            <a:off x="3090672" y="3172968"/>
            <a:ext cx="1874520" cy="219456"/>
          </a:xfrm>
          <a:prstGeom prst="rect">
            <a:avLst/>
          </a:prstGeom>
          <a:noFill/>
          <a:ln/>
        </p:spPr>
        <p:txBody>
          <a:bodyPr wrap="square" lIns="0" tIns="0" rIns="0" bIns="0" rtlCol="0" anchor="ctr">
            <a:normAutofit/>
          </a:bodyPr>
          <a:lstStyle/>
          <a:p>
            <a:pPr algn="l" indent="0" marL="0">
              <a:buNone/>
            </a:pPr>
            <a:r>
              <a:rPr lang="en-US" sz="1000" dirty="0">
                <a:solidFill>
                  <a:srgbClr val="DCE7EE"/>
                </a:solidFill>
                <a:latin typeface="Aptos" pitchFamily="34" charset="0"/>
                <a:ea typeface="Aptos" pitchFamily="34" charset="-122"/>
                <a:cs typeface="Aptos" pitchFamily="34" charset="-120"/>
              </a:rPr>
              <a:t>Pilih bukti &amp; sumber</a:t>
            </a:r>
            <a:endParaRPr lang="en-US" sz="1000" dirty="0"/>
          </a:p>
        </p:txBody>
      </p:sp>
      <p:sp>
        <p:nvSpPr>
          <p:cNvPr id="17" name="Text 15"/>
          <p:cNvSpPr/>
          <p:nvPr/>
        </p:nvSpPr>
        <p:spPr>
          <a:xfrm>
            <a:off x="5111496" y="2816352"/>
            <a:ext cx="118872" cy="219456"/>
          </a:xfrm>
          <a:prstGeom prst="rect">
            <a:avLst/>
          </a:prstGeom>
          <a:noFill/>
          <a:ln/>
        </p:spPr>
        <p:txBody>
          <a:bodyPr wrap="square" lIns="0" tIns="0" rIns="0" bIns="0" rtlCol="0" anchor="ctr">
            <a:normAutofit/>
          </a:bodyPr>
          <a:lstStyle/>
          <a:p>
            <a:pPr algn="ctr" indent="0" marL="0">
              <a:buNone/>
            </a:pPr>
            <a:r>
              <a:rPr lang="en-US" sz="2400" b="1" dirty="0">
                <a:solidFill>
                  <a:srgbClr val="F4C95D"/>
                </a:solidFill>
                <a:latin typeface="Aptos" pitchFamily="34" charset="0"/>
                <a:ea typeface="Aptos" pitchFamily="34" charset="-122"/>
                <a:cs typeface="Aptos" pitchFamily="34" charset="-120"/>
              </a:rPr>
              <a:t>›</a:t>
            </a:r>
            <a:endParaRPr lang="en-US" sz="2400" dirty="0"/>
          </a:p>
        </p:txBody>
      </p:sp>
      <p:sp>
        <p:nvSpPr>
          <p:cNvPr id="18" name="Shape 16"/>
          <p:cNvSpPr/>
          <p:nvPr/>
        </p:nvSpPr>
        <p:spPr>
          <a:xfrm>
            <a:off x="5248656" y="2542032"/>
            <a:ext cx="2139696" cy="1051560"/>
          </a:xfrm>
          <a:prstGeom prst="roundRect">
            <a:avLst>
              <a:gd name="adj" fmla="val 12174"/>
            </a:avLst>
          </a:prstGeom>
          <a:solidFill>
            <a:srgbClr val="38A99A"/>
          </a:solidFill>
          <a:ln w="12700">
            <a:solidFill>
              <a:srgbClr val="38A99A"/>
            </a:solidFill>
            <a:prstDash val="solid"/>
          </a:ln>
        </p:spPr>
      </p:sp>
      <p:sp>
        <p:nvSpPr>
          <p:cNvPr id="19" name="Shape 17"/>
          <p:cNvSpPr/>
          <p:nvPr/>
        </p:nvSpPr>
        <p:spPr>
          <a:xfrm>
            <a:off x="5385816" y="2724912"/>
            <a:ext cx="347472" cy="347472"/>
          </a:xfrm>
          <a:prstGeom prst="ellipse">
            <a:avLst/>
          </a:prstGeom>
          <a:solidFill>
            <a:srgbClr val="FFFFFF"/>
          </a:solidFill>
          <a:ln w="12700">
            <a:solidFill>
              <a:srgbClr val="FFFFFF">
                <a:alpha val="0"/>
              </a:srgbClr>
            </a:solidFill>
            <a:prstDash val="solid"/>
          </a:ln>
        </p:spPr>
      </p:sp>
      <p:sp>
        <p:nvSpPr>
          <p:cNvPr id="20" name="Text 18"/>
          <p:cNvSpPr/>
          <p:nvPr/>
        </p:nvSpPr>
        <p:spPr>
          <a:xfrm>
            <a:off x="5385816" y="2724912"/>
            <a:ext cx="347472" cy="347472"/>
          </a:xfrm>
          <a:prstGeom prst="rect">
            <a:avLst/>
          </a:prstGeom>
          <a:noFill/>
          <a:ln/>
        </p:spPr>
        <p:txBody>
          <a:bodyPr wrap="square" lIns="0" tIns="0" rIns="0" bIns="0" rtlCol="0" anchor="ctr">
            <a:normAutofit/>
          </a:bodyPr>
          <a:lstStyle/>
          <a:p>
            <a:pPr algn="ctr" indent="0" marL="0">
              <a:buNone/>
            </a:pPr>
            <a:r>
              <a:rPr lang="en-US" sz="1100" b="1" dirty="0">
                <a:solidFill>
                  <a:srgbClr val="18766F"/>
                </a:solidFill>
                <a:latin typeface="Aptos" pitchFamily="34" charset="0"/>
                <a:ea typeface="Aptos" pitchFamily="34" charset="-122"/>
                <a:cs typeface="Aptos" pitchFamily="34" charset="-120"/>
              </a:rPr>
              <a:t>3</a:t>
            </a:r>
            <a:endParaRPr lang="en-US" sz="1100" dirty="0"/>
          </a:p>
        </p:txBody>
      </p:sp>
      <p:sp>
        <p:nvSpPr>
          <p:cNvPr id="21" name="Text 19"/>
          <p:cNvSpPr/>
          <p:nvPr/>
        </p:nvSpPr>
        <p:spPr>
          <a:xfrm>
            <a:off x="5833872" y="2724912"/>
            <a:ext cx="1417320" cy="256032"/>
          </a:xfrm>
          <a:prstGeom prst="rect">
            <a:avLst/>
          </a:prstGeom>
          <a:noFill/>
          <a:ln/>
        </p:spPr>
        <p:txBody>
          <a:bodyPr wrap="square" lIns="0" tIns="0" rIns="0" bIns="0" rtlCol="0" anchor="ctr">
            <a:normAutofit/>
          </a:bodyPr>
          <a:lstStyle/>
          <a:p>
            <a:pPr algn="l" indent="0" marL="0">
              <a:buNone/>
            </a:pPr>
            <a:r>
              <a:rPr lang="en-US" sz="1000" b="1" spc="50" kern="0" dirty="0">
                <a:solidFill>
                  <a:srgbClr val="FFFFFF"/>
                </a:solidFill>
                <a:latin typeface="Aptos" pitchFamily="34" charset="0"/>
                <a:ea typeface="Aptos" pitchFamily="34" charset="-122"/>
                <a:cs typeface="Aptos" pitchFamily="34" charset="-120"/>
              </a:rPr>
              <a:t>SELIDIKI</a:t>
            </a:r>
            <a:endParaRPr lang="en-US" sz="1000" dirty="0"/>
          </a:p>
        </p:txBody>
      </p:sp>
      <p:sp>
        <p:nvSpPr>
          <p:cNvPr id="22" name="Text 20"/>
          <p:cNvSpPr/>
          <p:nvPr/>
        </p:nvSpPr>
        <p:spPr>
          <a:xfrm>
            <a:off x="5394960" y="3172968"/>
            <a:ext cx="1874520" cy="219456"/>
          </a:xfrm>
          <a:prstGeom prst="rect">
            <a:avLst/>
          </a:prstGeom>
          <a:noFill/>
          <a:ln/>
        </p:spPr>
        <p:txBody>
          <a:bodyPr wrap="square" lIns="0" tIns="0" rIns="0" bIns="0" rtlCol="0" anchor="ctr">
            <a:normAutofit/>
          </a:bodyPr>
          <a:lstStyle/>
          <a:p>
            <a:pPr algn="l" indent="0" marL="0">
              <a:buNone/>
            </a:pPr>
            <a:r>
              <a:rPr lang="en-US" sz="1000" dirty="0">
                <a:solidFill>
                  <a:srgbClr val="DCE7EE"/>
                </a:solidFill>
                <a:latin typeface="Aptos" pitchFamily="34" charset="0"/>
                <a:ea typeface="Aptos" pitchFamily="34" charset="-122"/>
                <a:cs typeface="Aptos" pitchFamily="34" charset="-120"/>
              </a:rPr>
              <a:t>Telusuri lintas sumber</a:t>
            </a:r>
            <a:endParaRPr lang="en-US" sz="1000" dirty="0"/>
          </a:p>
        </p:txBody>
      </p:sp>
      <p:sp>
        <p:nvSpPr>
          <p:cNvPr id="23" name="Text 21"/>
          <p:cNvSpPr/>
          <p:nvPr/>
        </p:nvSpPr>
        <p:spPr>
          <a:xfrm>
            <a:off x="7415784" y="2816352"/>
            <a:ext cx="118872" cy="219456"/>
          </a:xfrm>
          <a:prstGeom prst="rect">
            <a:avLst/>
          </a:prstGeom>
          <a:noFill/>
          <a:ln/>
        </p:spPr>
        <p:txBody>
          <a:bodyPr wrap="square" lIns="0" tIns="0" rIns="0" bIns="0" rtlCol="0" anchor="ctr">
            <a:normAutofit/>
          </a:bodyPr>
          <a:lstStyle/>
          <a:p>
            <a:pPr algn="ctr" indent="0" marL="0">
              <a:buNone/>
            </a:pPr>
            <a:r>
              <a:rPr lang="en-US" sz="2400" b="1" dirty="0">
                <a:solidFill>
                  <a:srgbClr val="F4C95D"/>
                </a:solidFill>
                <a:latin typeface="Aptos" pitchFamily="34" charset="0"/>
                <a:ea typeface="Aptos" pitchFamily="34" charset="-122"/>
                <a:cs typeface="Aptos" pitchFamily="34" charset="-120"/>
              </a:rPr>
              <a:t>›</a:t>
            </a:r>
            <a:endParaRPr lang="en-US" sz="2400" dirty="0"/>
          </a:p>
        </p:txBody>
      </p:sp>
      <p:sp>
        <p:nvSpPr>
          <p:cNvPr id="24" name="Shape 22"/>
          <p:cNvSpPr/>
          <p:nvPr/>
        </p:nvSpPr>
        <p:spPr>
          <a:xfrm>
            <a:off x="7552944" y="2542032"/>
            <a:ext cx="2139696" cy="1051560"/>
          </a:xfrm>
          <a:prstGeom prst="roundRect">
            <a:avLst>
              <a:gd name="adj" fmla="val 12174"/>
            </a:avLst>
          </a:prstGeom>
          <a:solidFill>
            <a:srgbClr val="1B3B55"/>
          </a:solidFill>
          <a:ln w="12700">
            <a:solidFill>
              <a:srgbClr val="31506D"/>
            </a:solidFill>
            <a:prstDash val="solid"/>
          </a:ln>
        </p:spPr>
      </p:sp>
      <p:sp>
        <p:nvSpPr>
          <p:cNvPr id="25" name="Shape 23"/>
          <p:cNvSpPr/>
          <p:nvPr/>
        </p:nvSpPr>
        <p:spPr>
          <a:xfrm>
            <a:off x="7690104" y="2724912"/>
            <a:ext cx="347472" cy="347472"/>
          </a:xfrm>
          <a:prstGeom prst="ellipse">
            <a:avLst/>
          </a:prstGeom>
          <a:solidFill>
            <a:srgbClr val="F4C95D"/>
          </a:solidFill>
          <a:ln w="12700">
            <a:solidFill>
              <a:srgbClr val="F4C95D">
                <a:alpha val="0"/>
              </a:srgbClr>
            </a:solidFill>
            <a:prstDash val="solid"/>
          </a:ln>
        </p:spPr>
      </p:sp>
      <p:sp>
        <p:nvSpPr>
          <p:cNvPr id="26" name="Text 24"/>
          <p:cNvSpPr/>
          <p:nvPr/>
        </p:nvSpPr>
        <p:spPr>
          <a:xfrm>
            <a:off x="7690104" y="2724912"/>
            <a:ext cx="347472" cy="347472"/>
          </a:xfrm>
          <a:prstGeom prst="rect">
            <a:avLst/>
          </a:prstGeom>
          <a:noFill/>
          <a:ln/>
        </p:spPr>
        <p:txBody>
          <a:bodyPr wrap="square" lIns="0" tIns="0" rIns="0" bIns="0" rtlCol="0" anchor="ctr">
            <a:normAutofit/>
          </a:bodyPr>
          <a:lstStyle/>
          <a:p>
            <a:pPr algn="ctr" indent="0" marL="0">
              <a:buNone/>
            </a:pPr>
            <a:r>
              <a:rPr lang="en-US" sz="1100" b="1" dirty="0">
                <a:solidFill>
                  <a:srgbClr val="102A43"/>
                </a:solidFill>
                <a:latin typeface="Aptos" pitchFamily="34" charset="0"/>
                <a:ea typeface="Aptos" pitchFamily="34" charset="-122"/>
                <a:cs typeface="Aptos" pitchFamily="34" charset="-120"/>
              </a:rPr>
              <a:t>4</a:t>
            </a:r>
            <a:endParaRPr lang="en-US" sz="1100" dirty="0"/>
          </a:p>
        </p:txBody>
      </p:sp>
      <p:sp>
        <p:nvSpPr>
          <p:cNvPr id="27" name="Text 25"/>
          <p:cNvSpPr/>
          <p:nvPr/>
        </p:nvSpPr>
        <p:spPr>
          <a:xfrm>
            <a:off x="8138160" y="2724912"/>
            <a:ext cx="1417320" cy="256032"/>
          </a:xfrm>
          <a:prstGeom prst="rect">
            <a:avLst/>
          </a:prstGeom>
          <a:noFill/>
          <a:ln/>
        </p:spPr>
        <p:txBody>
          <a:bodyPr wrap="square" lIns="0" tIns="0" rIns="0" bIns="0" rtlCol="0" anchor="ctr">
            <a:normAutofit/>
          </a:bodyPr>
          <a:lstStyle/>
          <a:p>
            <a:pPr algn="l" indent="0" marL="0">
              <a:buNone/>
            </a:pPr>
            <a:r>
              <a:rPr lang="en-US" sz="1000" b="1" spc="50" kern="0" dirty="0">
                <a:solidFill>
                  <a:srgbClr val="FFFFFF"/>
                </a:solidFill>
                <a:latin typeface="Aptos" pitchFamily="34" charset="0"/>
                <a:ea typeface="Aptos" pitchFamily="34" charset="-122"/>
                <a:cs typeface="Aptos" pitchFamily="34" charset="-120"/>
              </a:rPr>
              <a:t>SIMPULKAN</a:t>
            </a:r>
            <a:endParaRPr lang="en-US" sz="1000" dirty="0"/>
          </a:p>
        </p:txBody>
      </p:sp>
      <p:sp>
        <p:nvSpPr>
          <p:cNvPr id="28" name="Text 26"/>
          <p:cNvSpPr/>
          <p:nvPr/>
        </p:nvSpPr>
        <p:spPr>
          <a:xfrm>
            <a:off x="7699248" y="3172968"/>
            <a:ext cx="1874520" cy="219456"/>
          </a:xfrm>
          <a:prstGeom prst="rect">
            <a:avLst/>
          </a:prstGeom>
          <a:noFill/>
          <a:ln/>
        </p:spPr>
        <p:txBody>
          <a:bodyPr wrap="square" lIns="0" tIns="0" rIns="0" bIns="0" rtlCol="0" anchor="ctr">
            <a:normAutofit/>
          </a:bodyPr>
          <a:lstStyle/>
          <a:p>
            <a:pPr algn="l" indent="0" marL="0">
              <a:buNone/>
            </a:pPr>
            <a:r>
              <a:rPr lang="en-US" sz="1000" dirty="0">
                <a:solidFill>
                  <a:srgbClr val="DCE7EE"/>
                </a:solidFill>
                <a:latin typeface="Aptos" pitchFamily="34" charset="0"/>
                <a:ea typeface="Aptos" pitchFamily="34" charset="-122"/>
                <a:cs typeface="Aptos" pitchFamily="34" charset="-120"/>
              </a:rPr>
              <a:t>Bandingkan bukti</a:t>
            </a:r>
            <a:endParaRPr lang="en-US" sz="1000" dirty="0"/>
          </a:p>
        </p:txBody>
      </p:sp>
      <p:sp>
        <p:nvSpPr>
          <p:cNvPr id="29" name="Text 27"/>
          <p:cNvSpPr/>
          <p:nvPr/>
        </p:nvSpPr>
        <p:spPr>
          <a:xfrm>
            <a:off x="9720072" y="2816352"/>
            <a:ext cx="118872" cy="219456"/>
          </a:xfrm>
          <a:prstGeom prst="rect">
            <a:avLst/>
          </a:prstGeom>
          <a:noFill/>
          <a:ln/>
        </p:spPr>
        <p:txBody>
          <a:bodyPr wrap="square" lIns="0" tIns="0" rIns="0" bIns="0" rtlCol="0" anchor="ctr">
            <a:normAutofit/>
          </a:bodyPr>
          <a:lstStyle/>
          <a:p>
            <a:pPr algn="ctr" indent="0" marL="0">
              <a:buNone/>
            </a:pPr>
            <a:r>
              <a:rPr lang="en-US" sz="2400" b="1" dirty="0">
                <a:solidFill>
                  <a:srgbClr val="F4C95D"/>
                </a:solidFill>
                <a:latin typeface="Aptos" pitchFamily="34" charset="0"/>
                <a:ea typeface="Aptos" pitchFamily="34" charset="-122"/>
                <a:cs typeface="Aptos" pitchFamily="34" charset="-120"/>
              </a:rPr>
              <a:t>›</a:t>
            </a:r>
            <a:endParaRPr lang="en-US" sz="2400" dirty="0"/>
          </a:p>
        </p:txBody>
      </p:sp>
      <p:sp>
        <p:nvSpPr>
          <p:cNvPr id="30" name="Shape 28"/>
          <p:cNvSpPr/>
          <p:nvPr/>
        </p:nvSpPr>
        <p:spPr>
          <a:xfrm>
            <a:off x="9857232" y="2542032"/>
            <a:ext cx="2139696" cy="1051560"/>
          </a:xfrm>
          <a:prstGeom prst="roundRect">
            <a:avLst>
              <a:gd name="adj" fmla="val 12174"/>
            </a:avLst>
          </a:prstGeom>
          <a:solidFill>
            <a:srgbClr val="1B3B55"/>
          </a:solidFill>
          <a:ln w="12700">
            <a:solidFill>
              <a:srgbClr val="31506D"/>
            </a:solidFill>
            <a:prstDash val="solid"/>
          </a:ln>
        </p:spPr>
      </p:sp>
      <p:sp>
        <p:nvSpPr>
          <p:cNvPr id="31" name="Shape 29"/>
          <p:cNvSpPr/>
          <p:nvPr/>
        </p:nvSpPr>
        <p:spPr>
          <a:xfrm>
            <a:off x="9994392" y="2724912"/>
            <a:ext cx="347472" cy="347472"/>
          </a:xfrm>
          <a:prstGeom prst="ellipse">
            <a:avLst/>
          </a:prstGeom>
          <a:solidFill>
            <a:srgbClr val="F4C95D"/>
          </a:solidFill>
          <a:ln w="12700">
            <a:solidFill>
              <a:srgbClr val="F4C95D">
                <a:alpha val="0"/>
              </a:srgbClr>
            </a:solidFill>
            <a:prstDash val="solid"/>
          </a:ln>
        </p:spPr>
      </p:sp>
      <p:sp>
        <p:nvSpPr>
          <p:cNvPr id="32" name="Text 30"/>
          <p:cNvSpPr/>
          <p:nvPr/>
        </p:nvSpPr>
        <p:spPr>
          <a:xfrm>
            <a:off x="9994392" y="2724912"/>
            <a:ext cx="347472" cy="347472"/>
          </a:xfrm>
          <a:prstGeom prst="rect">
            <a:avLst/>
          </a:prstGeom>
          <a:noFill/>
          <a:ln/>
        </p:spPr>
        <p:txBody>
          <a:bodyPr wrap="square" lIns="0" tIns="0" rIns="0" bIns="0" rtlCol="0" anchor="ctr">
            <a:normAutofit/>
          </a:bodyPr>
          <a:lstStyle/>
          <a:p>
            <a:pPr algn="ctr" indent="0" marL="0">
              <a:buNone/>
            </a:pPr>
            <a:r>
              <a:rPr lang="en-US" sz="1100" b="1" dirty="0">
                <a:solidFill>
                  <a:srgbClr val="102A43"/>
                </a:solidFill>
                <a:latin typeface="Aptos" pitchFamily="34" charset="0"/>
                <a:ea typeface="Aptos" pitchFamily="34" charset="-122"/>
                <a:cs typeface="Aptos" pitchFamily="34" charset="-120"/>
              </a:rPr>
              <a:t>5</a:t>
            </a:r>
            <a:endParaRPr lang="en-US" sz="1100" dirty="0"/>
          </a:p>
        </p:txBody>
      </p:sp>
      <p:sp>
        <p:nvSpPr>
          <p:cNvPr id="33" name="Text 31"/>
          <p:cNvSpPr/>
          <p:nvPr/>
        </p:nvSpPr>
        <p:spPr>
          <a:xfrm>
            <a:off x="10442448" y="2724912"/>
            <a:ext cx="1417320" cy="256032"/>
          </a:xfrm>
          <a:prstGeom prst="rect">
            <a:avLst/>
          </a:prstGeom>
          <a:noFill/>
          <a:ln/>
        </p:spPr>
        <p:txBody>
          <a:bodyPr wrap="square" lIns="0" tIns="0" rIns="0" bIns="0" rtlCol="0" anchor="ctr">
            <a:normAutofit/>
          </a:bodyPr>
          <a:lstStyle/>
          <a:p>
            <a:pPr algn="l" indent="0" marL="0">
              <a:buNone/>
            </a:pPr>
            <a:r>
              <a:rPr lang="en-US" sz="1000" b="1" spc="50" kern="0" dirty="0">
                <a:solidFill>
                  <a:srgbClr val="FFFFFF"/>
                </a:solidFill>
                <a:latin typeface="Aptos" pitchFamily="34" charset="0"/>
                <a:ea typeface="Aptos" pitchFamily="34" charset="-122"/>
                <a:cs typeface="Aptos" pitchFamily="34" charset="-120"/>
              </a:rPr>
              <a:t>BAGIKAN</a:t>
            </a:r>
            <a:endParaRPr lang="en-US" sz="1000" dirty="0"/>
          </a:p>
        </p:txBody>
      </p:sp>
      <p:sp>
        <p:nvSpPr>
          <p:cNvPr id="34" name="Text 32"/>
          <p:cNvSpPr/>
          <p:nvPr/>
        </p:nvSpPr>
        <p:spPr>
          <a:xfrm>
            <a:off x="10003536" y="3172968"/>
            <a:ext cx="1874520" cy="219456"/>
          </a:xfrm>
          <a:prstGeom prst="rect">
            <a:avLst/>
          </a:prstGeom>
          <a:noFill/>
          <a:ln/>
        </p:spPr>
        <p:txBody>
          <a:bodyPr wrap="square" lIns="0" tIns="0" rIns="0" bIns="0" rtlCol="0" anchor="ctr">
            <a:normAutofit/>
          </a:bodyPr>
          <a:lstStyle/>
          <a:p>
            <a:pPr algn="l" indent="0" marL="0">
              <a:buNone/>
            </a:pPr>
            <a:r>
              <a:rPr lang="en-US" sz="1000" dirty="0">
                <a:solidFill>
                  <a:srgbClr val="DCE7EE"/>
                </a:solidFill>
                <a:latin typeface="Aptos" pitchFamily="34" charset="0"/>
                <a:ea typeface="Aptos" pitchFamily="34" charset="-122"/>
                <a:cs typeface="Aptos" pitchFamily="34" charset="-120"/>
              </a:rPr>
              <a:t>Jelaskan temuan</a:t>
            </a:r>
            <a:endParaRPr lang="en-US" sz="1000" dirty="0"/>
          </a:p>
        </p:txBody>
      </p:sp>
      <p:sp>
        <p:nvSpPr>
          <p:cNvPr id="35" name="Shape 33"/>
          <p:cNvSpPr/>
          <p:nvPr/>
        </p:nvSpPr>
        <p:spPr>
          <a:xfrm>
            <a:off x="640080" y="4087368"/>
            <a:ext cx="3264408" cy="1444752"/>
          </a:xfrm>
          <a:prstGeom prst="roundRect">
            <a:avLst>
              <a:gd name="adj" fmla="val 8861"/>
            </a:avLst>
          </a:prstGeom>
          <a:solidFill>
            <a:srgbClr val="173650"/>
          </a:solidFill>
          <a:ln w="10160">
            <a:solidFill>
              <a:srgbClr val="31506D"/>
            </a:solidFill>
            <a:prstDash val="solid"/>
          </a:ln>
        </p:spPr>
      </p:sp>
      <p:sp>
        <p:nvSpPr>
          <p:cNvPr id="36" name="Text 34"/>
          <p:cNvSpPr/>
          <p:nvPr/>
        </p:nvSpPr>
        <p:spPr>
          <a:xfrm>
            <a:off x="822960" y="4279392"/>
            <a:ext cx="2907792" cy="292608"/>
          </a:xfrm>
          <a:prstGeom prst="rect">
            <a:avLst/>
          </a:prstGeom>
          <a:noFill/>
          <a:ln/>
        </p:spPr>
        <p:txBody>
          <a:bodyPr wrap="square" lIns="0" tIns="0" rIns="0" bIns="0" rtlCol="0" anchor="ctr">
            <a:normAutofit/>
          </a:bodyPr>
          <a:lstStyle/>
          <a:p>
            <a:pPr algn="l" indent="0" marL="0">
              <a:buNone/>
            </a:pPr>
            <a:r>
              <a:rPr lang="en-US" sz="1300" b="1" dirty="0">
                <a:solidFill>
                  <a:srgbClr val="F4C95D"/>
                </a:solidFill>
                <a:latin typeface="Aptos" pitchFamily="34" charset="0"/>
                <a:ea typeface="Aptos" pitchFamily="34" charset="-122"/>
                <a:cs typeface="Aptos" pitchFamily="34" charset="-120"/>
              </a:rPr>
              <a:t>Inquiry-Based Learning</a:t>
            </a:r>
            <a:endParaRPr lang="en-US" sz="1300" dirty="0"/>
          </a:p>
        </p:txBody>
      </p:sp>
      <p:sp>
        <p:nvSpPr>
          <p:cNvPr id="37" name="Text 35"/>
          <p:cNvSpPr/>
          <p:nvPr/>
        </p:nvSpPr>
        <p:spPr>
          <a:xfrm>
            <a:off x="822960" y="4663440"/>
            <a:ext cx="2907792" cy="530352"/>
          </a:xfrm>
          <a:prstGeom prst="rect">
            <a:avLst/>
          </a:prstGeom>
          <a:noFill/>
          <a:ln/>
        </p:spPr>
        <p:txBody>
          <a:bodyPr wrap="square" lIns="0" tIns="0" rIns="0" bIns="0" rtlCol="0" anchor="t">
            <a:normAutofit/>
          </a:bodyPr>
          <a:lstStyle/>
          <a:p>
            <a:pPr algn="l" indent="0" marL="0">
              <a:buNone/>
            </a:pPr>
            <a:r>
              <a:rPr lang="en-US" sz="1030" dirty="0">
                <a:solidFill>
                  <a:srgbClr val="DCE7EE"/>
                </a:solidFill>
                <a:latin typeface="Aptos" pitchFamily="34" charset="0"/>
                <a:ea typeface="Aptos" pitchFamily="34" charset="-122"/>
                <a:cs typeface="Aptos" pitchFamily="34" charset="-120"/>
              </a:rPr>
              <a:t>Peserta didik menyusun pertanyaan, melakukan penyelidikan, dan menyusun kesimpulan.</a:t>
            </a:r>
            <a:endParaRPr lang="en-US" sz="1030" dirty="0"/>
          </a:p>
        </p:txBody>
      </p:sp>
      <p:sp>
        <p:nvSpPr>
          <p:cNvPr id="38" name="Text 36"/>
          <p:cNvSpPr/>
          <p:nvPr/>
        </p:nvSpPr>
        <p:spPr>
          <a:xfrm>
            <a:off x="822960" y="5285232"/>
            <a:ext cx="2907792" cy="164592"/>
          </a:xfrm>
          <a:prstGeom prst="rect">
            <a:avLst/>
          </a:prstGeom>
          <a:noFill/>
          <a:ln/>
        </p:spPr>
        <p:txBody>
          <a:bodyPr wrap="square" lIns="0" tIns="0" rIns="0" bIns="0" rtlCol="0" anchor="ctr">
            <a:normAutofit/>
          </a:bodyPr>
          <a:lstStyle/>
          <a:p>
            <a:pPr algn="l" indent="0" marL="0">
              <a:buNone/>
            </a:pPr>
            <a:r>
              <a:rPr lang="en-US" sz="850" i="1" dirty="0">
                <a:solidFill>
                  <a:srgbClr val="9EB2C2"/>
                </a:solidFill>
                <a:latin typeface="Aptos" pitchFamily="34" charset="0"/>
                <a:ea typeface="Aptos" pitchFamily="34" charset="-122"/>
                <a:cs typeface="Aptos" pitchFamily="34" charset="-120"/>
              </a:rPr>
              <a:t>Pedaste et al. (2015)</a:t>
            </a:r>
            <a:endParaRPr lang="en-US" sz="850" dirty="0"/>
          </a:p>
        </p:txBody>
      </p:sp>
      <p:sp>
        <p:nvSpPr>
          <p:cNvPr id="39" name="Shape 37"/>
          <p:cNvSpPr/>
          <p:nvPr/>
        </p:nvSpPr>
        <p:spPr>
          <a:xfrm>
            <a:off x="4160520" y="4087368"/>
            <a:ext cx="3264408" cy="1444752"/>
          </a:xfrm>
          <a:prstGeom prst="roundRect">
            <a:avLst>
              <a:gd name="adj" fmla="val 8861"/>
            </a:avLst>
          </a:prstGeom>
          <a:solidFill>
            <a:srgbClr val="173650"/>
          </a:solidFill>
          <a:ln w="10160">
            <a:solidFill>
              <a:srgbClr val="31506D"/>
            </a:solidFill>
            <a:prstDash val="solid"/>
          </a:ln>
        </p:spPr>
      </p:sp>
      <p:sp>
        <p:nvSpPr>
          <p:cNvPr id="40" name="Text 38"/>
          <p:cNvSpPr/>
          <p:nvPr/>
        </p:nvSpPr>
        <p:spPr>
          <a:xfrm>
            <a:off x="4343400" y="4279392"/>
            <a:ext cx="2907792" cy="292608"/>
          </a:xfrm>
          <a:prstGeom prst="rect">
            <a:avLst/>
          </a:prstGeom>
          <a:noFill/>
          <a:ln/>
        </p:spPr>
        <p:txBody>
          <a:bodyPr wrap="square" lIns="0" tIns="0" rIns="0" bIns="0" rtlCol="0" anchor="ctr">
            <a:normAutofit/>
          </a:bodyPr>
          <a:lstStyle/>
          <a:p>
            <a:pPr algn="l" indent="0" marL="0">
              <a:buNone/>
            </a:pPr>
            <a:r>
              <a:rPr lang="en-US" sz="1300" b="1" dirty="0">
                <a:solidFill>
                  <a:srgbClr val="B7E4D7"/>
                </a:solidFill>
                <a:latin typeface="Aptos" pitchFamily="34" charset="0"/>
                <a:ea typeface="Aptos" pitchFamily="34" charset="-122"/>
                <a:cs typeface="Aptos" pitchFamily="34" charset="-120"/>
              </a:rPr>
              <a:t>Lateral reading</a:t>
            </a:r>
            <a:endParaRPr lang="en-US" sz="1300" dirty="0"/>
          </a:p>
        </p:txBody>
      </p:sp>
      <p:sp>
        <p:nvSpPr>
          <p:cNvPr id="41" name="Text 39"/>
          <p:cNvSpPr/>
          <p:nvPr/>
        </p:nvSpPr>
        <p:spPr>
          <a:xfrm>
            <a:off x="4343400" y="4663440"/>
            <a:ext cx="2907792" cy="530352"/>
          </a:xfrm>
          <a:prstGeom prst="rect">
            <a:avLst/>
          </a:prstGeom>
          <a:noFill/>
          <a:ln/>
        </p:spPr>
        <p:txBody>
          <a:bodyPr wrap="square" lIns="0" tIns="0" rIns="0" bIns="0" rtlCol="0" anchor="t">
            <a:normAutofit/>
          </a:bodyPr>
          <a:lstStyle/>
          <a:p>
            <a:pPr algn="l" indent="0" marL="0">
              <a:buNone/>
            </a:pPr>
            <a:r>
              <a:rPr lang="en-US" sz="1030" dirty="0">
                <a:solidFill>
                  <a:srgbClr val="DCE7EE"/>
                </a:solidFill>
                <a:latin typeface="Aptos" pitchFamily="34" charset="0"/>
                <a:ea typeface="Aptos" pitchFamily="34" charset="-122"/>
                <a:cs typeface="Aptos" pitchFamily="34" charset="-120"/>
              </a:rPr>
              <a:t>Klaim diperiksa dengan membuka sumber lain dan membandingkan konteks, bukan hanya membaca halaman awal.</a:t>
            </a:r>
            <a:endParaRPr lang="en-US" sz="1030" dirty="0"/>
          </a:p>
        </p:txBody>
      </p:sp>
      <p:sp>
        <p:nvSpPr>
          <p:cNvPr id="42" name="Text 40"/>
          <p:cNvSpPr/>
          <p:nvPr/>
        </p:nvSpPr>
        <p:spPr>
          <a:xfrm>
            <a:off x="4343400" y="5285232"/>
            <a:ext cx="2907792" cy="164592"/>
          </a:xfrm>
          <a:prstGeom prst="rect">
            <a:avLst/>
          </a:prstGeom>
          <a:noFill/>
          <a:ln/>
        </p:spPr>
        <p:txBody>
          <a:bodyPr wrap="square" lIns="0" tIns="0" rIns="0" bIns="0" rtlCol="0" anchor="ctr">
            <a:normAutofit/>
          </a:bodyPr>
          <a:lstStyle/>
          <a:p>
            <a:pPr algn="l" indent="0" marL="0">
              <a:buNone/>
            </a:pPr>
            <a:r>
              <a:rPr lang="en-US" sz="850" i="1" dirty="0">
                <a:solidFill>
                  <a:srgbClr val="9EB2C2"/>
                </a:solidFill>
                <a:latin typeface="Aptos" pitchFamily="34" charset="0"/>
                <a:ea typeface="Aptos" pitchFamily="34" charset="-122"/>
                <a:cs typeface="Aptos" pitchFamily="34" charset="-120"/>
              </a:rPr>
              <a:t>Wineburg &amp; McGrew (2019)</a:t>
            </a:r>
            <a:endParaRPr lang="en-US" sz="850" dirty="0"/>
          </a:p>
        </p:txBody>
      </p:sp>
      <p:sp>
        <p:nvSpPr>
          <p:cNvPr id="43" name="Shape 41"/>
          <p:cNvSpPr/>
          <p:nvPr/>
        </p:nvSpPr>
        <p:spPr>
          <a:xfrm>
            <a:off x="7680960" y="4087368"/>
            <a:ext cx="3264408" cy="1444752"/>
          </a:xfrm>
          <a:prstGeom prst="roundRect">
            <a:avLst>
              <a:gd name="adj" fmla="val 8861"/>
            </a:avLst>
          </a:prstGeom>
          <a:solidFill>
            <a:srgbClr val="173650"/>
          </a:solidFill>
          <a:ln w="10160">
            <a:solidFill>
              <a:srgbClr val="31506D"/>
            </a:solidFill>
            <a:prstDash val="solid"/>
          </a:ln>
        </p:spPr>
      </p:sp>
      <p:sp>
        <p:nvSpPr>
          <p:cNvPr id="44" name="Text 42"/>
          <p:cNvSpPr/>
          <p:nvPr/>
        </p:nvSpPr>
        <p:spPr>
          <a:xfrm>
            <a:off x="7863840" y="4279392"/>
            <a:ext cx="2907792" cy="292608"/>
          </a:xfrm>
          <a:prstGeom prst="rect">
            <a:avLst/>
          </a:prstGeom>
          <a:noFill/>
          <a:ln/>
        </p:spPr>
        <p:txBody>
          <a:bodyPr wrap="square" lIns="0" tIns="0" rIns="0" bIns="0" rtlCol="0" anchor="ctr">
            <a:normAutofit/>
          </a:bodyPr>
          <a:lstStyle/>
          <a:p>
            <a:pPr algn="l" indent="0" marL="0">
              <a:buNone/>
            </a:pPr>
            <a:r>
              <a:rPr lang="en-US" sz="1300" b="1" dirty="0">
                <a:solidFill>
                  <a:srgbClr val="D9CEF9"/>
                </a:solidFill>
                <a:latin typeface="Aptos" pitchFamily="34" charset="0"/>
                <a:ea typeface="Aptos" pitchFamily="34" charset="-122"/>
                <a:cs typeface="Aptos" pitchFamily="34" charset="-120"/>
              </a:rPr>
              <a:t>Pembelajaran bauran</a:t>
            </a:r>
            <a:endParaRPr lang="en-US" sz="1300" dirty="0"/>
          </a:p>
        </p:txBody>
      </p:sp>
      <p:sp>
        <p:nvSpPr>
          <p:cNvPr id="45" name="Text 43"/>
          <p:cNvSpPr/>
          <p:nvPr/>
        </p:nvSpPr>
        <p:spPr>
          <a:xfrm>
            <a:off x="7863840" y="4663440"/>
            <a:ext cx="2907792" cy="530352"/>
          </a:xfrm>
          <a:prstGeom prst="rect">
            <a:avLst/>
          </a:prstGeom>
          <a:noFill/>
          <a:ln/>
        </p:spPr>
        <p:txBody>
          <a:bodyPr wrap="square" lIns="0" tIns="0" rIns="0" bIns="0" rtlCol="0" anchor="t">
            <a:normAutofit/>
          </a:bodyPr>
          <a:lstStyle/>
          <a:p>
            <a:pPr algn="l" indent="0" marL="0">
              <a:buNone/>
            </a:pPr>
            <a:r>
              <a:rPr lang="en-US" sz="1030" dirty="0">
                <a:solidFill>
                  <a:srgbClr val="DCE7EE"/>
                </a:solidFill>
                <a:latin typeface="Aptos" pitchFamily="34" charset="0"/>
                <a:ea typeface="Aptos" pitchFamily="34" charset="-122"/>
                <a:cs typeface="Aptos" pitchFamily="34" charset="-120"/>
              </a:rPr>
              <a:t>Persiapan asinkronus, investigasi sinkronus, dan tindak lanjut dihubungkan melalui LMS.</a:t>
            </a:r>
            <a:endParaRPr lang="en-US" sz="1030" dirty="0"/>
          </a:p>
        </p:txBody>
      </p:sp>
      <p:sp>
        <p:nvSpPr>
          <p:cNvPr id="46" name="Text 44"/>
          <p:cNvSpPr/>
          <p:nvPr/>
        </p:nvSpPr>
        <p:spPr>
          <a:xfrm>
            <a:off x="7863840" y="5285232"/>
            <a:ext cx="2907792" cy="164592"/>
          </a:xfrm>
          <a:prstGeom prst="rect">
            <a:avLst/>
          </a:prstGeom>
          <a:noFill/>
          <a:ln/>
        </p:spPr>
        <p:txBody>
          <a:bodyPr wrap="square" lIns="0" tIns="0" rIns="0" bIns="0" rtlCol="0" anchor="ctr">
            <a:normAutofit/>
          </a:bodyPr>
          <a:lstStyle/>
          <a:p>
            <a:pPr algn="l" indent="0" marL="0">
              <a:buNone/>
            </a:pPr>
            <a:r>
              <a:rPr lang="en-US" sz="850" i="1" dirty="0">
                <a:solidFill>
                  <a:srgbClr val="9EB2C2"/>
                </a:solidFill>
                <a:latin typeface="Aptos" pitchFamily="34" charset="0"/>
                <a:ea typeface="Aptos" pitchFamily="34" charset="-122"/>
                <a:cs typeface="Aptos" pitchFamily="34" charset="-120"/>
              </a:rPr>
              <a:t>Garrison &amp; Kanuka (2004)</a:t>
            </a:r>
            <a:endParaRPr lang="en-US" sz="850" dirty="0"/>
          </a:p>
        </p:txBody>
      </p:sp>
      <p:sp>
        <p:nvSpPr>
          <p:cNvPr id="47" name="Text 45"/>
          <p:cNvSpPr/>
          <p:nvPr/>
        </p:nvSpPr>
        <p:spPr>
          <a:xfrm>
            <a:off x="731520" y="5879592"/>
            <a:ext cx="10789920" cy="237744"/>
          </a:xfrm>
          <a:prstGeom prst="rect">
            <a:avLst/>
          </a:prstGeom>
          <a:noFill/>
          <a:ln/>
        </p:spPr>
        <p:txBody>
          <a:bodyPr wrap="square" lIns="0" tIns="0" rIns="0" bIns="0" rtlCol="0" anchor="ctr">
            <a:normAutofit/>
          </a:bodyPr>
          <a:lstStyle/>
          <a:p>
            <a:pPr algn="ctr" indent="0" marL="0">
              <a:buNone/>
            </a:pPr>
            <a:r>
              <a:rPr lang="en-US" sz="1120" b="1" dirty="0">
                <a:solidFill>
                  <a:srgbClr val="FFFFFF"/>
                </a:solidFill>
                <a:latin typeface="Aptos" pitchFamily="34" charset="0"/>
                <a:ea typeface="Aptos" pitchFamily="34" charset="-122"/>
                <a:cs typeface="Aptos" pitchFamily="34" charset="-120"/>
              </a:rPr>
              <a:t>Model dipilih karena masalah membutuhkan bukti, pembandingan sumber, dan keputusan yang dapat dipertanggungjawabkan.</a:t>
            </a:r>
            <a:endParaRPr lang="en-US" sz="112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B6C6D3"/>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66928" y="329184"/>
            <a:ext cx="2002536" cy="274320"/>
          </a:xfrm>
          <a:prstGeom prst="roundRect">
            <a:avLst>
              <a:gd name="adj" fmla="val 46667"/>
            </a:avLst>
          </a:prstGeom>
          <a:solidFill>
            <a:srgbClr val="DDF4EC"/>
          </a:solidFill>
          <a:ln w="12700">
            <a:solidFill>
              <a:srgbClr val="DDF4EC">
                <a:alpha val="0"/>
              </a:srgbClr>
            </a:solidFill>
            <a:prstDash val="solid"/>
          </a:ln>
        </p:spPr>
      </p:sp>
      <p:sp>
        <p:nvSpPr>
          <p:cNvPr id="3" name="Text 1"/>
          <p:cNvSpPr/>
          <p:nvPr/>
        </p:nvSpPr>
        <p:spPr>
          <a:xfrm>
            <a:off x="640080" y="342900"/>
            <a:ext cx="1856232" cy="256032"/>
          </a:xfrm>
          <a:prstGeom prst="rect">
            <a:avLst/>
          </a:prstGeom>
          <a:noFill/>
          <a:ln/>
        </p:spPr>
        <p:txBody>
          <a:bodyPr wrap="square" lIns="0" tIns="0" rIns="0" bIns="0" rtlCol="0" anchor="ctr">
            <a:normAutofit/>
          </a:bodyPr>
          <a:lstStyle/>
          <a:p>
            <a:pPr algn="ctr" indent="0" marL="0">
              <a:buNone/>
            </a:pPr>
            <a:r>
              <a:rPr lang="en-US" sz="850" b="1" spc="40" kern="0" dirty="0">
                <a:solidFill>
                  <a:srgbClr val="18766F"/>
                </a:solidFill>
                <a:latin typeface="Aptos" pitchFamily="34" charset="0"/>
                <a:ea typeface="Aptos" pitchFamily="34" charset="-122"/>
                <a:cs typeface="Aptos" pitchFamily="34" charset="-120"/>
              </a:rPr>
              <a:t>04 • ARSITEKTUR BAURAN</a:t>
            </a:r>
            <a:endParaRPr lang="en-US" sz="850" dirty="0"/>
          </a:p>
        </p:txBody>
      </p:sp>
      <p:sp>
        <p:nvSpPr>
          <p:cNvPr id="4" name="Text 2"/>
          <p:cNvSpPr/>
          <p:nvPr/>
        </p:nvSpPr>
        <p:spPr>
          <a:xfrm>
            <a:off x="566928" y="749808"/>
            <a:ext cx="10972800" cy="548640"/>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Tiga fase, satu alur belajar</a:t>
            </a:r>
            <a:endParaRPr lang="en-US" sz="2800" dirty="0"/>
          </a:p>
        </p:txBody>
      </p:sp>
      <p:sp>
        <p:nvSpPr>
          <p:cNvPr id="5" name="Text 3"/>
          <p:cNvSpPr/>
          <p:nvPr/>
        </p:nvSpPr>
        <p:spPr>
          <a:xfrm>
            <a:off x="585216" y="1307592"/>
            <a:ext cx="10881360" cy="329184"/>
          </a:xfrm>
          <a:prstGeom prst="rect">
            <a:avLst/>
          </a:prstGeom>
          <a:noFill/>
          <a:ln/>
        </p:spPr>
        <p:txBody>
          <a:bodyPr wrap="square" lIns="0" tIns="0" rIns="0" bIns="0" rtlCol="0" anchor="ctr">
            <a:normAutofit/>
          </a:bodyPr>
          <a:lstStyle/>
          <a:p>
            <a:pPr algn="l" indent="0" marL="0">
              <a:buNone/>
            </a:pPr>
            <a:r>
              <a:rPr lang="en-US" sz="1250" dirty="0">
                <a:solidFill>
                  <a:srgbClr val="617587"/>
                </a:solidFill>
                <a:latin typeface="Aptos" pitchFamily="34" charset="0"/>
                <a:ea typeface="Aptos" pitchFamily="34" charset="-122"/>
                <a:cs typeface="Aptos" pitchFamily="34" charset="-120"/>
              </a:rPr>
              <a:t>Mediadidik menjadi LMS utama untuk materi dan ulangan harian; media lain mendukung investigasi.</a:t>
            </a:r>
            <a:endParaRPr lang="en-US" sz="1250" dirty="0"/>
          </a:p>
        </p:txBody>
      </p:sp>
      <p:sp>
        <p:nvSpPr>
          <p:cNvPr id="6" name="Shape 4"/>
          <p:cNvSpPr/>
          <p:nvPr/>
        </p:nvSpPr>
        <p:spPr>
          <a:xfrm>
            <a:off x="1234440" y="1874520"/>
            <a:ext cx="9692640" cy="0"/>
          </a:xfrm>
          <a:prstGeom prst="line">
            <a:avLst/>
          </a:prstGeom>
          <a:noFill/>
          <a:ln w="25400">
            <a:solidFill>
              <a:srgbClr val="D9E1E8"/>
            </a:solidFill>
            <a:prstDash val="solid"/>
            <a:headEnd type="none"/>
            <a:tailEnd type="none"/>
          </a:ln>
        </p:spPr>
      </p:sp>
      <p:sp>
        <p:nvSpPr>
          <p:cNvPr id="7" name="Shape 5"/>
          <p:cNvSpPr/>
          <p:nvPr/>
        </p:nvSpPr>
        <p:spPr>
          <a:xfrm>
            <a:off x="841248" y="1645920"/>
            <a:ext cx="457200" cy="457200"/>
          </a:xfrm>
          <a:prstGeom prst="ellipse">
            <a:avLst/>
          </a:prstGeom>
          <a:solidFill>
            <a:srgbClr val="2F6690"/>
          </a:solidFill>
          <a:ln w="12700">
            <a:solidFill>
              <a:srgbClr val="2F6690">
                <a:alpha val="0"/>
              </a:srgbClr>
            </a:solidFill>
            <a:prstDash val="solid"/>
          </a:ln>
        </p:spPr>
      </p:sp>
      <p:sp>
        <p:nvSpPr>
          <p:cNvPr id="8" name="Text 6"/>
          <p:cNvSpPr/>
          <p:nvPr/>
        </p:nvSpPr>
        <p:spPr>
          <a:xfrm>
            <a:off x="841248" y="1645920"/>
            <a:ext cx="457200" cy="45720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01</a:t>
            </a:r>
            <a:endParaRPr lang="en-US" sz="1100" dirty="0"/>
          </a:p>
        </p:txBody>
      </p:sp>
      <p:sp>
        <p:nvSpPr>
          <p:cNvPr id="9" name="Shape 7"/>
          <p:cNvSpPr/>
          <p:nvPr/>
        </p:nvSpPr>
        <p:spPr>
          <a:xfrm>
            <a:off x="640080" y="2240280"/>
            <a:ext cx="3429000" cy="3063240"/>
          </a:xfrm>
          <a:prstGeom prst="roundRect">
            <a:avLst>
              <a:gd name="adj" fmla="val 5373"/>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10" name="Shape 8"/>
          <p:cNvSpPr/>
          <p:nvPr/>
        </p:nvSpPr>
        <p:spPr>
          <a:xfrm>
            <a:off x="640080" y="2240280"/>
            <a:ext cx="3429000" cy="566928"/>
          </a:xfrm>
          <a:prstGeom prst="roundRect">
            <a:avLst>
              <a:gd name="adj" fmla="val 25806"/>
            </a:avLst>
          </a:prstGeom>
          <a:solidFill>
            <a:srgbClr val="2F6690"/>
          </a:solidFill>
          <a:ln w="12700">
            <a:solidFill>
              <a:srgbClr val="2F6690">
                <a:alpha val="0"/>
              </a:srgbClr>
            </a:solidFill>
            <a:prstDash val="solid"/>
          </a:ln>
        </p:spPr>
      </p:sp>
      <p:sp>
        <p:nvSpPr>
          <p:cNvPr id="11" name="Shape 9"/>
          <p:cNvSpPr/>
          <p:nvPr/>
        </p:nvSpPr>
        <p:spPr>
          <a:xfrm>
            <a:off x="640080" y="2587752"/>
            <a:ext cx="3429000" cy="219456"/>
          </a:xfrm>
          <a:prstGeom prst="rect">
            <a:avLst/>
          </a:prstGeom>
          <a:solidFill>
            <a:srgbClr val="2F6690"/>
          </a:solidFill>
          <a:ln w="12700">
            <a:solidFill>
              <a:srgbClr val="2F6690">
                <a:alpha val="0"/>
              </a:srgbClr>
            </a:solidFill>
            <a:prstDash val="solid"/>
          </a:ln>
        </p:spPr>
      </p:sp>
      <p:sp>
        <p:nvSpPr>
          <p:cNvPr id="12" name="Text 10"/>
          <p:cNvSpPr/>
          <p:nvPr/>
        </p:nvSpPr>
        <p:spPr>
          <a:xfrm>
            <a:off x="822960" y="2368296"/>
            <a:ext cx="3063240" cy="228600"/>
          </a:xfrm>
          <a:prstGeom prst="rect">
            <a:avLst/>
          </a:prstGeom>
          <a:noFill/>
          <a:ln/>
        </p:spPr>
        <p:txBody>
          <a:bodyPr wrap="square" lIns="0" tIns="0" rIns="0" bIns="0" rtlCol="0" anchor="ctr">
            <a:normAutofit/>
          </a:bodyPr>
          <a:lstStyle/>
          <a:p>
            <a:pPr algn="l" indent="0" marL="0">
              <a:buNone/>
            </a:pPr>
            <a:r>
              <a:rPr lang="en-US" sz="1000" b="1" spc="25" kern="0" dirty="0">
                <a:solidFill>
                  <a:srgbClr val="FFFFFF"/>
                </a:solidFill>
                <a:latin typeface="Aptos" pitchFamily="34" charset="0"/>
                <a:ea typeface="Aptos" pitchFamily="34" charset="-122"/>
                <a:cs typeface="Aptos" pitchFamily="34" charset="-120"/>
              </a:rPr>
              <a:t>SEBELUM • ASINKRONUS</a:t>
            </a:r>
            <a:endParaRPr lang="en-US" sz="1000" dirty="0"/>
          </a:p>
        </p:txBody>
      </p:sp>
      <p:sp>
        <p:nvSpPr>
          <p:cNvPr id="13" name="Shape 11"/>
          <p:cNvSpPr/>
          <p:nvPr/>
        </p:nvSpPr>
        <p:spPr>
          <a:xfrm>
            <a:off x="822960" y="2999232"/>
            <a:ext cx="960120" cy="283464"/>
          </a:xfrm>
          <a:prstGeom prst="roundRect">
            <a:avLst>
              <a:gd name="adj" fmla="val 45161"/>
            </a:avLst>
          </a:prstGeom>
          <a:solidFill>
            <a:srgbClr val="E8F0F7"/>
          </a:solidFill>
          <a:ln w="12700">
            <a:solidFill>
              <a:srgbClr val="E8F0F7">
                <a:alpha val="0"/>
              </a:srgbClr>
            </a:solidFill>
            <a:prstDash val="solid"/>
          </a:ln>
        </p:spPr>
      </p:sp>
      <p:sp>
        <p:nvSpPr>
          <p:cNvPr id="14" name="Text 12"/>
          <p:cNvSpPr/>
          <p:nvPr/>
        </p:nvSpPr>
        <p:spPr>
          <a:xfrm>
            <a:off x="896112" y="3012948"/>
            <a:ext cx="813816" cy="265176"/>
          </a:xfrm>
          <a:prstGeom prst="rect">
            <a:avLst/>
          </a:prstGeom>
          <a:noFill/>
          <a:ln/>
        </p:spPr>
        <p:txBody>
          <a:bodyPr wrap="square" lIns="0" tIns="0" rIns="0" bIns="0" rtlCol="0" anchor="ctr">
            <a:normAutofit/>
          </a:bodyPr>
          <a:lstStyle/>
          <a:p>
            <a:pPr algn="ctr" indent="0" marL="0">
              <a:buNone/>
            </a:pPr>
            <a:r>
              <a:rPr lang="en-US" sz="900" b="1" spc="40" kern="0" dirty="0">
                <a:solidFill>
                  <a:srgbClr val="2F6690"/>
                </a:solidFill>
                <a:latin typeface="Aptos" pitchFamily="34" charset="0"/>
                <a:ea typeface="Aptos" pitchFamily="34" charset="-122"/>
                <a:cs typeface="Aptos" pitchFamily="34" charset="-120"/>
              </a:rPr>
              <a:t>15 MENIT</a:t>
            </a:r>
            <a:endParaRPr lang="en-US" sz="900" dirty="0"/>
          </a:p>
        </p:txBody>
      </p:sp>
      <p:sp>
        <p:nvSpPr>
          <p:cNvPr id="15" name="Text 13"/>
          <p:cNvSpPr/>
          <p:nvPr/>
        </p:nvSpPr>
        <p:spPr>
          <a:xfrm>
            <a:off x="822960" y="3438144"/>
            <a:ext cx="3063240" cy="347472"/>
          </a:xfrm>
          <a:prstGeom prst="rect">
            <a:avLst/>
          </a:prstGeom>
          <a:noFill/>
          <a:ln/>
        </p:spPr>
        <p:txBody>
          <a:bodyPr wrap="square" lIns="0" tIns="0" rIns="0" bIns="0" rtlCol="0" anchor="ctr">
            <a:normAutofit/>
          </a:bodyPr>
          <a:lstStyle/>
          <a:p>
            <a:pPr algn="l" indent="0" marL="0">
              <a:buNone/>
            </a:pPr>
            <a:r>
              <a:rPr lang="en-US" sz="1700" b="1" dirty="0">
                <a:solidFill>
                  <a:srgbClr val="102A43"/>
                </a:solidFill>
                <a:latin typeface="Aptos" pitchFamily="34" charset="0"/>
                <a:ea typeface="Aptos" pitchFamily="34" charset="-122"/>
                <a:cs typeface="Aptos" pitchFamily="34" charset="-120"/>
              </a:rPr>
              <a:t>Siapkan dugaan awal</a:t>
            </a:r>
            <a:endParaRPr lang="en-US" sz="1700" dirty="0"/>
          </a:p>
        </p:txBody>
      </p:sp>
      <p:sp>
        <p:nvSpPr>
          <p:cNvPr id="16" name="Shape 14"/>
          <p:cNvSpPr/>
          <p:nvPr/>
        </p:nvSpPr>
        <p:spPr>
          <a:xfrm>
            <a:off x="841248" y="3931920"/>
            <a:ext cx="91440" cy="91440"/>
          </a:xfrm>
          <a:prstGeom prst="ellipse">
            <a:avLst/>
          </a:prstGeom>
          <a:solidFill>
            <a:srgbClr val="2F6690"/>
          </a:solidFill>
          <a:ln w="12700">
            <a:solidFill>
              <a:srgbClr val="2F6690">
                <a:alpha val="0"/>
              </a:srgbClr>
            </a:solidFill>
            <a:prstDash val="solid"/>
          </a:ln>
        </p:spPr>
      </p:sp>
      <p:sp>
        <p:nvSpPr>
          <p:cNvPr id="17" name="Text 15"/>
          <p:cNvSpPr/>
          <p:nvPr/>
        </p:nvSpPr>
        <p:spPr>
          <a:xfrm>
            <a:off x="1033272" y="3886200"/>
            <a:ext cx="2834640" cy="246888"/>
          </a:xfrm>
          <a:prstGeom prst="rect">
            <a:avLst/>
          </a:prstGeom>
          <a:noFill/>
          <a:ln/>
        </p:spPr>
        <p:txBody>
          <a:bodyPr wrap="square" lIns="0" tIns="0" rIns="0" bIns="0" rtlCol="0" anchor="ctr">
            <a:normAutofit/>
          </a:bodyPr>
          <a:lstStyle/>
          <a:p>
            <a:pPr algn="l" indent="0" marL="0">
              <a:buNone/>
            </a:pPr>
            <a:r>
              <a:rPr lang="en-US" sz="1120" dirty="0">
                <a:solidFill>
                  <a:srgbClr val="183044"/>
                </a:solidFill>
                <a:latin typeface="Aptos" pitchFamily="34" charset="0"/>
                <a:ea typeface="Aptos" pitchFamily="34" charset="-122"/>
                <a:cs typeface="Aptos" pitchFamily="34" charset="-120"/>
              </a:rPr>
              <a:t>Pelajari materi di Mediadidik</a:t>
            </a:r>
            <a:endParaRPr lang="en-US" sz="1120" dirty="0"/>
          </a:p>
        </p:txBody>
      </p:sp>
      <p:sp>
        <p:nvSpPr>
          <p:cNvPr id="18" name="Shape 16"/>
          <p:cNvSpPr/>
          <p:nvPr/>
        </p:nvSpPr>
        <p:spPr>
          <a:xfrm>
            <a:off x="841248" y="4251960"/>
            <a:ext cx="91440" cy="91440"/>
          </a:xfrm>
          <a:prstGeom prst="ellipse">
            <a:avLst/>
          </a:prstGeom>
          <a:solidFill>
            <a:srgbClr val="2F6690"/>
          </a:solidFill>
          <a:ln w="12700">
            <a:solidFill>
              <a:srgbClr val="2F6690">
                <a:alpha val="0"/>
              </a:srgbClr>
            </a:solidFill>
            <a:prstDash val="solid"/>
          </a:ln>
        </p:spPr>
      </p:sp>
      <p:sp>
        <p:nvSpPr>
          <p:cNvPr id="19" name="Text 17"/>
          <p:cNvSpPr/>
          <p:nvPr/>
        </p:nvSpPr>
        <p:spPr>
          <a:xfrm>
            <a:off x="1033272" y="4206240"/>
            <a:ext cx="2834640" cy="246888"/>
          </a:xfrm>
          <a:prstGeom prst="rect">
            <a:avLst/>
          </a:prstGeom>
          <a:noFill/>
          <a:ln/>
        </p:spPr>
        <p:txBody>
          <a:bodyPr wrap="square" lIns="0" tIns="0" rIns="0" bIns="0" rtlCol="0" anchor="ctr">
            <a:normAutofit/>
          </a:bodyPr>
          <a:lstStyle/>
          <a:p>
            <a:pPr algn="l" indent="0" marL="0">
              <a:buNone/>
            </a:pPr>
            <a:r>
              <a:rPr lang="en-US" sz="1120" dirty="0">
                <a:solidFill>
                  <a:srgbClr val="183044"/>
                </a:solidFill>
                <a:latin typeface="Aptos" pitchFamily="34" charset="0"/>
                <a:ea typeface="Aptos" pitchFamily="34" charset="-122"/>
                <a:cs typeface="Aptos" pitchFamily="34" charset="-120"/>
              </a:rPr>
              <a:t>Akses pengantar kasus simulasi</a:t>
            </a:r>
            <a:endParaRPr lang="en-US" sz="1120" dirty="0"/>
          </a:p>
        </p:txBody>
      </p:sp>
      <p:sp>
        <p:nvSpPr>
          <p:cNvPr id="20" name="Shape 18"/>
          <p:cNvSpPr/>
          <p:nvPr/>
        </p:nvSpPr>
        <p:spPr>
          <a:xfrm>
            <a:off x="841248" y="4572000"/>
            <a:ext cx="91440" cy="91440"/>
          </a:xfrm>
          <a:prstGeom prst="ellipse">
            <a:avLst/>
          </a:prstGeom>
          <a:solidFill>
            <a:srgbClr val="2F6690"/>
          </a:solidFill>
          <a:ln w="12700">
            <a:solidFill>
              <a:srgbClr val="2F6690">
                <a:alpha val="0"/>
              </a:srgbClr>
            </a:solidFill>
            <a:prstDash val="solid"/>
          </a:ln>
        </p:spPr>
      </p:sp>
      <p:sp>
        <p:nvSpPr>
          <p:cNvPr id="21" name="Text 19"/>
          <p:cNvSpPr/>
          <p:nvPr/>
        </p:nvSpPr>
        <p:spPr>
          <a:xfrm>
            <a:off x="1033272" y="4526280"/>
            <a:ext cx="2834640" cy="246888"/>
          </a:xfrm>
          <a:prstGeom prst="rect">
            <a:avLst/>
          </a:prstGeom>
          <a:noFill/>
          <a:ln/>
        </p:spPr>
        <p:txBody>
          <a:bodyPr wrap="square" lIns="0" tIns="0" rIns="0" bIns="0" rtlCol="0" anchor="ctr">
            <a:normAutofit/>
          </a:bodyPr>
          <a:lstStyle/>
          <a:p>
            <a:pPr algn="l" indent="0" marL="0">
              <a:buNone/>
            </a:pPr>
            <a:r>
              <a:rPr lang="en-US" sz="1120" dirty="0">
                <a:solidFill>
                  <a:srgbClr val="183044"/>
                </a:solidFill>
                <a:latin typeface="Aptos" pitchFamily="34" charset="0"/>
                <a:ea typeface="Aptos" pitchFamily="34" charset="-122"/>
                <a:cs typeface="Aptos" pitchFamily="34" charset="-120"/>
              </a:rPr>
              <a:t>Catat dugaan/pertanyaan awal</a:t>
            </a:r>
            <a:endParaRPr lang="en-US" sz="1120" dirty="0"/>
          </a:p>
        </p:txBody>
      </p:sp>
      <p:sp>
        <p:nvSpPr>
          <p:cNvPr id="22" name="Shape 20"/>
          <p:cNvSpPr/>
          <p:nvPr/>
        </p:nvSpPr>
        <p:spPr>
          <a:xfrm>
            <a:off x="822960" y="5010912"/>
            <a:ext cx="3063240" cy="0"/>
          </a:xfrm>
          <a:prstGeom prst="line">
            <a:avLst/>
          </a:prstGeom>
          <a:noFill/>
          <a:ln w="10160">
            <a:solidFill>
              <a:srgbClr val="D9E1E8"/>
            </a:solidFill>
            <a:prstDash val="solid"/>
            <a:headEnd type="none"/>
            <a:tailEnd type="none"/>
          </a:ln>
        </p:spPr>
      </p:sp>
      <p:sp>
        <p:nvSpPr>
          <p:cNvPr id="23" name="Text 21"/>
          <p:cNvSpPr/>
          <p:nvPr/>
        </p:nvSpPr>
        <p:spPr>
          <a:xfrm>
            <a:off x="822960" y="5093208"/>
            <a:ext cx="3063240" cy="292608"/>
          </a:xfrm>
          <a:prstGeom prst="rect">
            <a:avLst/>
          </a:prstGeom>
          <a:noFill/>
          <a:ln/>
        </p:spPr>
        <p:txBody>
          <a:bodyPr wrap="square" lIns="0" tIns="0" rIns="0" bIns="0" rtlCol="0" anchor="ctr">
            <a:normAutofit/>
          </a:bodyPr>
          <a:lstStyle/>
          <a:p>
            <a:pPr algn="l" indent="0" marL="0">
              <a:buNone/>
            </a:pPr>
            <a:r>
              <a:rPr lang="en-US" sz="1000" b="1" dirty="0">
                <a:solidFill>
                  <a:srgbClr val="2F6690"/>
                </a:solidFill>
                <a:latin typeface="Aptos" pitchFamily="34" charset="0"/>
                <a:ea typeface="Aptos" pitchFamily="34" charset="-122"/>
                <a:cs typeface="Aptos" pitchFamily="34" charset="-120"/>
              </a:rPr>
              <a:t>Keluaran: respons awal</a:t>
            </a:r>
            <a:endParaRPr lang="en-US" sz="1000" dirty="0"/>
          </a:p>
        </p:txBody>
      </p:sp>
      <p:sp>
        <p:nvSpPr>
          <p:cNvPr id="24" name="Shape 22"/>
          <p:cNvSpPr/>
          <p:nvPr/>
        </p:nvSpPr>
        <p:spPr>
          <a:xfrm>
            <a:off x="4590288" y="1645920"/>
            <a:ext cx="457200" cy="457200"/>
          </a:xfrm>
          <a:prstGeom prst="ellipse">
            <a:avLst/>
          </a:prstGeom>
          <a:solidFill>
            <a:srgbClr val="38A99A"/>
          </a:solidFill>
          <a:ln w="12700">
            <a:solidFill>
              <a:srgbClr val="38A99A">
                <a:alpha val="0"/>
              </a:srgbClr>
            </a:solidFill>
            <a:prstDash val="solid"/>
          </a:ln>
        </p:spPr>
      </p:sp>
      <p:sp>
        <p:nvSpPr>
          <p:cNvPr id="25" name="Text 23"/>
          <p:cNvSpPr/>
          <p:nvPr/>
        </p:nvSpPr>
        <p:spPr>
          <a:xfrm>
            <a:off x="4590288" y="1645920"/>
            <a:ext cx="457200" cy="45720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02</a:t>
            </a:r>
            <a:endParaRPr lang="en-US" sz="1100" dirty="0"/>
          </a:p>
        </p:txBody>
      </p:sp>
      <p:sp>
        <p:nvSpPr>
          <p:cNvPr id="26" name="Shape 24"/>
          <p:cNvSpPr/>
          <p:nvPr/>
        </p:nvSpPr>
        <p:spPr>
          <a:xfrm>
            <a:off x="4389120" y="2240280"/>
            <a:ext cx="3429000" cy="3063240"/>
          </a:xfrm>
          <a:prstGeom prst="roundRect">
            <a:avLst>
              <a:gd name="adj" fmla="val 5373"/>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27" name="Shape 25"/>
          <p:cNvSpPr/>
          <p:nvPr/>
        </p:nvSpPr>
        <p:spPr>
          <a:xfrm>
            <a:off x="4389120" y="2240280"/>
            <a:ext cx="3429000" cy="566928"/>
          </a:xfrm>
          <a:prstGeom prst="roundRect">
            <a:avLst>
              <a:gd name="adj" fmla="val 25806"/>
            </a:avLst>
          </a:prstGeom>
          <a:solidFill>
            <a:srgbClr val="38A99A"/>
          </a:solidFill>
          <a:ln w="12700">
            <a:solidFill>
              <a:srgbClr val="38A99A">
                <a:alpha val="0"/>
              </a:srgbClr>
            </a:solidFill>
            <a:prstDash val="solid"/>
          </a:ln>
        </p:spPr>
      </p:sp>
      <p:sp>
        <p:nvSpPr>
          <p:cNvPr id="28" name="Shape 26"/>
          <p:cNvSpPr/>
          <p:nvPr/>
        </p:nvSpPr>
        <p:spPr>
          <a:xfrm>
            <a:off x="4389120" y="2587752"/>
            <a:ext cx="3429000" cy="219456"/>
          </a:xfrm>
          <a:prstGeom prst="rect">
            <a:avLst/>
          </a:prstGeom>
          <a:solidFill>
            <a:srgbClr val="38A99A"/>
          </a:solidFill>
          <a:ln w="12700">
            <a:solidFill>
              <a:srgbClr val="38A99A">
                <a:alpha val="0"/>
              </a:srgbClr>
            </a:solidFill>
            <a:prstDash val="solid"/>
          </a:ln>
        </p:spPr>
      </p:sp>
      <p:sp>
        <p:nvSpPr>
          <p:cNvPr id="29" name="Text 27"/>
          <p:cNvSpPr/>
          <p:nvPr/>
        </p:nvSpPr>
        <p:spPr>
          <a:xfrm>
            <a:off x="4572000" y="2368296"/>
            <a:ext cx="3063240" cy="228600"/>
          </a:xfrm>
          <a:prstGeom prst="rect">
            <a:avLst/>
          </a:prstGeom>
          <a:noFill/>
          <a:ln/>
        </p:spPr>
        <p:txBody>
          <a:bodyPr wrap="square" lIns="0" tIns="0" rIns="0" bIns="0" rtlCol="0" anchor="ctr">
            <a:normAutofit/>
          </a:bodyPr>
          <a:lstStyle/>
          <a:p>
            <a:pPr algn="l" indent="0" marL="0">
              <a:buNone/>
            </a:pPr>
            <a:r>
              <a:rPr lang="en-US" sz="1000" b="1" spc="25" kern="0" dirty="0">
                <a:solidFill>
                  <a:srgbClr val="FFFFFF"/>
                </a:solidFill>
                <a:latin typeface="Aptos" pitchFamily="34" charset="0"/>
                <a:ea typeface="Aptos" pitchFamily="34" charset="-122"/>
                <a:cs typeface="Aptos" pitchFamily="34" charset="-120"/>
              </a:rPr>
              <a:t>SAAT • SINKRONUS</a:t>
            </a:r>
            <a:endParaRPr lang="en-US" sz="1000" dirty="0"/>
          </a:p>
        </p:txBody>
      </p:sp>
      <p:sp>
        <p:nvSpPr>
          <p:cNvPr id="30" name="Shape 28"/>
          <p:cNvSpPr/>
          <p:nvPr/>
        </p:nvSpPr>
        <p:spPr>
          <a:xfrm>
            <a:off x="4572000" y="2999232"/>
            <a:ext cx="960120" cy="283464"/>
          </a:xfrm>
          <a:prstGeom prst="roundRect">
            <a:avLst>
              <a:gd name="adj" fmla="val 45161"/>
            </a:avLst>
          </a:prstGeom>
          <a:solidFill>
            <a:srgbClr val="DDF4EC"/>
          </a:solidFill>
          <a:ln w="12700">
            <a:solidFill>
              <a:srgbClr val="DDF4EC">
                <a:alpha val="0"/>
              </a:srgbClr>
            </a:solidFill>
            <a:prstDash val="solid"/>
          </a:ln>
        </p:spPr>
      </p:sp>
      <p:sp>
        <p:nvSpPr>
          <p:cNvPr id="31" name="Text 29"/>
          <p:cNvSpPr/>
          <p:nvPr/>
        </p:nvSpPr>
        <p:spPr>
          <a:xfrm>
            <a:off x="4645152" y="3012948"/>
            <a:ext cx="813816" cy="265176"/>
          </a:xfrm>
          <a:prstGeom prst="rect">
            <a:avLst/>
          </a:prstGeom>
          <a:noFill/>
          <a:ln/>
        </p:spPr>
        <p:txBody>
          <a:bodyPr wrap="square" lIns="0" tIns="0" rIns="0" bIns="0" rtlCol="0" anchor="ctr">
            <a:normAutofit/>
          </a:bodyPr>
          <a:lstStyle/>
          <a:p>
            <a:pPr algn="ctr" indent="0" marL="0">
              <a:buNone/>
            </a:pPr>
            <a:r>
              <a:rPr lang="en-US" sz="900" b="1" spc="40" kern="0" dirty="0">
                <a:solidFill>
                  <a:srgbClr val="38A99A"/>
                </a:solidFill>
                <a:latin typeface="Aptos" pitchFamily="34" charset="0"/>
                <a:ea typeface="Aptos" pitchFamily="34" charset="-122"/>
                <a:cs typeface="Aptos" pitchFamily="34" charset="-120"/>
              </a:rPr>
              <a:t>90 MENIT</a:t>
            </a:r>
            <a:endParaRPr lang="en-US" sz="900" dirty="0"/>
          </a:p>
        </p:txBody>
      </p:sp>
      <p:sp>
        <p:nvSpPr>
          <p:cNvPr id="32" name="Text 30"/>
          <p:cNvSpPr/>
          <p:nvPr/>
        </p:nvSpPr>
        <p:spPr>
          <a:xfrm>
            <a:off x="4572000" y="3438144"/>
            <a:ext cx="3063240" cy="347472"/>
          </a:xfrm>
          <a:prstGeom prst="rect">
            <a:avLst/>
          </a:prstGeom>
          <a:noFill/>
          <a:ln/>
        </p:spPr>
        <p:txBody>
          <a:bodyPr wrap="square" lIns="0" tIns="0" rIns="0" bIns="0" rtlCol="0" anchor="ctr">
            <a:normAutofit/>
          </a:bodyPr>
          <a:lstStyle/>
          <a:p>
            <a:pPr algn="l" indent="0" marL="0">
              <a:buNone/>
            </a:pPr>
            <a:r>
              <a:rPr lang="en-US" sz="1700" b="1" dirty="0">
                <a:solidFill>
                  <a:srgbClr val="102A43"/>
                </a:solidFill>
                <a:latin typeface="Aptos" pitchFamily="34" charset="0"/>
                <a:ea typeface="Aptos" pitchFamily="34" charset="-122"/>
                <a:cs typeface="Aptos" pitchFamily="34" charset="-120"/>
              </a:rPr>
              <a:t>Selidiki bersama</a:t>
            </a:r>
            <a:endParaRPr lang="en-US" sz="1700" dirty="0"/>
          </a:p>
        </p:txBody>
      </p:sp>
      <p:sp>
        <p:nvSpPr>
          <p:cNvPr id="33" name="Shape 31"/>
          <p:cNvSpPr/>
          <p:nvPr/>
        </p:nvSpPr>
        <p:spPr>
          <a:xfrm>
            <a:off x="4590288" y="3931920"/>
            <a:ext cx="91440" cy="91440"/>
          </a:xfrm>
          <a:prstGeom prst="ellipse">
            <a:avLst/>
          </a:prstGeom>
          <a:solidFill>
            <a:srgbClr val="38A99A"/>
          </a:solidFill>
          <a:ln w="12700">
            <a:solidFill>
              <a:srgbClr val="38A99A">
                <a:alpha val="0"/>
              </a:srgbClr>
            </a:solidFill>
            <a:prstDash val="solid"/>
          </a:ln>
        </p:spPr>
      </p:sp>
      <p:sp>
        <p:nvSpPr>
          <p:cNvPr id="34" name="Text 32"/>
          <p:cNvSpPr/>
          <p:nvPr/>
        </p:nvSpPr>
        <p:spPr>
          <a:xfrm>
            <a:off x="4782312" y="3886200"/>
            <a:ext cx="2834640" cy="246888"/>
          </a:xfrm>
          <a:prstGeom prst="rect">
            <a:avLst/>
          </a:prstGeom>
          <a:noFill/>
          <a:ln/>
        </p:spPr>
        <p:txBody>
          <a:bodyPr wrap="square" lIns="0" tIns="0" rIns="0" bIns="0" rtlCol="0" anchor="ctr">
            <a:normAutofit/>
          </a:bodyPr>
          <a:lstStyle/>
          <a:p>
            <a:pPr algn="l" indent="0" marL="0">
              <a:buNone/>
            </a:pPr>
            <a:r>
              <a:rPr lang="en-US" sz="1120" dirty="0">
                <a:solidFill>
                  <a:srgbClr val="183044"/>
                </a:solidFill>
                <a:latin typeface="Aptos" pitchFamily="34" charset="0"/>
                <a:ea typeface="Aptos" pitchFamily="34" charset="-122"/>
                <a:cs typeface="Aptos" pitchFamily="34" charset="-120"/>
              </a:rPr>
              <a:t>Diskusi &amp; peran kelompok</a:t>
            </a:r>
            <a:endParaRPr lang="en-US" sz="1120" dirty="0"/>
          </a:p>
        </p:txBody>
      </p:sp>
      <p:sp>
        <p:nvSpPr>
          <p:cNvPr id="35" name="Shape 33"/>
          <p:cNvSpPr/>
          <p:nvPr/>
        </p:nvSpPr>
        <p:spPr>
          <a:xfrm>
            <a:off x="4590288" y="4251960"/>
            <a:ext cx="91440" cy="91440"/>
          </a:xfrm>
          <a:prstGeom prst="ellipse">
            <a:avLst/>
          </a:prstGeom>
          <a:solidFill>
            <a:srgbClr val="38A99A"/>
          </a:solidFill>
          <a:ln w="12700">
            <a:solidFill>
              <a:srgbClr val="38A99A">
                <a:alpha val="0"/>
              </a:srgbClr>
            </a:solidFill>
            <a:prstDash val="solid"/>
          </a:ln>
        </p:spPr>
      </p:sp>
      <p:sp>
        <p:nvSpPr>
          <p:cNvPr id="36" name="Text 34"/>
          <p:cNvSpPr/>
          <p:nvPr/>
        </p:nvSpPr>
        <p:spPr>
          <a:xfrm>
            <a:off x="4782312" y="4206240"/>
            <a:ext cx="2834640" cy="246888"/>
          </a:xfrm>
          <a:prstGeom prst="rect">
            <a:avLst/>
          </a:prstGeom>
          <a:noFill/>
          <a:ln/>
        </p:spPr>
        <p:txBody>
          <a:bodyPr wrap="square" lIns="0" tIns="0" rIns="0" bIns="0" rtlCol="0" anchor="ctr">
            <a:normAutofit/>
          </a:bodyPr>
          <a:lstStyle/>
          <a:p>
            <a:pPr algn="l" indent="0" marL="0">
              <a:buNone/>
            </a:pPr>
            <a:r>
              <a:rPr lang="en-US" sz="1120" dirty="0">
                <a:solidFill>
                  <a:srgbClr val="183044"/>
                </a:solidFill>
                <a:latin typeface="Aptos" pitchFamily="34" charset="0"/>
                <a:ea typeface="Aptos" pitchFamily="34" charset="-122"/>
                <a:cs typeface="Aptos" pitchFamily="34" charset="-120"/>
              </a:rPr>
              <a:t>Lateral reading + bukti</a:t>
            </a:r>
            <a:endParaRPr lang="en-US" sz="1120" dirty="0"/>
          </a:p>
        </p:txBody>
      </p:sp>
      <p:sp>
        <p:nvSpPr>
          <p:cNvPr id="37" name="Shape 35"/>
          <p:cNvSpPr/>
          <p:nvPr/>
        </p:nvSpPr>
        <p:spPr>
          <a:xfrm>
            <a:off x="4590288" y="4572000"/>
            <a:ext cx="91440" cy="91440"/>
          </a:xfrm>
          <a:prstGeom prst="ellipse">
            <a:avLst/>
          </a:prstGeom>
          <a:solidFill>
            <a:srgbClr val="38A99A"/>
          </a:solidFill>
          <a:ln w="12700">
            <a:solidFill>
              <a:srgbClr val="38A99A">
                <a:alpha val="0"/>
              </a:srgbClr>
            </a:solidFill>
            <a:prstDash val="solid"/>
          </a:ln>
        </p:spPr>
      </p:sp>
      <p:sp>
        <p:nvSpPr>
          <p:cNvPr id="38" name="Text 36"/>
          <p:cNvSpPr/>
          <p:nvPr/>
        </p:nvSpPr>
        <p:spPr>
          <a:xfrm>
            <a:off x="4782312" y="4526280"/>
            <a:ext cx="2834640" cy="246888"/>
          </a:xfrm>
          <a:prstGeom prst="rect">
            <a:avLst/>
          </a:prstGeom>
          <a:noFill/>
          <a:ln/>
        </p:spPr>
        <p:txBody>
          <a:bodyPr wrap="square" lIns="0" tIns="0" rIns="0" bIns="0" rtlCol="0" anchor="ctr">
            <a:normAutofit/>
          </a:bodyPr>
          <a:lstStyle/>
          <a:p>
            <a:pPr algn="l" indent="0" marL="0">
              <a:buNone/>
            </a:pPr>
            <a:r>
              <a:rPr lang="en-US" sz="1120" dirty="0">
                <a:solidFill>
                  <a:srgbClr val="183044"/>
                </a:solidFill>
                <a:latin typeface="Aptos" pitchFamily="34" charset="0"/>
                <a:ea typeface="Aptos" pitchFamily="34" charset="-122"/>
                <a:cs typeface="Aptos" pitchFamily="34" charset="-120"/>
              </a:rPr>
              <a:t>LKPD dan papan Padlet</a:t>
            </a:r>
            <a:endParaRPr lang="en-US" sz="1120" dirty="0"/>
          </a:p>
        </p:txBody>
      </p:sp>
      <p:sp>
        <p:nvSpPr>
          <p:cNvPr id="39" name="Shape 37"/>
          <p:cNvSpPr/>
          <p:nvPr/>
        </p:nvSpPr>
        <p:spPr>
          <a:xfrm>
            <a:off x="4572000" y="5010912"/>
            <a:ext cx="3063240" cy="0"/>
          </a:xfrm>
          <a:prstGeom prst="line">
            <a:avLst/>
          </a:prstGeom>
          <a:noFill/>
          <a:ln w="10160">
            <a:solidFill>
              <a:srgbClr val="D9E1E8"/>
            </a:solidFill>
            <a:prstDash val="solid"/>
            <a:headEnd type="none"/>
            <a:tailEnd type="none"/>
          </a:ln>
        </p:spPr>
      </p:sp>
      <p:sp>
        <p:nvSpPr>
          <p:cNvPr id="40" name="Text 38"/>
          <p:cNvSpPr/>
          <p:nvPr/>
        </p:nvSpPr>
        <p:spPr>
          <a:xfrm>
            <a:off x="4572000" y="5093208"/>
            <a:ext cx="3063240" cy="292608"/>
          </a:xfrm>
          <a:prstGeom prst="rect">
            <a:avLst/>
          </a:prstGeom>
          <a:noFill/>
          <a:ln/>
        </p:spPr>
        <p:txBody>
          <a:bodyPr wrap="square" lIns="0" tIns="0" rIns="0" bIns="0" rtlCol="0" anchor="ctr">
            <a:normAutofit/>
          </a:bodyPr>
          <a:lstStyle/>
          <a:p>
            <a:pPr algn="l" indent="0" marL="0">
              <a:buNone/>
            </a:pPr>
            <a:r>
              <a:rPr lang="en-US" sz="1000" b="1" dirty="0">
                <a:solidFill>
                  <a:srgbClr val="38A99A"/>
                </a:solidFill>
                <a:latin typeface="Aptos" pitchFamily="34" charset="0"/>
                <a:ea typeface="Aptos" pitchFamily="34" charset="-122"/>
                <a:cs typeface="Aptos" pitchFamily="34" charset="-120"/>
              </a:rPr>
              <a:t>Keluaran: LKPD + Padlet</a:t>
            </a:r>
            <a:endParaRPr lang="en-US" sz="1000" dirty="0"/>
          </a:p>
        </p:txBody>
      </p:sp>
      <p:sp>
        <p:nvSpPr>
          <p:cNvPr id="41" name="Shape 39"/>
          <p:cNvSpPr/>
          <p:nvPr/>
        </p:nvSpPr>
        <p:spPr>
          <a:xfrm>
            <a:off x="8339328" y="1645920"/>
            <a:ext cx="457200" cy="457200"/>
          </a:xfrm>
          <a:prstGeom prst="ellipse">
            <a:avLst/>
          </a:prstGeom>
          <a:solidFill>
            <a:srgbClr val="F06A5C"/>
          </a:solidFill>
          <a:ln w="12700">
            <a:solidFill>
              <a:srgbClr val="F06A5C">
                <a:alpha val="0"/>
              </a:srgbClr>
            </a:solidFill>
            <a:prstDash val="solid"/>
          </a:ln>
        </p:spPr>
      </p:sp>
      <p:sp>
        <p:nvSpPr>
          <p:cNvPr id="42" name="Text 40"/>
          <p:cNvSpPr/>
          <p:nvPr/>
        </p:nvSpPr>
        <p:spPr>
          <a:xfrm>
            <a:off x="8339328" y="1645920"/>
            <a:ext cx="457200" cy="45720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03</a:t>
            </a:r>
            <a:endParaRPr lang="en-US" sz="1100" dirty="0"/>
          </a:p>
        </p:txBody>
      </p:sp>
      <p:sp>
        <p:nvSpPr>
          <p:cNvPr id="43" name="Shape 41"/>
          <p:cNvSpPr/>
          <p:nvPr/>
        </p:nvSpPr>
        <p:spPr>
          <a:xfrm>
            <a:off x="8138160" y="2240280"/>
            <a:ext cx="3429000" cy="3063240"/>
          </a:xfrm>
          <a:prstGeom prst="roundRect">
            <a:avLst>
              <a:gd name="adj" fmla="val 5373"/>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44" name="Shape 42"/>
          <p:cNvSpPr/>
          <p:nvPr/>
        </p:nvSpPr>
        <p:spPr>
          <a:xfrm>
            <a:off x="8138160" y="2240280"/>
            <a:ext cx="3429000" cy="566928"/>
          </a:xfrm>
          <a:prstGeom prst="roundRect">
            <a:avLst>
              <a:gd name="adj" fmla="val 25806"/>
            </a:avLst>
          </a:prstGeom>
          <a:solidFill>
            <a:srgbClr val="F06A5C"/>
          </a:solidFill>
          <a:ln w="12700">
            <a:solidFill>
              <a:srgbClr val="F06A5C">
                <a:alpha val="0"/>
              </a:srgbClr>
            </a:solidFill>
            <a:prstDash val="solid"/>
          </a:ln>
        </p:spPr>
      </p:sp>
      <p:sp>
        <p:nvSpPr>
          <p:cNvPr id="45" name="Shape 43"/>
          <p:cNvSpPr/>
          <p:nvPr/>
        </p:nvSpPr>
        <p:spPr>
          <a:xfrm>
            <a:off x="8138160" y="2587752"/>
            <a:ext cx="3429000" cy="219456"/>
          </a:xfrm>
          <a:prstGeom prst="rect">
            <a:avLst/>
          </a:prstGeom>
          <a:solidFill>
            <a:srgbClr val="F06A5C"/>
          </a:solidFill>
          <a:ln w="12700">
            <a:solidFill>
              <a:srgbClr val="F06A5C">
                <a:alpha val="0"/>
              </a:srgbClr>
            </a:solidFill>
            <a:prstDash val="solid"/>
          </a:ln>
        </p:spPr>
      </p:sp>
      <p:sp>
        <p:nvSpPr>
          <p:cNvPr id="46" name="Text 44"/>
          <p:cNvSpPr/>
          <p:nvPr/>
        </p:nvSpPr>
        <p:spPr>
          <a:xfrm>
            <a:off x="8321040" y="2368296"/>
            <a:ext cx="3063240" cy="228600"/>
          </a:xfrm>
          <a:prstGeom prst="rect">
            <a:avLst/>
          </a:prstGeom>
          <a:noFill/>
          <a:ln/>
        </p:spPr>
        <p:txBody>
          <a:bodyPr wrap="square" lIns="0" tIns="0" rIns="0" bIns="0" rtlCol="0" anchor="ctr">
            <a:normAutofit/>
          </a:bodyPr>
          <a:lstStyle/>
          <a:p>
            <a:pPr algn="l" indent="0" marL="0">
              <a:buNone/>
            </a:pPr>
            <a:r>
              <a:rPr lang="en-US" sz="1000" b="1" spc="25" kern="0" dirty="0">
                <a:solidFill>
                  <a:srgbClr val="FFFFFF"/>
                </a:solidFill>
                <a:latin typeface="Aptos" pitchFamily="34" charset="0"/>
                <a:ea typeface="Aptos" pitchFamily="34" charset="-122"/>
                <a:cs typeface="Aptos" pitchFamily="34" charset="-120"/>
              </a:rPr>
              <a:t>SESUDAH • ASINKRONUS</a:t>
            </a:r>
            <a:endParaRPr lang="en-US" sz="1000" dirty="0"/>
          </a:p>
        </p:txBody>
      </p:sp>
      <p:sp>
        <p:nvSpPr>
          <p:cNvPr id="47" name="Shape 45"/>
          <p:cNvSpPr/>
          <p:nvPr/>
        </p:nvSpPr>
        <p:spPr>
          <a:xfrm>
            <a:off x="8321040" y="2999232"/>
            <a:ext cx="960120" cy="283464"/>
          </a:xfrm>
          <a:prstGeom prst="roundRect">
            <a:avLst>
              <a:gd name="adj" fmla="val 45161"/>
            </a:avLst>
          </a:prstGeom>
          <a:solidFill>
            <a:srgbClr val="FDE8E4"/>
          </a:solidFill>
          <a:ln w="12700">
            <a:solidFill>
              <a:srgbClr val="FDE8E4">
                <a:alpha val="0"/>
              </a:srgbClr>
            </a:solidFill>
            <a:prstDash val="solid"/>
          </a:ln>
        </p:spPr>
      </p:sp>
      <p:sp>
        <p:nvSpPr>
          <p:cNvPr id="48" name="Text 46"/>
          <p:cNvSpPr/>
          <p:nvPr/>
        </p:nvSpPr>
        <p:spPr>
          <a:xfrm>
            <a:off x="8394192" y="3012948"/>
            <a:ext cx="813816" cy="265176"/>
          </a:xfrm>
          <a:prstGeom prst="rect">
            <a:avLst/>
          </a:prstGeom>
          <a:noFill/>
          <a:ln/>
        </p:spPr>
        <p:txBody>
          <a:bodyPr wrap="square" lIns="0" tIns="0" rIns="0" bIns="0" rtlCol="0" anchor="ctr">
            <a:normAutofit/>
          </a:bodyPr>
          <a:lstStyle/>
          <a:p>
            <a:pPr algn="ctr" indent="0" marL="0">
              <a:buNone/>
            </a:pPr>
            <a:r>
              <a:rPr lang="en-US" sz="900" b="1" spc="40" kern="0" dirty="0">
                <a:solidFill>
                  <a:srgbClr val="F06A5C"/>
                </a:solidFill>
                <a:latin typeface="Aptos" pitchFamily="34" charset="0"/>
                <a:ea typeface="Aptos" pitchFamily="34" charset="-122"/>
                <a:cs typeface="Aptos" pitchFamily="34" charset="-120"/>
              </a:rPr>
              <a:t>20 MENIT</a:t>
            </a:r>
            <a:endParaRPr lang="en-US" sz="900" dirty="0"/>
          </a:p>
        </p:txBody>
      </p:sp>
      <p:sp>
        <p:nvSpPr>
          <p:cNvPr id="49" name="Text 47"/>
          <p:cNvSpPr/>
          <p:nvPr/>
        </p:nvSpPr>
        <p:spPr>
          <a:xfrm>
            <a:off x="8321040" y="3438144"/>
            <a:ext cx="3063240" cy="347472"/>
          </a:xfrm>
          <a:prstGeom prst="rect">
            <a:avLst/>
          </a:prstGeom>
          <a:noFill/>
          <a:ln/>
        </p:spPr>
        <p:txBody>
          <a:bodyPr wrap="square" lIns="0" tIns="0" rIns="0" bIns="0" rtlCol="0" anchor="ctr">
            <a:normAutofit/>
          </a:bodyPr>
          <a:lstStyle/>
          <a:p>
            <a:pPr algn="l" indent="0" marL="0">
              <a:buNone/>
            </a:pPr>
            <a:r>
              <a:rPr lang="en-US" sz="1700" b="1" dirty="0">
                <a:solidFill>
                  <a:srgbClr val="102A43"/>
                </a:solidFill>
                <a:latin typeface="Aptos" pitchFamily="34" charset="0"/>
                <a:ea typeface="Aptos" pitchFamily="34" charset="-122"/>
                <a:cs typeface="Aptos" pitchFamily="34" charset="-120"/>
              </a:rPr>
              <a:t>Tegaskan pemahaman</a:t>
            </a:r>
            <a:endParaRPr lang="en-US" sz="1700" dirty="0"/>
          </a:p>
        </p:txBody>
      </p:sp>
      <p:sp>
        <p:nvSpPr>
          <p:cNvPr id="50" name="Shape 48"/>
          <p:cNvSpPr/>
          <p:nvPr/>
        </p:nvSpPr>
        <p:spPr>
          <a:xfrm>
            <a:off x="8339328" y="3931920"/>
            <a:ext cx="91440" cy="91440"/>
          </a:xfrm>
          <a:prstGeom prst="ellipse">
            <a:avLst/>
          </a:prstGeom>
          <a:solidFill>
            <a:srgbClr val="F06A5C"/>
          </a:solidFill>
          <a:ln w="12700">
            <a:solidFill>
              <a:srgbClr val="F06A5C">
                <a:alpha val="0"/>
              </a:srgbClr>
            </a:solidFill>
            <a:prstDash val="solid"/>
          </a:ln>
        </p:spPr>
      </p:sp>
      <p:sp>
        <p:nvSpPr>
          <p:cNvPr id="51" name="Text 49"/>
          <p:cNvSpPr/>
          <p:nvPr/>
        </p:nvSpPr>
        <p:spPr>
          <a:xfrm>
            <a:off x="8531352" y="3886200"/>
            <a:ext cx="2834640" cy="246888"/>
          </a:xfrm>
          <a:prstGeom prst="rect">
            <a:avLst/>
          </a:prstGeom>
          <a:noFill/>
          <a:ln/>
        </p:spPr>
        <p:txBody>
          <a:bodyPr wrap="square" lIns="0" tIns="0" rIns="0" bIns="0" rtlCol="0" anchor="ctr">
            <a:normAutofit/>
          </a:bodyPr>
          <a:lstStyle/>
          <a:p>
            <a:pPr algn="l" indent="0" marL="0">
              <a:buNone/>
            </a:pPr>
            <a:r>
              <a:rPr lang="en-US" sz="1120" dirty="0">
                <a:solidFill>
                  <a:srgbClr val="183044"/>
                </a:solidFill>
                <a:latin typeface="Aptos" pitchFamily="34" charset="0"/>
                <a:ea typeface="Aptos" pitchFamily="34" charset="-122"/>
                <a:cs typeface="Aptos" pitchFamily="34" charset="-120"/>
              </a:rPr>
              <a:t>Kerjakan ulangan harian di Mediadidik</a:t>
            </a:r>
            <a:endParaRPr lang="en-US" sz="1120" dirty="0"/>
          </a:p>
        </p:txBody>
      </p:sp>
      <p:sp>
        <p:nvSpPr>
          <p:cNvPr id="52" name="Shape 50"/>
          <p:cNvSpPr/>
          <p:nvPr/>
        </p:nvSpPr>
        <p:spPr>
          <a:xfrm>
            <a:off x="8339328" y="4251960"/>
            <a:ext cx="91440" cy="91440"/>
          </a:xfrm>
          <a:prstGeom prst="ellipse">
            <a:avLst/>
          </a:prstGeom>
          <a:solidFill>
            <a:srgbClr val="F06A5C"/>
          </a:solidFill>
          <a:ln w="12700">
            <a:solidFill>
              <a:srgbClr val="F06A5C">
                <a:alpha val="0"/>
              </a:srgbClr>
            </a:solidFill>
            <a:prstDash val="solid"/>
          </a:ln>
        </p:spPr>
      </p:sp>
      <p:sp>
        <p:nvSpPr>
          <p:cNvPr id="53" name="Text 51"/>
          <p:cNvSpPr/>
          <p:nvPr/>
        </p:nvSpPr>
        <p:spPr>
          <a:xfrm>
            <a:off x="8531352" y="4206240"/>
            <a:ext cx="2834640" cy="246888"/>
          </a:xfrm>
          <a:prstGeom prst="rect">
            <a:avLst/>
          </a:prstGeom>
          <a:noFill/>
          <a:ln/>
        </p:spPr>
        <p:txBody>
          <a:bodyPr wrap="square" lIns="0" tIns="0" rIns="0" bIns="0" rtlCol="0" anchor="ctr">
            <a:normAutofit/>
          </a:bodyPr>
          <a:lstStyle/>
          <a:p>
            <a:pPr algn="l" indent="0" marL="0">
              <a:buNone/>
            </a:pPr>
            <a:r>
              <a:rPr lang="en-US" sz="1120" dirty="0">
                <a:solidFill>
                  <a:srgbClr val="183044"/>
                </a:solidFill>
                <a:latin typeface="Aptos" pitchFamily="34" charset="0"/>
                <a:ea typeface="Aptos" pitchFamily="34" charset="-122"/>
                <a:cs typeface="Aptos" pitchFamily="34" charset="-120"/>
              </a:rPr>
              <a:t>Lengkapi/refleksi LKPD investigasi</a:t>
            </a:r>
            <a:endParaRPr lang="en-US" sz="1120" dirty="0"/>
          </a:p>
        </p:txBody>
      </p:sp>
      <p:sp>
        <p:nvSpPr>
          <p:cNvPr id="54" name="Shape 52"/>
          <p:cNvSpPr/>
          <p:nvPr/>
        </p:nvSpPr>
        <p:spPr>
          <a:xfrm>
            <a:off x="8339328" y="4572000"/>
            <a:ext cx="91440" cy="91440"/>
          </a:xfrm>
          <a:prstGeom prst="ellipse">
            <a:avLst/>
          </a:prstGeom>
          <a:solidFill>
            <a:srgbClr val="F06A5C"/>
          </a:solidFill>
          <a:ln w="12700">
            <a:solidFill>
              <a:srgbClr val="F06A5C">
                <a:alpha val="0"/>
              </a:srgbClr>
            </a:solidFill>
            <a:prstDash val="solid"/>
          </a:ln>
        </p:spPr>
      </p:sp>
      <p:sp>
        <p:nvSpPr>
          <p:cNvPr id="55" name="Text 53"/>
          <p:cNvSpPr/>
          <p:nvPr/>
        </p:nvSpPr>
        <p:spPr>
          <a:xfrm>
            <a:off x="8531352" y="4526280"/>
            <a:ext cx="2834640" cy="246888"/>
          </a:xfrm>
          <a:prstGeom prst="rect">
            <a:avLst/>
          </a:prstGeom>
          <a:noFill/>
          <a:ln/>
        </p:spPr>
        <p:txBody>
          <a:bodyPr wrap="square" lIns="0" tIns="0" rIns="0" bIns="0" rtlCol="0" anchor="ctr">
            <a:normAutofit/>
          </a:bodyPr>
          <a:lstStyle/>
          <a:p>
            <a:pPr algn="l" indent="0" marL="0">
              <a:buNone/>
            </a:pPr>
            <a:r>
              <a:rPr lang="en-US" sz="1120" dirty="0">
                <a:solidFill>
                  <a:srgbClr val="183044"/>
                </a:solidFill>
                <a:latin typeface="Aptos" pitchFamily="34" charset="0"/>
                <a:ea typeface="Aptos" pitchFamily="34" charset="-122"/>
                <a:cs typeface="Aptos" pitchFamily="34" charset="-120"/>
              </a:rPr>
              <a:t>Tindak lanjuti umpan balik guru</a:t>
            </a:r>
            <a:endParaRPr lang="en-US" sz="1120" dirty="0"/>
          </a:p>
        </p:txBody>
      </p:sp>
      <p:sp>
        <p:nvSpPr>
          <p:cNvPr id="56" name="Shape 54"/>
          <p:cNvSpPr/>
          <p:nvPr/>
        </p:nvSpPr>
        <p:spPr>
          <a:xfrm>
            <a:off x="8321040" y="5010912"/>
            <a:ext cx="3063240" cy="0"/>
          </a:xfrm>
          <a:prstGeom prst="line">
            <a:avLst/>
          </a:prstGeom>
          <a:noFill/>
          <a:ln w="10160">
            <a:solidFill>
              <a:srgbClr val="D9E1E8"/>
            </a:solidFill>
            <a:prstDash val="solid"/>
            <a:headEnd type="none"/>
            <a:tailEnd type="none"/>
          </a:ln>
        </p:spPr>
      </p:sp>
      <p:sp>
        <p:nvSpPr>
          <p:cNvPr id="57" name="Text 55"/>
          <p:cNvSpPr/>
          <p:nvPr/>
        </p:nvSpPr>
        <p:spPr>
          <a:xfrm>
            <a:off x="8321040" y="5093208"/>
            <a:ext cx="3063240" cy="292608"/>
          </a:xfrm>
          <a:prstGeom prst="rect">
            <a:avLst/>
          </a:prstGeom>
          <a:noFill/>
          <a:ln/>
        </p:spPr>
        <p:txBody>
          <a:bodyPr wrap="square" lIns="0" tIns="0" rIns="0" bIns="0" rtlCol="0" anchor="ctr">
            <a:normAutofit/>
          </a:bodyPr>
          <a:lstStyle/>
          <a:p>
            <a:pPr algn="l" indent="0" marL="0">
              <a:buNone/>
            </a:pPr>
            <a:r>
              <a:rPr lang="en-US" sz="1000" b="1" dirty="0">
                <a:solidFill>
                  <a:srgbClr val="F06A5C"/>
                </a:solidFill>
                <a:latin typeface="Aptos" pitchFamily="34" charset="0"/>
                <a:ea typeface="Aptos" pitchFamily="34" charset="-122"/>
                <a:cs typeface="Aptos" pitchFamily="34" charset="-120"/>
              </a:rPr>
              <a:t>Keluaran: hasil UH + refleksi</a:t>
            </a:r>
            <a:endParaRPr lang="en-US" sz="1000" dirty="0"/>
          </a:p>
        </p:txBody>
      </p:sp>
      <p:sp>
        <p:nvSpPr>
          <p:cNvPr id="58" name="Shape 56"/>
          <p:cNvSpPr/>
          <p:nvPr/>
        </p:nvSpPr>
        <p:spPr>
          <a:xfrm>
            <a:off x="1920240" y="5669280"/>
            <a:ext cx="8321040" cy="310896"/>
          </a:xfrm>
          <a:prstGeom prst="roundRect">
            <a:avLst>
              <a:gd name="adj" fmla="val 41176"/>
            </a:avLst>
          </a:prstGeom>
          <a:solidFill>
            <a:srgbClr val="FFF4CC"/>
          </a:solidFill>
          <a:ln w="12700">
            <a:solidFill>
              <a:srgbClr val="FFF4CC">
                <a:alpha val="0"/>
              </a:srgbClr>
            </a:solidFill>
            <a:prstDash val="solid"/>
          </a:ln>
        </p:spPr>
      </p:sp>
      <p:sp>
        <p:nvSpPr>
          <p:cNvPr id="59" name="Text 57"/>
          <p:cNvSpPr/>
          <p:nvPr/>
        </p:nvSpPr>
        <p:spPr>
          <a:xfrm>
            <a:off x="1993392" y="5682996"/>
            <a:ext cx="8174736"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795D0A"/>
                </a:solidFill>
                <a:latin typeface="Aptos" pitchFamily="34" charset="0"/>
                <a:ea typeface="Aptos" pitchFamily="34" charset="-122"/>
                <a:cs typeface="Aptos" pitchFamily="34" charset="-120"/>
              </a:rPr>
              <a:t>PERTEMUAN SINKRONUS DAPAT DILAKUKAN TATAP MUKA ATAU KONFERENSI VIDEO</a:t>
            </a:r>
            <a:endParaRPr lang="en-US" sz="90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37587"/>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66928" y="329184"/>
            <a:ext cx="2066544" cy="274320"/>
          </a:xfrm>
          <a:prstGeom prst="roundRect">
            <a:avLst>
              <a:gd name="adj" fmla="val 46667"/>
            </a:avLst>
          </a:prstGeom>
          <a:solidFill>
            <a:srgbClr val="DDF4EC"/>
          </a:solidFill>
          <a:ln w="12700">
            <a:solidFill>
              <a:srgbClr val="DDF4EC">
                <a:alpha val="0"/>
              </a:srgbClr>
            </a:solidFill>
            <a:prstDash val="solid"/>
          </a:ln>
        </p:spPr>
      </p:sp>
      <p:sp>
        <p:nvSpPr>
          <p:cNvPr id="3" name="Text 1"/>
          <p:cNvSpPr/>
          <p:nvPr/>
        </p:nvSpPr>
        <p:spPr>
          <a:xfrm>
            <a:off x="640080" y="342900"/>
            <a:ext cx="1920240" cy="256032"/>
          </a:xfrm>
          <a:prstGeom prst="rect">
            <a:avLst/>
          </a:prstGeom>
          <a:noFill/>
          <a:ln/>
        </p:spPr>
        <p:txBody>
          <a:bodyPr wrap="square" lIns="0" tIns="0" rIns="0" bIns="0" rtlCol="0" anchor="ctr">
            <a:normAutofit/>
          </a:bodyPr>
          <a:lstStyle/>
          <a:p>
            <a:pPr algn="ctr" indent="0" marL="0">
              <a:buNone/>
            </a:pPr>
            <a:r>
              <a:rPr lang="en-US" sz="850" b="1" spc="40" kern="0" dirty="0">
                <a:solidFill>
                  <a:srgbClr val="18766F"/>
                </a:solidFill>
                <a:latin typeface="Aptos" pitchFamily="34" charset="0"/>
                <a:ea typeface="Aptos" pitchFamily="34" charset="-122"/>
                <a:cs typeface="Aptos" pitchFamily="34" charset="-120"/>
              </a:rPr>
              <a:t>05 • SKENARIO PERTEMUAN</a:t>
            </a:r>
            <a:endParaRPr lang="en-US" sz="850" dirty="0"/>
          </a:p>
        </p:txBody>
      </p:sp>
      <p:sp>
        <p:nvSpPr>
          <p:cNvPr id="4" name="Text 2"/>
          <p:cNvSpPr/>
          <p:nvPr/>
        </p:nvSpPr>
        <p:spPr>
          <a:xfrm>
            <a:off x="566928" y="749808"/>
            <a:ext cx="10972800" cy="548640"/>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90 menit investigasi terbimbing</a:t>
            </a:r>
            <a:endParaRPr lang="en-US" sz="2800" dirty="0"/>
          </a:p>
        </p:txBody>
      </p:sp>
      <p:sp>
        <p:nvSpPr>
          <p:cNvPr id="5" name="Text 3"/>
          <p:cNvSpPr/>
          <p:nvPr/>
        </p:nvSpPr>
        <p:spPr>
          <a:xfrm>
            <a:off x="585216" y="1307592"/>
            <a:ext cx="10881360" cy="329184"/>
          </a:xfrm>
          <a:prstGeom prst="rect">
            <a:avLst/>
          </a:prstGeom>
          <a:noFill/>
          <a:ln/>
        </p:spPr>
        <p:txBody>
          <a:bodyPr wrap="square" lIns="0" tIns="0" rIns="0" bIns="0" rtlCol="0" anchor="ctr">
            <a:normAutofit/>
          </a:bodyPr>
          <a:lstStyle/>
          <a:p>
            <a:pPr algn="l" indent="0" marL="0">
              <a:buNone/>
            </a:pPr>
            <a:r>
              <a:rPr lang="en-US" sz="1250" dirty="0">
                <a:solidFill>
                  <a:srgbClr val="617587"/>
                </a:solidFill>
                <a:latin typeface="Aptos" pitchFamily="34" charset="0"/>
                <a:ea typeface="Aptos" pitchFamily="34" charset="-122"/>
                <a:cs typeface="Aptos" pitchFamily="34" charset="-120"/>
              </a:rPr>
              <a:t>Tiap tahap menghasilkan bukti yang bisa dilihat dan ditindaklanjuti guru.</a:t>
            </a:r>
            <a:endParaRPr lang="en-US" sz="1250" dirty="0"/>
          </a:p>
        </p:txBody>
      </p:sp>
      <p:sp>
        <p:nvSpPr>
          <p:cNvPr id="6" name="Shape 4"/>
          <p:cNvSpPr/>
          <p:nvPr/>
        </p:nvSpPr>
        <p:spPr>
          <a:xfrm>
            <a:off x="612648" y="1828800"/>
            <a:ext cx="1196340" cy="310896"/>
          </a:xfrm>
          <a:prstGeom prst="roundRect">
            <a:avLst>
              <a:gd name="adj" fmla="val 11765"/>
            </a:avLst>
          </a:prstGeom>
          <a:solidFill>
            <a:srgbClr val="2F6690"/>
          </a:solidFill>
          <a:ln w="12700">
            <a:solidFill>
              <a:srgbClr val="2F6690">
                <a:alpha val="0"/>
              </a:srgbClr>
            </a:solidFill>
            <a:prstDash val="solid"/>
          </a:ln>
        </p:spPr>
      </p:sp>
      <p:sp>
        <p:nvSpPr>
          <p:cNvPr id="7" name="Text 5"/>
          <p:cNvSpPr/>
          <p:nvPr/>
        </p:nvSpPr>
        <p:spPr>
          <a:xfrm>
            <a:off x="612648" y="1828800"/>
            <a:ext cx="1196340" cy="31089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10m</a:t>
            </a:r>
            <a:endParaRPr lang="en-US" sz="900" dirty="0"/>
          </a:p>
        </p:txBody>
      </p:sp>
      <p:sp>
        <p:nvSpPr>
          <p:cNvPr id="8" name="Shape 6"/>
          <p:cNvSpPr/>
          <p:nvPr/>
        </p:nvSpPr>
        <p:spPr>
          <a:xfrm>
            <a:off x="1831848" y="1828800"/>
            <a:ext cx="1196340" cy="310896"/>
          </a:xfrm>
          <a:prstGeom prst="roundRect">
            <a:avLst>
              <a:gd name="adj" fmla="val 11765"/>
            </a:avLst>
          </a:prstGeom>
          <a:solidFill>
            <a:srgbClr val="7868B5"/>
          </a:solidFill>
          <a:ln w="12700">
            <a:solidFill>
              <a:srgbClr val="7868B5">
                <a:alpha val="0"/>
              </a:srgbClr>
            </a:solidFill>
            <a:prstDash val="solid"/>
          </a:ln>
        </p:spPr>
      </p:sp>
      <p:sp>
        <p:nvSpPr>
          <p:cNvPr id="9" name="Text 7"/>
          <p:cNvSpPr/>
          <p:nvPr/>
        </p:nvSpPr>
        <p:spPr>
          <a:xfrm>
            <a:off x="1831848" y="1828800"/>
            <a:ext cx="1196340" cy="31089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10m</a:t>
            </a:r>
            <a:endParaRPr lang="en-US" sz="900" dirty="0"/>
          </a:p>
        </p:txBody>
      </p:sp>
      <p:sp>
        <p:nvSpPr>
          <p:cNvPr id="10" name="Shape 8"/>
          <p:cNvSpPr/>
          <p:nvPr/>
        </p:nvSpPr>
        <p:spPr>
          <a:xfrm>
            <a:off x="3051048" y="1828800"/>
            <a:ext cx="1196340" cy="310896"/>
          </a:xfrm>
          <a:prstGeom prst="roundRect">
            <a:avLst>
              <a:gd name="adj" fmla="val 11765"/>
            </a:avLst>
          </a:prstGeom>
          <a:solidFill>
            <a:srgbClr val="F4C95D"/>
          </a:solidFill>
          <a:ln w="12700">
            <a:solidFill>
              <a:srgbClr val="F4C95D">
                <a:alpha val="0"/>
              </a:srgbClr>
            </a:solidFill>
            <a:prstDash val="solid"/>
          </a:ln>
        </p:spPr>
      </p:sp>
      <p:sp>
        <p:nvSpPr>
          <p:cNvPr id="11" name="Text 9"/>
          <p:cNvSpPr/>
          <p:nvPr/>
        </p:nvSpPr>
        <p:spPr>
          <a:xfrm>
            <a:off x="3051048" y="1828800"/>
            <a:ext cx="1196340" cy="310896"/>
          </a:xfrm>
          <a:prstGeom prst="rect">
            <a:avLst/>
          </a:prstGeom>
          <a:noFill/>
          <a:ln/>
        </p:spPr>
        <p:txBody>
          <a:bodyPr wrap="square" lIns="0" tIns="0" rIns="0" bIns="0" rtlCol="0" anchor="ctr">
            <a:normAutofit/>
          </a:bodyPr>
          <a:lstStyle/>
          <a:p>
            <a:pPr algn="ctr" indent="0" marL="0">
              <a:buNone/>
            </a:pPr>
            <a:r>
              <a:rPr lang="en-US" sz="900" b="1" dirty="0">
                <a:solidFill>
                  <a:srgbClr val="102A43"/>
                </a:solidFill>
                <a:latin typeface="Aptos" pitchFamily="34" charset="0"/>
                <a:ea typeface="Aptos" pitchFamily="34" charset="-122"/>
                <a:cs typeface="Aptos" pitchFamily="34" charset="-120"/>
              </a:rPr>
              <a:t>10m</a:t>
            </a:r>
            <a:endParaRPr lang="en-US" sz="900" dirty="0"/>
          </a:p>
        </p:txBody>
      </p:sp>
      <p:sp>
        <p:nvSpPr>
          <p:cNvPr id="12" name="Shape 10"/>
          <p:cNvSpPr/>
          <p:nvPr/>
        </p:nvSpPr>
        <p:spPr>
          <a:xfrm>
            <a:off x="4270248" y="1828800"/>
            <a:ext cx="3025140" cy="310896"/>
          </a:xfrm>
          <a:prstGeom prst="roundRect">
            <a:avLst>
              <a:gd name="adj" fmla="val 11765"/>
            </a:avLst>
          </a:prstGeom>
          <a:solidFill>
            <a:srgbClr val="38A99A"/>
          </a:solidFill>
          <a:ln w="12700">
            <a:solidFill>
              <a:srgbClr val="38A99A">
                <a:alpha val="0"/>
              </a:srgbClr>
            </a:solidFill>
            <a:prstDash val="solid"/>
          </a:ln>
        </p:spPr>
      </p:sp>
      <p:sp>
        <p:nvSpPr>
          <p:cNvPr id="13" name="Text 11"/>
          <p:cNvSpPr/>
          <p:nvPr/>
        </p:nvSpPr>
        <p:spPr>
          <a:xfrm>
            <a:off x="4270248" y="1828800"/>
            <a:ext cx="3025140" cy="31089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25m</a:t>
            </a:r>
            <a:endParaRPr lang="en-US" sz="900" dirty="0"/>
          </a:p>
        </p:txBody>
      </p:sp>
      <p:sp>
        <p:nvSpPr>
          <p:cNvPr id="14" name="Shape 12"/>
          <p:cNvSpPr/>
          <p:nvPr/>
        </p:nvSpPr>
        <p:spPr>
          <a:xfrm>
            <a:off x="7318248" y="1828800"/>
            <a:ext cx="1805940" cy="310896"/>
          </a:xfrm>
          <a:prstGeom prst="roundRect">
            <a:avLst>
              <a:gd name="adj" fmla="val 11765"/>
            </a:avLst>
          </a:prstGeom>
          <a:solidFill>
            <a:srgbClr val="F06A5C"/>
          </a:solidFill>
          <a:ln w="12700">
            <a:solidFill>
              <a:srgbClr val="F06A5C">
                <a:alpha val="0"/>
              </a:srgbClr>
            </a:solidFill>
            <a:prstDash val="solid"/>
          </a:ln>
        </p:spPr>
      </p:sp>
      <p:sp>
        <p:nvSpPr>
          <p:cNvPr id="15" name="Text 13"/>
          <p:cNvSpPr/>
          <p:nvPr/>
        </p:nvSpPr>
        <p:spPr>
          <a:xfrm>
            <a:off x="7318248" y="1828800"/>
            <a:ext cx="1805940" cy="31089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15m</a:t>
            </a:r>
            <a:endParaRPr lang="en-US" sz="900" dirty="0"/>
          </a:p>
        </p:txBody>
      </p:sp>
      <p:sp>
        <p:nvSpPr>
          <p:cNvPr id="16" name="Shape 14"/>
          <p:cNvSpPr/>
          <p:nvPr/>
        </p:nvSpPr>
        <p:spPr>
          <a:xfrm>
            <a:off x="9147048" y="1828800"/>
            <a:ext cx="1196340" cy="310896"/>
          </a:xfrm>
          <a:prstGeom prst="roundRect">
            <a:avLst>
              <a:gd name="adj" fmla="val 11765"/>
            </a:avLst>
          </a:prstGeom>
          <a:solidFill>
            <a:srgbClr val="2F6690"/>
          </a:solidFill>
          <a:ln w="12700">
            <a:solidFill>
              <a:srgbClr val="2F6690">
                <a:alpha val="0"/>
              </a:srgbClr>
            </a:solidFill>
            <a:prstDash val="solid"/>
          </a:ln>
        </p:spPr>
      </p:sp>
      <p:sp>
        <p:nvSpPr>
          <p:cNvPr id="17" name="Text 15"/>
          <p:cNvSpPr/>
          <p:nvPr/>
        </p:nvSpPr>
        <p:spPr>
          <a:xfrm>
            <a:off x="9147048" y="1828800"/>
            <a:ext cx="1196340" cy="31089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10m</a:t>
            </a:r>
            <a:endParaRPr lang="en-US" sz="900" dirty="0"/>
          </a:p>
        </p:txBody>
      </p:sp>
      <p:sp>
        <p:nvSpPr>
          <p:cNvPr id="18" name="Shape 16"/>
          <p:cNvSpPr/>
          <p:nvPr/>
        </p:nvSpPr>
        <p:spPr>
          <a:xfrm>
            <a:off x="10366248" y="1828800"/>
            <a:ext cx="1196340" cy="310896"/>
          </a:xfrm>
          <a:prstGeom prst="roundRect">
            <a:avLst>
              <a:gd name="adj" fmla="val 11765"/>
            </a:avLst>
          </a:prstGeom>
          <a:solidFill>
            <a:srgbClr val="18766F"/>
          </a:solidFill>
          <a:ln w="12700">
            <a:solidFill>
              <a:srgbClr val="18766F">
                <a:alpha val="0"/>
              </a:srgbClr>
            </a:solidFill>
            <a:prstDash val="solid"/>
          </a:ln>
        </p:spPr>
      </p:sp>
      <p:sp>
        <p:nvSpPr>
          <p:cNvPr id="19" name="Text 17"/>
          <p:cNvSpPr/>
          <p:nvPr/>
        </p:nvSpPr>
        <p:spPr>
          <a:xfrm>
            <a:off x="10366248" y="1828800"/>
            <a:ext cx="1196340" cy="31089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10m</a:t>
            </a:r>
            <a:endParaRPr lang="en-US" sz="900" dirty="0"/>
          </a:p>
        </p:txBody>
      </p:sp>
      <p:sp>
        <p:nvSpPr>
          <p:cNvPr id="20" name="Shape 18"/>
          <p:cNvSpPr/>
          <p:nvPr/>
        </p:nvSpPr>
        <p:spPr>
          <a:xfrm>
            <a:off x="621792" y="2432304"/>
            <a:ext cx="2606040" cy="1234440"/>
          </a:xfrm>
          <a:prstGeom prst="roundRect">
            <a:avLst>
              <a:gd name="adj" fmla="val 10370"/>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21" name="Shape 19"/>
          <p:cNvSpPr/>
          <p:nvPr/>
        </p:nvSpPr>
        <p:spPr>
          <a:xfrm>
            <a:off x="621792" y="2432304"/>
            <a:ext cx="82296" cy="1234440"/>
          </a:xfrm>
          <a:prstGeom prst="roundRect">
            <a:avLst>
              <a:gd name="adj" fmla="val 33333"/>
            </a:avLst>
          </a:prstGeom>
          <a:solidFill>
            <a:srgbClr val="2F6690"/>
          </a:solidFill>
          <a:ln w="12700">
            <a:solidFill>
              <a:srgbClr val="2F6690">
                <a:alpha val="0"/>
              </a:srgbClr>
            </a:solidFill>
            <a:prstDash val="solid"/>
          </a:ln>
        </p:spPr>
      </p:sp>
      <p:sp>
        <p:nvSpPr>
          <p:cNvPr id="22" name="Shape 20"/>
          <p:cNvSpPr/>
          <p:nvPr/>
        </p:nvSpPr>
        <p:spPr>
          <a:xfrm>
            <a:off x="786384" y="2596896"/>
            <a:ext cx="310896" cy="310896"/>
          </a:xfrm>
          <a:prstGeom prst="ellipse">
            <a:avLst/>
          </a:prstGeom>
          <a:solidFill>
            <a:srgbClr val="2F6690"/>
          </a:solidFill>
          <a:ln w="12700">
            <a:solidFill>
              <a:srgbClr val="2F6690">
                <a:alpha val="0"/>
              </a:srgbClr>
            </a:solidFill>
            <a:prstDash val="solid"/>
          </a:ln>
        </p:spPr>
      </p:sp>
      <p:sp>
        <p:nvSpPr>
          <p:cNvPr id="23" name="Text 21"/>
          <p:cNvSpPr/>
          <p:nvPr/>
        </p:nvSpPr>
        <p:spPr>
          <a:xfrm>
            <a:off x="786384" y="2596896"/>
            <a:ext cx="310896"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24" name="Text 22"/>
          <p:cNvSpPr/>
          <p:nvPr/>
        </p:nvSpPr>
        <p:spPr>
          <a:xfrm>
            <a:off x="1188720" y="2569464"/>
            <a:ext cx="1856232" cy="310896"/>
          </a:xfrm>
          <a:prstGeom prst="rect">
            <a:avLst/>
          </a:prstGeom>
          <a:noFill/>
          <a:ln/>
        </p:spPr>
        <p:txBody>
          <a:bodyPr wrap="square" lIns="0" tIns="0" rIns="0" bIns="0" rtlCol="0" anchor="ctr">
            <a:normAutofit/>
          </a:bodyPr>
          <a:lstStyle/>
          <a:p>
            <a:pPr algn="l" indent="0" marL="0">
              <a:buNone/>
            </a:pPr>
            <a:r>
              <a:rPr lang="en-US" sz="1320" b="1" dirty="0">
                <a:solidFill>
                  <a:srgbClr val="102A43"/>
                </a:solidFill>
                <a:latin typeface="Aptos" pitchFamily="34" charset="0"/>
                <a:ea typeface="Aptos" pitchFamily="34" charset="-122"/>
                <a:cs typeface="Aptos" pitchFamily="34" charset="-120"/>
              </a:rPr>
              <a:t>Orientasi</a:t>
            </a:r>
            <a:endParaRPr lang="en-US" sz="1320" dirty="0"/>
          </a:p>
        </p:txBody>
      </p:sp>
      <p:sp>
        <p:nvSpPr>
          <p:cNvPr id="25" name="Shape 23"/>
          <p:cNvSpPr/>
          <p:nvPr/>
        </p:nvSpPr>
        <p:spPr>
          <a:xfrm>
            <a:off x="786384" y="2999232"/>
            <a:ext cx="640080" cy="210312"/>
          </a:xfrm>
          <a:prstGeom prst="roundRect">
            <a:avLst>
              <a:gd name="adj" fmla="val 60870"/>
            </a:avLst>
          </a:prstGeom>
          <a:solidFill>
            <a:srgbClr val="F0F3F5"/>
          </a:solidFill>
          <a:ln w="12700">
            <a:solidFill>
              <a:srgbClr val="F0F3F5">
                <a:alpha val="0"/>
              </a:srgbClr>
            </a:solidFill>
            <a:prstDash val="solid"/>
          </a:ln>
        </p:spPr>
      </p:sp>
      <p:sp>
        <p:nvSpPr>
          <p:cNvPr id="26" name="Text 24"/>
          <p:cNvSpPr/>
          <p:nvPr/>
        </p:nvSpPr>
        <p:spPr>
          <a:xfrm>
            <a:off x="859536" y="3012948"/>
            <a:ext cx="493776" cy="192024"/>
          </a:xfrm>
          <a:prstGeom prst="rect">
            <a:avLst/>
          </a:prstGeom>
          <a:noFill/>
          <a:ln/>
        </p:spPr>
        <p:txBody>
          <a:bodyPr wrap="square" lIns="0" tIns="0" rIns="0" bIns="0" rtlCol="0" anchor="ctr">
            <a:normAutofit/>
          </a:bodyPr>
          <a:lstStyle/>
          <a:p>
            <a:pPr algn="ctr" indent="0" marL="0">
              <a:buNone/>
            </a:pPr>
            <a:r>
              <a:rPr lang="en-US" sz="800" b="1" spc="40" kern="0" dirty="0">
                <a:solidFill>
                  <a:srgbClr val="617587"/>
                </a:solidFill>
                <a:latin typeface="Aptos" pitchFamily="34" charset="0"/>
                <a:ea typeface="Aptos" pitchFamily="34" charset="-122"/>
                <a:cs typeface="Aptos" pitchFamily="34" charset="-120"/>
              </a:rPr>
              <a:t>10 mnt</a:t>
            </a:r>
            <a:endParaRPr lang="en-US" sz="800" dirty="0"/>
          </a:p>
        </p:txBody>
      </p:sp>
      <p:sp>
        <p:nvSpPr>
          <p:cNvPr id="27" name="Text 25"/>
          <p:cNvSpPr/>
          <p:nvPr/>
        </p:nvSpPr>
        <p:spPr>
          <a:xfrm>
            <a:off x="786384" y="3264408"/>
            <a:ext cx="2276856" cy="329184"/>
          </a:xfrm>
          <a:prstGeom prst="rect">
            <a:avLst/>
          </a:prstGeom>
          <a:noFill/>
          <a:ln/>
        </p:spPr>
        <p:txBody>
          <a:bodyPr wrap="square" lIns="0" tIns="0" rIns="0" bIns="0" rtlCol="0" anchor="t">
            <a:normAutofit/>
          </a:bodyPr>
          <a:lstStyle/>
          <a:p>
            <a:pPr algn="l" indent="0" marL="0">
              <a:buNone/>
            </a:pPr>
            <a:r>
              <a:rPr lang="en-US" sz="960" dirty="0">
                <a:solidFill>
                  <a:srgbClr val="183044"/>
                </a:solidFill>
                <a:latin typeface="Aptos" pitchFamily="34" charset="0"/>
                <a:ea typeface="Aptos" pitchFamily="34" charset="-122"/>
                <a:cs typeface="Aptos" pitchFamily="34" charset="-120"/>
              </a:rPr>
              <a:t>Amati pesan dan video simulasi; jangan buka tautan aktif.</a:t>
            </a:r>
            <a:endParaRPr lang="en-US" sz="960" dirty="0"/>
          </a:p>
        </p:txBody>
      </p:sp>
      <p:sp>
        <p:nvSpPr>
          <p:cNvPr id="28" name="Shape 26"/>
          <p:cNvSpPr/>
          <p:nvPr/>
        </p:nvSpPr>
        <p:spPr>
          <a:xfrm>
            <a:off x="3410712" y="2432304"/>
            <a:ext cx="2606040" cy="1234440"/>
          </a:xfrm>
          <a:prstGeom prst="roundRect">
            <a:avLst>
              <a:gd name="adj" fmla="val 10370"/>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29" name="Shape 27"/>
          <p:cNvSpPr/>
          <p:nvPr/>
        </p:nvSpPr>
        <p:spPr>
          <a:xfrm>
            <a:off x="3410712" y="2432304"/>
            <a:ext cx="82296" cy="1234440"/>
          </a:xfrm>
          <a:prstGeom prst="roundRect">
            <a:avLst>
              <a:gd name="adj" fmla="val 33333"/>
            </a:avLst>
          </a:prstGeom>
          <a:solidFill>
            <a:srgbClr val="7868B5"/>
          </a:solidFill>
          <a:ln w="12700">
            <a:solidFill>
              <a:srgbClr val="7868B5">
                <a:alpha val="0"/>
              </a:srgbClr>
            </a:solidFill>
            <a:prstDash val="solid"/>
          </a:ln>
        </p:spPr>
      </p:sp>
      <p:sp>
        <p:nvSpPr>
          <p:cNvPr id="30" name="Shape 28"/>
          <p:cNvSpPr/>
          <p:nvPr/>
        </p:nvSpPr>
        <p:spPr>
          <a:xfrm>
            <a:off x="3575304" y="2596896"/>
            <a:ext cx="310896" cy="310896"/>
          </a:xfrm>
          <a:prstGeom prst="ellipse">
            <a:avLst/>
          </a:prstGeom>
          <a:solidFill>
            <a:srgbClr val="7868B5"/>
          </a:solidFill>
          <a:ln w="12700">
            <a:solidFill>
              <a:srgbClr val="7868B5">
                <a:alpha val="0"/>
              </a:srgbClr>
            </a:solidFill>
            <a:prstDash val="solid"/>
          </a:ln>
        </p:spPr>
      </p:sp>
      <p:sp>
        <p:nvSpPr>
          <p:cNvPr id="31" name="Text 29"/>
          <p:cNvSpPr/>
          <p:nvPr/>
        </p:nvSpPr>
        <p:spPr>
          <a:xfrm>
            <a:off x="3575304" y="2596896"/>
            <a:ext cx="310896"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32" name="Text 30"/>
          <p:cNvSpPr/>
          <p:nvPr/>
        </p:nvSpPr>
        <p:spPr>
          <a:xfrm>
            <a:off x="3977640" y="2569464"/>
            <a:ext cx="1856232" cy="310896"/>
          </a:xfrm>
          <a:prstGeom prst="rect">
            <a:avLst/>
          </a:prstGeom>
          <a:noFill/>
          <a:ln/>
        </p:spPr>
        <p:txBody>
          <a:bodyPr wrap="square" lIns="0" tIns="0" rIns="0" bIns="0" rtlCol="0" anchor="ctr">
            <a:normAutofit/>
          </a:bodyPr>
          <a:lstStyle/>
          <a:p>
            <a:pPr algn="l" indent="0" marL="0">
              <a:buNone/>
            </a:pPr>
            <a:r>
              <a:rPr lang="en-US" sz="1320" b="1" dirty="0">
                <a:solidFill>
                  <a:srgbClr val="102A43"/>
                </a:solidFill>
                <a:latin typeface="Aptos" pitchFamily="34" charset="0"/>
                <a:ea typeface="Aptos" pitchFamily="34" charset="-122"/>
                <a:cs typeface="Aptos" pitchFamily="34" charset="-120"/>
              </a:rPr>
              <a:t>Rumuskan masalah</a:t>
            </a:r>
            <a:endParaRPr lang="en-US" sz="1320" dirty="0"/>
          </a:p>
        </p:txBody>
      </p:sp>
      <p:sp>
        <p:nvSpPr>
          <p:cNvPr id="33" name="Shape 31"/>
          <p:cNvSpPr/>
          <p:nvPr/>
        </p:nvSpPr>
        <p:spPr>
          <a:xfrm>
            <a:off x="3575304" y="2999232"/>
            <a:ext cx="640080" cy="210312"/>
          </a:xfrm>
          <a:prstGeom prst="roundRect">
            <a:avLst>
              <a:gd name="adj" fmla="val 60870"/>
            </a:avLst>
          </a:prstGeom>
          <a:solidFill>
            <a:srgbClr val="F0F3F5"/>
          </a:solidFill>
          <a:ln w="12700">
            <a:solidFill>
              <a:srgbClr val="F0F3F5">
                <a:alpha val="0"/>
              </a:srgbClr>
            </a:solidFill>
            <a:prstDash val="solid"/>
          </a:ln>
        </p:spPr>
      </p:sp>
      <p:sp>
        <p:nvSpPr>
          <p:cNvPr id="34" name="Text 32"/>
          <p:cNvSpPr/>
          <p:nvPr/>
        </p:nvSpPr>
        <p:spPr>
          <a:xfrm>
            <a:off x="3648456" y="3012948"/>
            <a:ext cx="493776" cy="192024"/>
          </a:xfrm>
          <a:prstGeom prst="rect">
            <a:avLst/>
          </a:prstGeom>
          <a:noFill/>
          <a:ln/>
        </p:spPr>
        <p:txBody>
          <a:bodyPr wrap="square" lIns="0" tIns="0" rIns="0" bIns="0" rtlCol="0" anchor="ctr">
            <a:normAutofit/>
          </a:bodyPr>
          <a:lstStyle/>
          <a:p>
            <a:pPr algn="ctr" indent="0" marL="0">
              <a:buNone/>
            </a:pPr>
            <a:r>
              <a:rPr lang="en-US" sz="800" b="1" spc="40" kern="0" dirty="0">
                <a:solidFill>
                  <a:srgbClr val="617587"/>
                </a:solidFill>
                <a:latin typeface="Aptos" pitchFamily="34" charset="0"/>
                <a:ea typeface="Aptos" pitchFamily="34" charset="-122"/>
                <a:cs typeface="Aptos" pitchFamily="34" charset="-120"/>
              </a:rPr>
              <a:t>10 mnt</a:t>
            </a:r>
            <a:endParaRPr lang="en-US" sz="800" dirty="0"/>
          </a:p>
        </p:txBody>
      </p:sp>
      <p:sp>
        <p:nvSpPr>
          <p:cNvPr id="35" name="Text 33"/>
          <p:cNvSpPr/>
          <p:nvPr/>
        </p:nvSpPr>
        <p:spPr>
          <a:xfrm>
            <a:off x="3575304" y="3264408"/>
            <a:ext cx="2276856" cy="329184"/>
          </a:xfrm>
          <a:prstGeom prst="rect">
            <a:avLst/>
          </a:prstGeom>
          <a:noFill/>
          <a:ln/>
        </p:spPr>
        <p:txBody>
          <a:bodyPr wrap="square" lIns="0" tIns="0" rIns="0" bIns="0" rtlCol="0" anchor="t">
            <a:normAutofit/>
          </a:bodyPr>
          <a:lstStyle/>
          <a:p>
            <a:pPr algn="l" indent="0" marL="0">
              <a:buNone/>
            </a:pPr>
            <a:r>
              <a:rPr lang="en-US" sz="960" dirty="0">
                <a:solidFill>
                  <a:srgbClr val="183044"/>
                </a:solidFill>
                <a:latin typeface="Aptos" pitchFamily="34" charset="0"/>
                <a:ea typeface="Aptos" pitchFamily="34" charset="-122"/>
                <a:cs typeface="Aptos" pitchFamily="34" charset="-120"/>
              </a:rPr>
              <a:t>Kirim pertanyaan/dugaan melalui kanal anonim.</a:t>
            </a:r>
            <a:endParaRPr lang="en-US" sz="960" dirty="0"/>
          </a:p>
        </p:txBody>
      </p:sp>
      <p:sp>
        <p:nvSpPr>
          <p:cNvPr id="36" name="Shape 34"/>
          <p:cNvSpPr/>
          <p:nvPr/>
        </p:nvSpPr>
        <p:spPr>
          <a:xfrm>
            <a:off x="6199632" y="2432304"/>
            <a:ext cx="2606040" cy="1234440"/>
          </a:xfrm>
          <a:prstGeom prst="roundRect">
            <a:avLst>
              <a:gd name="adj" fmla="val 10370"/>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37" name="Shape 35"/>
          <p:cNvSpPr/>
          <p:nvPr/>
        </p:nvSpPr>
        <p:spPr>
          <a:xfrm>
            <a:off x="6199632" y="2432304"/>
            <a:ext cx="82296" cy="1234440"/>
          </a:xfrm>
          <a:prstGeom prst="roundRect">
            <a:avLst>
              <a:gd name="adj" fmla="val 33333"/>
            </a:avLst>
          </a:prstGeom>
          <a:solidFill>
            <a:srgbClr val="B58D13"/>
          </a:solidFill>
          <a:ln w="12700">
            <a:solidFill>
              <a:srgbClr val="B58D13">
                <a:alpha val="0"/>
              </a:srgbClr>
            </a:solidFill>
            <a:prstDash val="solid"/>
          </a:ln>
        </p:spPr>
      </p:sp>
      <p:sp>
        <p:nvSpPr>
          <p:cNvPr id="38" name="Shape 36"/>
          <p:cNvSpPr/>
          <p:nvPr/>
        </p:nvSpPr>
        <p:spPr>
          <a:xfrm>
            <a:off x="6364224" y="2596896"/>
            <a:ext cx="310896" cy="310896"/>
          </a:xfrm>
          <a:prstGeom prst="ellipse">
            <a:avLst/>
          </a:prstGeom>
          <a:solidFill>
            <a:srgbClr val="B58D13"/>
          </a:solidFill>
          <a:ln w="12700">
            <a:solidFill>
              <a:srgbClr val="B58D13">
                <a:alpha val="0"/>
              </a:srgbClr>
            </a:solidFill>
            <a:prstDash val="solid"/>
          </a:ln>
        </p:spPr>
      </p:sp>
      <p:sp>
        <p:nvSpPr>
          <p:cNvPr id="39" name="Text 37"/>
          <p:cNvSpPr/>
          <p:nvPr/>
        </p:nvSpPr>
        <p:spPr>
          <a:xfrm>
            <a:off x="6364224" y="2596896"/>
            <a:ext cx="310896"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40" name="Text 38"/>
          <p:cNvSpPr/>
          <p:nvPr/>
        </p:nvSpPr>
        <p:spPr>
          <a:xfrm>
            <a:off x="6766560" y="2569464"/>
            <a:ext cx="1856232" cy="310896"/>
          </a:xfrm>
          <a:prstGeom prst="rect">
            <a:avLst/>
          </a:prstGeom>
          <a:noFill/>
          <a:ln/>
        </p:spPr>
        <p:txBody>
          <a:bodyPr wrap="square" lIns="0" tIns="0" rIns="0" bIns="0" rtlCol="0" anchor="ctr">
            <a:normAutofit/>
          </a:bodyPr>
          <a:lstStyle/>
          <a:p>
            <a:pPr algn="l" indent="0" marL="0">
              <a:buNone/>
            </a:pPr>
            <a:r>
              <a:rPr lang="en-US" sz="1320" b="1" dirty="0">
                <a:solidFill>
                  <a:srgbClr val="102A43"/>
                </a:solidFill>
                <a:latin typeface="Aptos" pitchFamily="34" charset="0"/>
                <a:ea typeface="Aptos" pitchFamily="34" charset="-122"/>
                <a:cs typeface="Aptos" pitchFamily="34" charset="-120"/>
              </a:rPr>
              <a:t>Rancang penyelidikan</a:t>
            </a:r>
            <a:endParaRPr lang="en-US" sz="1320" dirty="0"/>
          </a:p>
        </p:txBody>
      </p:sp>
      <p:sp>
        <p:nvSpPr>
          <p:cNvPr id="41" name="Shape 39"/>
          <p:cNvSpPr/>
          <p:nvPr/>
        </p:nvSpPr>
        <p:spPr>
          <a:xfrm>
            <a:off x="6364224" y="2999232"/>
            <a:ext cx="640080" cy="210312"/>
          </a:xfrm>
          <a:prstGeom prst="roundRect">
            <a:avLst>
              <a:gd name="adj" fmla="val 60870"/>
            </a:avLst>
          </a:prstGeom>
          <a:solidFill>
            <a:srgbClr val="F0F3F5"/>
          </a:solidFill>
          <a:ln w="12700">
            <a:solidFill>
              <a:srgbClr val="F0F3F5">
                <a:alpha val="0"/>
              </a:srgbClr>
            </a:solidFill>
            <a:prstDash val="solid"/>
          </a:ln>
        </p:spPr>
      </p:sp>
      <p:sp>
        <p:nvSpPr>
          <p:cNvPr id="42" name="Text 40"/>
          <p:cNvSpPr/>
          <p:nvPr/>
        </p:nvSpPr>
        <p:spPr>
          <a:xfrm>
            <a:off x="6437376" y="3012948"/>
            <a:ext cx="493776" cy="192024"/>
          </a:xfrm>
          <a:prstGeom prst="rect">
            <a:avLst/>
          </a:prstGeom>
          <a:noFill/>
          <a:ln/>
        </p:spPr>
        <p:txBody>
          <a:bodyPr wrap="square" lIns="0" tIns="0" rIns="0" bIns="0" rtlCol="0" anchor="ctr">
            <a:normAutofit/>
          </a:bodyPr>
          <a:lstStyle/>
          <a:p>
            <a:pPr algn="ctr" indent="0" marL="0">
              <a:buNone/>
            </a:pPr>
            <a:r>
              <a:rPr lang="en-US" sz="800" b="1" spc="40" kern="0" dirty="0">
                <a:solidFill>
                  <a:srgbClr val="617587"/>
                </a:solidFill>
                <a:latin typeface="Aptos" pitchFamily="34" charset="0"/>
                <a:ea typeface="Aptos" pitchFamily="34" charset="-122"/>
                <a:cs typeface="Aptos" pitchFamily="34" charset="-120"/>
              </a:rPr>
              <a:t>10 mnt</a:t>
            </a:r>
            <a:endParaRPr lang="en-US" sz="800" dirty="0"/>
          </a:p>
        </p:txBody>
      </p:sp>
      <p:sp>
        <p:nvSpPr>
          <p:cNvPr id="43" name="Text 41"/>
          <p:cNvSpPr/>
          <p:nvPr/>
        </p:nvSpPr>
        <p:spPr>
          <a:xfrm>
            <a:off x="6364224" y="3264408"/>
            <a:ext cx="2276856" cy="329184"/>
          </a:xfrm>
          <a:prstGeom prst="rect">
            <a:avLst/>
          </a:prstGeom>
          <a:noFill/>
          <a:ln/>
        </p:spPr>
        <p:txBody>
          <a:bodyPr wrap="square" lIns="0" tIns="0" rIns="0" bIns="0" rtlCol="0" anchor="t">
            <a:normAutofit/>
          </a:bodyPr>
          <a:lstStyle/>
          <a:p>
            <a:pPr algn="l" indent="0" marL="0">
              <a:buNone/>
            </a:pPr>
            <a:r>
              <a:rPr lang="en-US" sz="960" dirty="0">
                <a:solidFill>
                  <a:srgbClr val="183044"/>
                </a:solidFill>
                <a:latin typeface="Aptos" pitchFamily="34" charset="0"/>
                <a:ea typeface="Aptos" pitchFamily="34" charset="-122"/>
                <a:cs typeface="Aptos" pitchFamily="34" charset="-120"/>
              </a:rPr>
              <a:t>Bagi peran, tentukan kata kunci dan sumber pembanding.</a:t>
            </a:r>
            <a:endParaRPr lang="en-US" sz="960" dirty="0"/>
          </a:p>
        </p:txBody>
      </p:sp>
      <p:sp>
        <p:nvSpPr>
          <p:cNvPr id="44" name="Shape 42"/>
          <p:cNvSpPr/>
          <p:nvPr/>
        </p:nvSpPr>
        <p:spPr>
          <a:xfrm>
            <a:off x="8988552" y="2432304"/>
            <a:ext cx="2578608" cy="1234440"/>
          </a:xfrm>
          <a:prstGeom prst="roundRect">
            <a:avLst>
              <a:gd name="adj" fmla="val 10370"/>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45" name="Shape 43"/>
          <p:cNvSpPr/>
          <p:nvPr/>
        </p:nvSpPr>
        <p:spPr>
          <a:xfrm>
            <a:off x="8988552" y="2432304"/>
            <a:ext cx="82296" cy="1234440"/>
          </a:xfrm>
          <a:prstGeom prst="roundRect">
            <a:avLst>
              <a:gd name="adj" fmla="val 33333"/>
            </a:avLst>
          </a:prstGeom>
          <a:solidFill>
            <a:srgbClr val="38A99A"/>
          </a:solidFill>
          <a:ln w="12700">
            <a:solidFill>
              <a:srgbClr val="38A99A">
                <a:alpha val="0"/>
              </a:srgbClr>
            </a:solidFill>
            <a:prstDash val="solid"/>
          </a:ln>
        </p:spPr>
      </p:sp>
      <p:sp>
        <p:nvSpPr>
          <p:cNvPr id="46" name="Shape 44"/>
          <p:cNvSpPr/>
          <p:nvPr/>
        </p:nvSpPr>
        <p:spPr>
          <a:xfrm>
            <a:off x="9153144" y="2596896"/>
            <a:ext cx="310896" cy="310896"/>
          </a:xfrm>
          <a:prstGeom prst="ellipse">
            <a:avLst/>
          </a:prstGeom>
          <a:solidFill>
            <a:srgbClr val="38A99A"/>
          </a:solidFill>
          <a:ln w="12700">
            <a:solidFill>
              <a:srgbClr val="38A99A">
                <a:alpha val="0"/>
              </a:srgbClr>
            </a:solidFill>
            <a:prstDash val="solid"/>
          </a:ln>
        </p:spPr>
      </p:sp>
      <p:sp>
        <p:nvSpPr>
          <p:cNvPr id="47" name="Text 45"/>
          <p:cNvSpPr/>
          <p:nvPr/>
        </p:nvSpPr>
        <p:spPr>
          <a:xfrm>
            <a:off x="9153144" y="2596896"/>
            <a:ext cx="310896"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4</a:t>
            </a:r>
            <a:endParaRPr lang="en-US" sz="1000" dirty="0"/>
          </a:p>
        </p:txBody>
      </p:sp>
      <p:sp>
        <p:nvSpPr>
          <p:cNvPr id="48" name="Text 46"/>
          <p:cNvSpPr/>
          <p:nvPr/>
        </p:nvSpPr>
        <p:spPr>
          <a:xfrm>
            <a:off x="9555480" y="2569464"/>
            <a:ext cx="1828800" cy="310896"/>
          </a:xfrm>
          <a:prstGeom prst="rect">
            <a:avLst/>
          </a:prstGeom>
          <a:noFill/>
          <a:ln/>
        </p:spPr>
        <p:txBody>
          <a:bodyPr wrap="square" lIns="0" tIns="0" rIns="0" bIns="0" rtlCol="0" anchor="ctr">
            <a:normAutofit/>
          </a:bodyPr>
          <a:lstStyle/>
          <a:p>
            <a:pPr algn="l" indent="0" marL="0">
              <a:buNone/>
            </a:pPr>
            <a:r>
              <a:rPr lang="en-US" sz="1320" b="1" dirty="0">
                <a:solidFill>
                  <a:srgbClr val="102A43"/>
                </a:solidFill>
                <a:latin typeface="Aptos" pitchFamily="34" charset="0"/>
                <a:ea typeface="Aptos" pitchFamily="34" charset="-122"/>
                <a:cs typeface="Aptos" pitchFamily="34" charset="-120"/>
              </a:rPr>
              <a:t>Investigasi</a:t>
            </a:r>
            <a:endParaRPr lang="en-US" sz="1320" dirty="0"/>
          </a:p>
        </p:txBody>
      </p:sp>
      <p:sp>
        <p:nvSpPr>
          <p:cNvPr id="49" name="Shape 47"/>
          <p:cNvSpPr/>
          <p:nvPr/>
        </p:nvSpPr>
        <p:spPr>
          <a:xfrm>
            <a:off x="9153144" y="2999232"/>
            <a:ext cx="640080" cy="210312"/>
          </a:xfrm>
          <a:prstGeom prst="roundRect">
            <a:avLst>
              <a:gd name="adj" fmla="val 60870"/>
            </a:avLst>
          </a:prstGeom>
          <a:solidFill>
            <a:srgbClr val="F0F3F5"/>
          </a:solidFill>
          <a:ln w="12700">
            <a:solidFill>
              <a:srgbClr val="F0F3F5">
                <a:alpha val="0"/>
              </a:srgbClr>
            </a:solidFill>
            <a:prstDash val="solid"/>
          </a:ln>
        </p:spPr>
      </p:sp>
      <p:sp>
        <p:nvSpPr>
          <p:cNvPr id="50" name="Text 48"/>
          <p:cNvSpPr/>
          <p:nvPr/>
        </p:nvSpPr>
        <p:spPr>
          <a:xfrm>
            <a:off x="9226296" y="3012948"/>
            <a:ext cx="493776" cy="192024"/>
          </a:xfrm>
          <a:prstGeom prst="rect">
            <a:avLst/>
          </a:prstGeom>
          <a:noFill/>
          <a:ln/>
        </p:spPr>
        <p:txBody>
          <a:bodyPr wrap="square" lIns="0" tIns="0" rIns="0" bIns="0" rtlCol="0" anchor="ctr">
            <a:normAutofit/>
          </a:bodyPr>
          <a:lstStyle/>
          <a:p>
            <a:pPr algn="ctr" indent="0" marL="0">
              <a:buNone/>
            </a:pPr>
            <a:r>
              <a:rPr lang="en-US" sz="800" b="1" spc="40" kern="0" dirty="0">
                <a:solidFill>
                  <a:srgbClr val="617587"/>
                </a:solidFill>
                <a:latin typeface="Aptos" pitchFamily="34" charset="0"/>
                <a:ea typeface="Aptos" pitchFamily="34" charset="-122"/>
                <a:cs typeface="Aptos" pitchFamily="34" charset="-120"/>
              </a:rPr>
              <a:t>25 mnt</a:t>
            </a:r>
            <a:endParaRPr lang="en-US" sz="800" dirty="0"/>
          </a:p>
        </p:txBody>
      </p:sp>
      <p:sp>
        <p:nvSpPr>
          <p:cNvPr id="51" name="Text 49"/>
          <p:cNvSpPr/>
          <p:nvPr/>
        </p:nvSpPr>
        <p:spPr>
          <a:xfrm>
            <a:off x="9153144" y="3264408"/>
            <a:ext cx="2249424" cy="329184"/>
          </a:xfrm>
          <a:prstGeom prst="rect">
            <a:avLst/>
          </a:prstGeom>
          <a:noFill/>
          <a:ln/>
        </p:spPr>
        <p:txBody>
          <a:bodyPr wrap="square" lIns="0" tIns="0" rIns="0" bIns="0" rtlCol="0" anchor="t">
            <a:normAutofit/>
          </a:bodyPr>
          <a:lstStyle/>
          <a:p>
            <a:pPr algn="l" indent="0" marL="0">
              <a:buNone/>
            </a:pPr>
            <a:r>
              <a:rPr lang="en-US" sz="960" dirty="0">
                <a:solidFill>
                  <a:srgbClr val="183044"/>
                </a:solidFill>
                <a:latin typeface="Aptos" pitchFamily="34" charset="0"/>
                <a:ea typeface="Aptos" pitchFamily="34" charset="-122"/>
                <a:cs typeface="Aptos" pitchFamily="34" charset="-120"/>
              </a:rPr>
              <a:t>Lakukan lateral reading dan reverse image search jika tersedia; catat bukti.</a:t>
            </a:r>
            <a:endParaRPr lang="en-US" sz="960" dirty="0"/>
          </a:p>
        </p:txBody>
      </p:sp>
      <p:sp>
        <p:nvSpPr>
          <p:cNvPr id="52" name="Shape 50"/>
          <p:cNvSpPr/>
          <p:nvPr/>
        </p:nvSpPr>
        <p:spPr>
          <a:xfrm>
            <a:off x="2011680" y="4041648"/>
            <a:ext cx="2606040" cy="1234440"/>
          </a:xfrm>
          <a:prstGeom prst="roundRect">
            <a:avLst>
              <a:gd name="adj" fmla="val 10370"/>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53" name="Shape 51"/>
          <p:cNvSpPr/>
          <p:nvPr/>
        </p:nvSpPr>
        <p:spPr>
          <a:xfrm>
            <a:off x="2011680" y="4041648"/>
            <a:ext cx="82296" cy="1234440"/>
          </a:xfrm>
          <a:prstGeom prst="roundRect">
            <a:avLst>
              <a:gd name="adj" fmla="val 33333"/>
            </a:avLst>
          </a:prstGeom>
          <a:solidFill>
            <a:srgbClr val="F06A5C"/>
          </a:solidFill>
          <a:ln w="12700">
            <a:solidFill>
              <a:srgbClr val="F06A5C">
                <a:alpha val="0"/>
              </a:srgbClr>
            </a:solidFill>
            <a:prstDash val="solid"/>
          </a:ln>
        </p:spPr>
      </p:sp>
      <p:sp>
        <p:nvSpPr>
          <p:cNvPr id="54" name="Shape 52"/>
          <p:cNvSpPr/>
          <p:nvPr/>
        </p:nvSpPr>
        <p:spPr>
          <a:xfrm>
            <a:off x="2176272" y="4206240"/>
            <a:ext cx="310896" cy="310896"/>
          </a:xfrm>
          <a:prstGeom prst="ellipse">
            <a:avLst/>
          </a:prstGeom>
          <a:solidFill>
            <a:srgbClr val="F06A5C"/>
          </a:solidFill>
          <a:ln w="12700">
            <a:solidFill>
              <a:srgbClr val="F06A5C">
                <a:alpha val="0"/>
              </a:srgbClr>
            </a:solidFill>
            <a:prstDash val="solid"/>
          </a:ln>
        </p:spPr>
      </p:sp>
      <p:sp>
        <p:nvSpPr>
          <p:cNvPr id="55" name="Text 53"/>
          <p:cNvSpPr/>
          <p:nvPr/>
        </p:nvSpPr>
        <p:spPr>
          <a:xfrm>
            <a:off x="2176272" y="4206240"/>
            <a:ext cx="310896"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5</a:t>
            </a:r>
            <a:endParaRPr lang="en-US" sz="1000" dirty="0"/>
          </a:p>
        </p:txBody>
      </p:sp>
      <p:sp>
        <p:nvSpPr>
          <p:cNvPr id="56" name="Text 54"/>
          <p:cNvSpPr/>
          <p:nvPr/>
        </p:nvSpPr>
        <p:spPr>
          <a:xfrm>
            <a:off x="2578608" y="4178808"/>
            <a:ext cx="1856232" cy="310896"/>
          </a:xfrm>
          <a:prstGeom prst="rect">
            <a:avLst/>
          </a:prstGeom>
          <a:noFill/>
          <a:ln/>
        </p:spPr>
        <p:txBody>
          <a:bodyPr wrap="square" lIns="0" tIns="0" rIns="0" bIns="0" rtlCol="0" anchor="ctr">
            <a:normAutofit/>
          </a:bodyPr>
          <a:lstStyle/>
          <a:p>
            <a:pPr algn="l" indent="0" marL="0">
              <a:buNone/>
            </a:pPr>
            <a:r>
              <a:rPr lang="en-US" sz="1320" b="1" dirty="0">
                <a:solidFill>
                  <a:srgbClr val="102A43"/>
                </a:solidFill>
                <a:latin typeface="Aptos" pitchFamily="34" charset="0"/>
                <a:ea typeface="Aptos" pitchFamily="34" charset="-122"/>
                <a:cs typeface="Aptos" pitchFamily="34" charset="-120"/>
              </a:rPr>
              <a:t>Analisis bukti</a:t>
            </a:r>
            <a:endParaRPr lang="en-US" sz="1320" dirty="0"/>
          </a:p>
        </p:txBody>
      </p:sp>
      <p:sp>
        <p:nvSpPr>
          <p:cNvPr id="57" name="Shape 55"/>
          <p:cNvSpPr/>
          <p:nvPr/>
        </p:nvSpPr>
        <p:spPr>
          <a:xfrm>
            <a:off x="2176272" y="4608576"/>
            <a:ext cx="640080" cy="210312"/>
          </a:xfrm>
          <a:prstGeom prst="roundRect">
            <a:avLst>
              <a:gd name="adj" fmla="val 60870"/>
            </a:avLst>
          </a:prstGeom>
          <a:solidFill>
            <a:srgbClr val="F0F3F5"/>
          </a:solidFill>
          <a:ln w="12700">
            <a:solidFill>
              <a:srgbClr val="F0F3F5">
                <a:alpha val="0"/>
              </a:srgbClr>
            </a:solidFill>
            <a:prstDash val="solid"/>
          </a:ln>
        </p:spPr>
      </p:sp>
      <p:sp>
        <p:nvSpPr>
          <p:cNvPr id="58" name="Text 56"/>
          <p:cNvSpPr/>
          <p:nvPr/>
        </p:nvSpPr>
        <p:spPr>
          <a:xfrm>
            <a:off x="2249424" y="4622292"/>
            <a:ext cx="493776" cy="192024"/>
          </a:xfrm>
          <a:prstGeom prst="rect">
            <a:avLst/>
          </a:prstGeom>
          <a:noFill/>
          <a:ln/>
        </p:spPr>
        <p:txBody>
          <a:bodyPr wrap="square" lIns="0" tIns="0" rIns="0" bIns="0" rtlCol="0" anchor="ctr">
            <a:normAutofit/>
          </a:bodyPr>
          <a:lstStyle/>
          <a:p>
            <a:pPr algn="ctr" indent="0" marL="0">
              <a:buNone/>
            </a:pPr>
            <a:r>
              <a:rPr lang="en-US" sz="800" b="1" spc="40" kern="0" dirty="0">
                <a:solidFill>
                  <a:srgbClr val="617587"/>
                </a:solidFill>
                <a:latin typeface="Aptos" pitchFamily="34" charset="0"/>
                <a:ea typeface="Aptos" pitchFamily="34" charset="-122"/>
                <a:cs typeface="Aptos" pitchFamily="34" charset="-120"/>
              </a:rPr>
              <a:t>15 mnt</a:t>
            </a:r>
            <a:endParaRPr lang="en-US" sz="800" dirty="0"/>
          </a:p>
        </p:txBody>
      </p:sp>
      <p:sp>
        <p:nvSpPr>
          <p:cNvPr id="59" name="Text 57"/>
          <p:cNvSpPr/>
          <p:nvPr/>
        </p:nvSpPr>
        <p:spPr>
          <a:xfrm>
            <a:off x="2176272" y="4873752"/>
            <a:ext cx="2276856" cy="329184"/>
          </a:xfrm>
          <a:prstGeom prst="rect">
            <a:avLst/>
          </a:prstGeom>
          <a:noFill/>
          <a:ln/>
        </p:spPr>
        <p:txBody>
          <a:bodyPr wrap="square" lIns="0" tIns="0" rIns="0" bIns="0" rtlCol="0" anchor="t">
            <a:normAutofit/>
          </a:bodyPr>
          <a:lstStyle/>
          <a:p>
            <a:pPr algn="l" indent="0" marL="0">
              <a:buNone/>
            </a:pPr>
            <a:r>
              <a:rPr lang="en-US" sz="960" dirty="0">
                <a:solidFill>
                  <a:srgbClr val="183044"/>
                </a:solidFill>
                <a:latin typeface="Aptos" pitchFamily="34" charset="0"/>
                <a:ea typeface="Aptos" pitchFamily="34" charset="-122"/>
                <a:cs typeface="Aptos" pitchFamily="34" charset="-120"/>
              </a:rPr>
              <a:t>Bandingkan dugaan dan bukti; pilih status simpulan yang tepat.</a:t>
            </a:r>
            <a:endParaRPr lang="en-US" sz="960" dirty="0"/>
          </a:p>
        </p:txBody>
      </p:sp>
      <p:sp>
        <p:nvSpPr>
          <p:cNvPr id="60" name="Shape 58"/>
          <p:cNvSpPr/>
          <p:nvPr/>
        </p:nvSpPr>
        <p:spPr>
          <a:xfrm>
            <a:off x="4800600" y="4041648"/>
            <a:ext cx="2606040" cy="1234440"/>
          </a:xfrm>
          <a:prstGeom prst="roundRect">
            <a:avLst>
              <a:gd name="adj" fmla="val 10370"/>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61" name="Shape 59"/>
          <p:cNvSpPr/>
          <p:nvPr/>
        </p:nvSpPr>
        <p:spPr>
          <a:xfrm>
            <a:off x="4800600" y="4041648"/>
            <a:ext cx="82296" cy="1234440"/>
          </a:xfrm>
          <a:prstGeom prst="roundRect">
            <a:avLst>
              <a:gd name="adj" fmla="val 33333"/>
            </a:avLst>
          </a:prstGeom>
          <a:solidFill>
            <a:srgbClr val="2F6690"/>
          </a:solidFill>
          <a:ln w="12700">
            <a:solidFill>
              <a:srgbClr val="2F6690">
                <a:alpha val="0"/>
              </a:srgbClr>
            </a:solidFill>
            <a:prstDash val="solid"/>
          </a:ln>
        </p:spPr>
      </p:sp>
      <p:sp>
        <p:nvSpPr>
          <p:cNvPr id="62" name="Shape 60"/>
          <p:cNvSpPr/>
          <p:nvPr/>
        </p:nvSpPr>
        <p:spPr>
          <a:xfrm>
            <a:off x="4965192" y="4206240"/>
            <a:ext cx="310896" cy="310896"/>
          </a:xfrm>
          <a:prstGeom prst="ellipse">
            <a:avLst/>
          </a:prstGeom>
          <a:solidFill>
            <a:srgbClr val="2F6690"/>
          </a:solidFill>
          <a:ln w="12700">
            <a:solidFill>
              <a:srgbClr val="2F6690">
                <a:alpha val="0"/>
              </a:srgbClr>
            </a:solidFill>
            <a:prstDash val="solid"/>
          </a:ln>
        </p:spPr>
      </p:sp>
      <p:sp>
        <p:nvSpPr>
          <p:cNvPr id="63" name="Text 61"/>
          <p:cNvSpPr/>
          <p:nvPr/>
        </p:nvSpPr>
        <p:spPr>
          <a:xfrm>
            <a:off x="4965192" y="4206240"/>
            <a:ext cx="310896"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6</a:t>
            </a:r>
            <a:endParaRPr lang="en-US" sz="1000" dirty="0"/>
          </a:p>
        </p:txBody>
      </p:sp>
      <p:sp>
        <p:nvSpPr>
          <p:cNvPr id="64" name="Text 62"/>
          <p:cNvSpPr/>
          <p:nvPr/>
        </p:nvSpPr>
        <p:spPr>
          <a:xfrm>
            <a:off x="5367528" y="4178808"/>
            <a:ext cx="1856232" cy="310896"/>
          </a:xfrm>
          <a:prstGeom prst="rect">
            <a:avLst/>
          </a:prstGeom>
          <a:noFill/>
          <a:ln/>
        </p:spPr>
        <p:txBody>
          <a:bodyPr wrap="square" lIns="0" tIns="0" rIns="0" bIns="0" rtlCol="0" anchor="ctr">
            <a:normAutofit/>
          </a:bodyPr>
          <a:lstStyle/>
          <a:p>
            <a:pPr algn="l" indent="0" marL="0">
              <a:buNone/>
            </a:pPr>
            <a:r>
              <a:rPr lang="en-US" sz="1320" b="1" dirty="0">
                <a:solidFill>
                  <a:srgbClr val="102A43"/>
                </a:solidFill>
                <a:latin typeface="Aptos" pitchFamily="34" charset="0"/>
                <a:ea typeface="Aptos" pitchFamily="34" charset="-122"/>
                <a:cs typeface="Aptos" pitchFamily="34" charset="-120"/>
              </a:rPr>
              <a:t>Berbagi temuan</a:t>
            </a:r>
            <a:endParaRPr lang="en-US" sz="1320" dirty="0"/>
          </a:p>
        </p:txBody>
      </p:sp>
      <p:sp>
        <p:nvSpPr>
          <p:cNvPr id="65" name="Shape 63"/>
          <p:cNvSpPr/>
          <p:nvPr/>
        </p:nvSpPr>
        <p:spPr>
          <a:xfrm>
            <a:off x="4965192" y="4608576"/>
            <a:ext cx="640080" cy="210312"/>
          </a:xfrm>
          <a:prstGeom prst="roundRect">
            <a:avLst>
              <a:gd name="adj" fmla="val 60870"/>
            </a:avLst>
          </a:prstGeom>
          <a:solidFill>
            <a:srgbClr val="F0F3F5"/>
          </a:solidFill>
          <a:ln w="12700">
            <a:solidFill>
              <a:srgbClr val="F0F3F5">
                <a:alpha val="0"/>
              </a:srgbClr>
            </a:solidFill>
            <a:prstDash val="solid"/>
          </a:ln>
        </p:spPr>
      </p:sp>
      <p:sp>
        <p:nvSpPr>
          <p:cNvPr id="66" name="Text 64"/>
          <p:cNvSpPr/>
          <p:nvPr/>
        </p:nvSpPr>
        <p:spPr>
          <a:xfrm>
            <a:off x="5038344" y="4622292"/>
            <a:ext cx="493776" cy="192024"/>
          </a:xfrm>
          <a:prstGeom prst="rect">
            <a:avLst/>
          </a:prstGeom>
          <a:noFill/>
          <a:ln/>
        </p:spPr>
        <p:txBody>
          <a:bodyPr wrap="square" lIns="0" tIns="0" rIns="0" bIns="0" rtlCol="0" anchor="ctr">
            <a:normAutofit/>
          </a:bodyPr>
          <a:lstStyle/>
          <a:p>
            <a:pPr algn="ctr" indent="0" marL="0">
              <a:buNone/>
            </a:pPr>
            <a:r>
              <a:rPr lang="en-US" sz="800" b="1" spc="40" kern="0" dirty="0">
                <a:solidFill>
                  <a:srgbClr val="617587"/>
                </a:solidFill>
                <a:latin typeface="Aptos" pitchFamily="34" charset="0"/>
                <a:ea typeface="Aptos" pitchFamily="34" charset="-122"/>
                <a:cs typeface="Aptos" pitchFamily="34" charset="-120"/>
              </a:rPr>
              <a:t>10 mnt</a:t>
            </a:r>
            <a:endParaRPr lang="en-US" sz="800" dirty="0"/>
          </a:p>
        </p:txBody>
      </p:sp>
      <p:sp>
        <p:nvSpPr>
          <p:cNvPr id="67" name="Text 65"/>
          <p:cNvSpPr/>
          <p:nvPr/>
        </p:nvSpPr>
        <p:spPr>
          <a:xfrm>
            <a:off x="4965192" y="4873752"/>
            <a:ext cx="2276856" cy="329184"/>
          </a:xfrm>
          <a:prstGeom prst="rect">
            <a:avLst/>
          </a:prstGeom>
          <a:noFill/>
          <a:ln/>
        </p:spPr>
        <p:txBody>
          <a:bodyPr wrap="square" lIns="0" tIns="0" rIns="0" bIns="0" rtlCol="0" anchor="t">
            <a:normAutofit/>
          </a:bodyPr>
          <a:lstStyle/>
          <a:p>
            <a:pPr algn="l" indent="0" marL="0">
              <a:buNone/>
            </a:pPr>
            <a:r>
              <a:rPr lang="en-US" sz="960" dirty="0">
                <a:solidFill>
                  <a:srgbClr val="183044"/>
                </a:solidFill>
                <a:latin typeface="Aptos" pitchFamily="34" charset="0"/>
                <a:ea typeface="Aptos" pitchFamily="34" charset="-122"/>
                <a:cs typeface="Aptos" pitchFamily="34" charset="-120"/>
              </a:rPr>
              <a:t>Unggah ringkasan ke Padlet dan beri komentar berbasis bukti.</a:t>
            </a:r>
            <a:endParaRPr lang="en-US" sz="960" dirty="0"/>
          </a:p>
        </p:txBody>
      </p:sp>
      <p:sp>
        <p:nvSpPr>
          <p:cNvPr id="68" name="Shape 66"/>
          <p:cNvSpPr/>
          <p:nvPr/>
        </p:nvSpPr>
        <p:spPr>
          <a:xfrm>
            <a:off x="7589520" y="4041648"/>
            <a:ext cx="2606040" cy="1234440"/>
          </a:xfrm>
          <a:prstGeom prst="roundRect">
            <a:avLst>
              <a:gd name="adj" fmla="val 10370"/>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69" name="Shape 67"/>
          <p:cNvSpPr/>
          <p:nvPr/>
        </p:nvSpPr>
        <p:spPr>
          <a:xfrm>
            <a:off x="7589520" y="4041648"/>
            <a:ext cx="82296" cy="1234440"/>
          </a:xfrm>
          <a:prstGeom prst="roundRect">
            <a:avLst>
              <a:gd name="adj" fmla="val 33333"/>
            </a:avLst>
          </a:prstGeom>
          <a:solidFill>
            <a:srgbClr val="18766F"/>
          </a:solidFill>
          <a:ln w="12700">
            <a:solidFill>
              <a:srgbClr val="18766F">
                <a:alpha val="0"/>
              </a:srgbClr>
            </a:solidFill>
            <a:prstDash val="solid"/>
          </a:ln>
        </p:spPr>
      </p:sp>
      <p:sp>
        <p:nvSpPr>
          <p:cNvPr id="70" name="Shape 68"/>
          <p:cNvSpPr/>
          <p:nvPr/>
        </p:nvSpPr>
        <p:spPr>
          <a:xfrm>
            <a:off x="7754112" y="4206240"/>
            <a:ext cx="310896" cy="310896"/>
          </a:xfrm>
          <a:prstGeom prst="ellipse">
            <a:avLst/>
          </a:prstGeom>
          <a:solidFill>
            <a:srgbClr val="18766F"/>
          </a:solidFill>
          <a:ln w="12700">
            <a:solidFill>
              <a:srgbClr val="18766F">
                <a:alpha val="0"/>
              </a:srgbClr>
            </a:solidFill>
            <a:prstDash val="solid"/>
          </a:ln>
        </p:spPr>
      </p:sp>
      <p:sp>
        <p:nvSpPr>
          <p:cNvPr id="71" name="Text 69"/>
          <p:cNvSpPr/>
          <p:nvPr/>
        </p:nvSpPr>
        <p:spPr>
          <a:xfrm>
            <a:off x="7754112" y="4206240"/>
            <a:ext cx="310896"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7</a:t>
            </a:r>
            <a:endParaRPr lang="en-US" sz="1000" dirty="0"/>
          </a:p>
        </p:txBody>
      </p:sp>
      <p:sp>
        <p:nvSpPr>
          <p:cNvPr id="72" name="Text 70"/>
          <p:cNvSpPr/>
          <p:nvPr/>
        </p:nvSpPr>
        <p:spPr>
          <a:xfrm>
            <a:off x="8156448" y="4178808"/>
            <a:ext cx="1856232" cy="310896"/>
          </a:xfrm>
          <a:prstGeom prst="rect">
            <a:avLst/>
          </a:prstGeom>
          <a:noFill/>
          <a:ln/>
        </p:spPr>
        <p:txBody>
          <a:bodyPr wrap="square" lIns="0" tIns="0" rIns="0" bIns="0" rtlCol="0" anchor="ctr">
            <a:normAutofit/>
          </a:bodyPr>
          <a:lstStyle/>
          <a:p>
            <a:pPr algn="l" indent="0" marL="0">
              <a:buNone/>
            </a:pPr>
            <a:r>
              <a:rPr lang="en-US" sz="1320" b="1" dirty="0">
                <a:solidFill>
                  <a:srgbClr val="102A43"/>
                </a:solidFill>
                <a:latin typeface="Aptos" pitchFamily="34" charset="0"/>
                <a:ea typeface="Aptos" pitchFamily="34" charset="-122"/>
                <a:cs typeface="Aptos" pitchFamily="34" charset="-120"/>
              </a:rPr>
              <a:t>Refleksi &amp; penutup</a:t>
            </a:r>
            <a:endParaRPr lang="en-US" sz="1320" dirty="0"/>
          </a:p>
        </p:txBody>
      </p:sp>
      <p:sp>
        <p:nvSpPr>
          <p:cNvPr id="73" name="Shape 71"/>
          <p:cNvSpPr/>
          <p:nvPr/>
        </p:nvSpPr>
        <p:spPr>
          <a:xfrm>
            <a:off x="7754112" y="4608576"/>
            <a:ext cx="640080" cy="210312"/>
          </a:xfrm>
          <a:prstGeom prst="roundRect">
            <a:avLst>
              <a:gd name="adj" fmla="val 60870"/>
            </a:avLst>
          </a:prstGeom>
          <a:solidFill>
            <a:srgbClr val="F0F3F5"/>
          </a:solidFill>
          <a:ln w="12700">
            <a:solidFill>
              <a:srgbClr val="F0F3F5">
                <a:alpha val="0"/>
              </a:srgbClr>
            </a:solidFill>
            <a:prstDash val="solid"/>
          </a:ln>
        </p:spPr>
      </p:sp>
      <p:sp>
        <p:nvSpPr>
          <p:cNvPr id="74" name="Text 72"/>
          <p:cNvSpPr/>
          <p:nvPr/>
        </p:nvSpPr>
        <p:spPr>
          <a:xfrm>
            <a:off x="7827264" y="4622292"/>
            <a:ext cx="493776" cy="192024"/>
          </a:xfrm>
          <a:prstGeom prst="rect">
            <a:avLst/>
          </a:prstGeom>
          <a:noFill/>
          <a:ln/>
        </p:spPr>
        <p:txBody>
          <a:bodyPr wrap="square" lIns="0" tIns="0" rIns="0" bIns="0" rtlCol="0" anchor="ctr">
            <a:normAutofit/>
          </a:bodyPr>
          <a:lstStyle/>
          <a:p>
            <a:pPr algn="ctr" indent="0" marL="0">
              <a:buNone/>
            </a:pPr>
            <a:r>
              <a:rPr lang="en-US" sz="800" b="1" spc="40" kern="0" dirty="0">
                <a:solidFill>
                  <a:srgbClr val="617587"/>
                </a:solidFill>
                <a:latin typeface="Aptos" pitchFamily="34" charset="0"/>
                <a:ea typeface="Aptos" pitchFamily="34" charset="-122"/>
                <a:cs typeface="Aptos" pitchFamily="34" charset="-120"/>
              </a:rPr>
              <a:t>10 mnt</a:t>
            </a:r>
            <a:endParaRPr lang="en-US" sz="800" dirty="0"/>
          </a:p>
        </p:txBody>
      </p:sp>
      <p:sp>
        <p:nvSpPr>
          <p:cNvPr id="75" name="Text 73"/>
          <p:cNvSpPr/>
          <p:nvPr/>
        </p:nvSpPr>
        <p:spPr>
          <a:xfrm>
            <a:off x="7754112" y="4873752"/>
            <a:ext cx="2276856" cy="329184"/>
          </a:xfrm>
          <a:prstGeom prst="rect">
            <a:avLst/>
          </a:prstGeom>
          <a:noFill/>
          <a:ln/>
        </p:spPr>
        <p:txBody>
          <a:bodyPr wrap="square" lIns="0" tIns="0" rIns="0" bIns="0" rtlCol="0" anchor="t">
            <a:normAutofit/>
          </a:bodyPr>
          <a:lstStyle/>
          <a:p>
            <a:pPr algn="l" indent="0" marL="0">
              <a:buNone/>
            </a:pPr>
            <a:r>
              <a:rPr lang="en-US" sz="960" dirty="0">
                <a:solidFill>
                  <a:srgbClr val="183044"/>
                </a:solidFill>
                <a:latin typeface="Aptos" pitchFamily="34" charset="0"/>
                <a:ea typeface="Aptos" pitchFamily="34" charset="-122"/>
                <a:cs typeface="Aptos" pitchFamily="34" charset="-120"/>
              </a:rPr>
              <a:t>Isi tiket keluar: pelajaran, respons aman, pertanyaan lanjut.</a:t>
            </a:r>
            <a:endParaRPr lang="en-US" sz="960" dirty="0"/>
          </a:p>
        </p:txBody>
      </p:sp>
      <p:sp>
        <p:nvSpPr>
          <p:cNvPr id="76" name="Shape 74"/>
          <p:cNvSpPr/>
          <p:nvPr/>
        </p:nvSpPr>
        <p:spPr>
          <a:xfrm>
            <a:off x="9345168" y="5650992"/>
            <a:ext cx="2057400" cy="320040"/>
          </a:xfrm>
          <a:prstGeom prst="roundRect">
            <a:avLst>
              <a:gd name="adj" fmla="val 40000"/>
            </a:avLst>
          </a:prstGeom>
          <a:solidFill>
            <a:srgbClr val="102A43"/>
          </a:solidFill>
          <a:ln w="12700">
            <a:solidFill>
              <a:srgbClr val="102A43">
                <a:alpha val="0"/>
              </a:srgbClr>
            </a:solidFill>
            <a:prstDash val="solid"/>
          </a:ln>
        </p:spPr>
      </p:sp>
      <p:sp>
        <p:nvSpPr>
          <p:cNvPr id="77" name="Text 75"/>
          <p:cNvSpPr/>
          <p:nvPr/>
        </p:nvSpPr>
        <p:spPr>
          <a:xfrm>
            <a:off x="9418320" y="5664708"/>
            <a:ext cx="1911096" cy="301752"/>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Aptos" pitchFamily="34" charset="0"/>
                <a:ea typeface="Aptos" pitchFamily="34" charset="-122"/>
                <a:cs typeface="Aptos" pitchFamily="34" charset="-120"/>
              </a:rPr>
              <a:t>TOTAL: 90 MENIT</a:t>
            </a:r>
            <a:endParaRPr lang="en-US" sz="90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37587"/>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66928" y="329184"/>
            <a:ext cx="2130552" cy="274320"/>
          </a:xfrm>
          <a:prstGeom prst="roundRect">
            <a:avLst>
              <a:gd name="adj" fmla="val 46667"/>
            </a:avLst>
          </a:prstGeom>
          <a:solidFill>
            <a:srgbClr val="DDF4EC"/>
          </a:solidFill>
          <a:ln w="12700">
            <a:solidFill>
              <a:srgbClr val="DDF4EC">
                <a:alpha val="0"/>
              </a:srgbClr>
            </a:solidFill>
            <a:prstDash val="solid"/>
          </a:ln>
        </p:spPr>
      </p:sp>
      <p:sp>
        <p:nvSpPr>
          <p:cNvPr id="3" name="Text 1"/>
          <p:cNvSpPr/>
          <p:nvPr/>
        </p:nvSpPr>
        <p:spPr>
          <a:xfrm>
            <a:off x="640080" y="342900"/>
            <a:ext cx="1984248" cy="256032"/>
          </a:xfrm>
          <a:prstGeom prst="rect">
            <a:avLst/>
          </a:prstGeom>
          <a:noFill/>
          <a:ln/>
        </p:spPr>
        <p:txBody>
          <a:bodyPr wrap="square" lIns="0" tIns="0" rIns="0" bIns="0" rtlCol="0" anchor="ctr">
            <a:normAutofit/>
          </a:bodyPr>
          <a:lstStyle/>
          <a:p>
            <a:pPr algn="ctr" indent="0" marL="0">
              <a:buNone/>
            </a:pPr>
            <a:r>
              <a:rPr lang="en-US" sz="850" b="1" spc="40" kern="0" dirty="0">
                <a:solidFill>
                  <a:srgbClr val="18766F"/>
                </a:solidFill>
                <a:latin typeface="Aptos" pitchFamily="34" charset="0"/>
                <a:ea typeface="Aptos" pitchFamily="34" charset="-122"/>
                <a:cs typeface="Aptos" pitchFamily="34" charset="-120"/>
              </a:rPr>
              <a:t>06 • INTEGRASI TEKNOLOGI</a:t>
            </a:r>
            <a:endParaRPr lang="en-US" sz="850" dirty="0"/>
          </a:p>
        </p:txBody>
      </p:sp>
      <p:sp>
        <p:nvSpPr>
          <p:cNvPr id="4" name="Text 2"/>
          <p:cNvSpPr/>
          <p:nvPr/>
        </p:nvSpPr>
        <p:spPr>
          <a:xfrm>
            <a:off x="566928" y="749808"/>
            <a:ext cx="10972800" cy="548640"/>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Mediadidik sebagai LMS utama</a:t>
            </a:r>
            <a:endParaRPr lang="en-US" sz="2800" dirty="0"/>
          </a:p>
        </p:txBody>
      </p:sp>
      <p:sp>
        <p:nvSpPr>
          <p:cNvPr id="5" name="Text 3"/>
          <p:cNvSpPr/>
          <p:nvPr/>
        </p:nvSpPr>
        <p:spPr>
          <a:xfrm>
            <a:off x="585216" y="1307592"/>
            <a:ext cx="10881360" cy="329184"/>
          </a:xfrm>
          <a:prstGeom prst="rect">
            <a:avLst/>
          </a:prstGeom>
          <a:noFill/>
          <a:ln/>
        </p:spPr>
        <p:txBody>
          <a:bodyPr wrap="square" lIns="0" tIns="0" rIns="0" bIns="0" rtlCol="0" anchor="ctr">
            <a:normAutofit/>
          </a:bodyPr>
          <a:lstStyle/>
          <a:p>
            <a:pPr algn="l" indent="0" marL="0">
              <a:buNone/>
            </a:pPr>
            <a:r>
              <a:rPr lang="en-US" sz="1250" dirty="0">
                <a:solidFill>
                  <a:srgbClr val="617587"/>
                </a:solidFill>
                <a:latin typeface="Aptos" pitchFamily="34" charset="0"/>
                <a:ea typeface="Aptos" pitchFamily="34" charset="-122"/>
                <a:cs typeface="Aptos" pitchFamily="34" charset="-120"/>
              </a:rPr>
              <a:t>Mediadidik digunakan untuk materi dan ulangan harian; media lain mendukung proses investigasi dan kolaborasi.</a:t>
            </a:r>
            <a:endParaRPr lang="en-US" sz="1250" dirty="0"/>
          </a:p>
        </p:txBody>
      </p:sp>
      <p:sp>
        <p:nvSpPr>
          <p:cNvPr id="6" name="Shape 4"/>
          <p:cNvSpPr/>
          <p:nvPr/>
        </p:nvSpPr>
        <p:spPr>
          <a:xfrm>
            <a:off x="4983480" y="2331720"/>
            <a:ext cx="2103120" cy="2103120"/>
          </a:xfrm>
          <a:prstGeom prst="ellipse">
            <a:avLst/>
          </a:prstGeom>
          <a:solidFill>
            <a:srgbClr val="102A43"/>
          </a:solidFill>
          <a:ln w="12700">
            <a:solidFill>
              <a:srgbClr val="102A43">
                <a:alpha val="0"/>
              </a:srgbClr>
            </a:solidFill>
            <a:prstDash val="solid"/>
          </a:ln>
        </p:spPr>
      </p:sp>
      <p:sp>
        <p:nvSpPr>
          <p:cNvPr id="7" name="Shape 5"/>
          <p:cNvSpPr/>
          <p:nvPr/>
        </p:nvSpPr>
        <p:spPr>
          <a:xfrm>
            <a:off x="5234940" y="2583180"/>
            <a:ext cx="1600200" cy="1600200"/>
          </a:xfrm>
          <a:prstGeom prst="ellipse">
            <a:avLst/>
          </a:prstGeom>
          <a:solidFill>
            <a:srgbClr val="2F6690"/>
          </a:solidFill>
          <a:ln w="12700">
            <a:solidFill>
              <a:srgbClr val="2F6690">
                <a:alpha val="0"/>
              </a:srgbClr>
            </a:solidFill>
            <a:prstDash val="solid"/>
          </a:ln>
        </p:spPr>
      </p:sp>
      <p:sp>
        <p:nvSpPr>
          <p:cNvPr id="8" name="Text 6"/>
          <p:cNvSpPr/>
          <p:nvPr/>
        </p:nvSpPr>
        <p:spPr>
          <a:xfrm>
            <a:off x="5234940" y="2907792"/>
            <a:ext cx="1600200" cy="292608"/>
          </a:xfrm>
          <a:prstGeom prst="rect">
            <a:avLst/>
          </a:prstGeom>
          <a:noFill/>
          <a:ln/>
        </p:spPr>
        <p:txBody>
          <a:bodyPr wrap="square" lIns="0" tIns="0" rIns="0" bIns="0" rtlCol="0" anchor="ctr">
            <a:normAutofit/>
          </a:bodyPr>
          <a:lstStyle/>
          <a:p>
            <a:pPr algn="ctr" indent="0" marL="0">
              <a:buNone/>
            </a:pPr>
            <a:r>
              <a:rPr lang="en-US" sz="1650" b="1" dirty="0">
                <a:solidFill>
                  <a:srgbClr val="FFFFFF"/>
                </a:solidFill>
                <a:latin typeface="Aptos" pitchFamily="34" charset="0"/>
                <a:ea typeface="Aptos" pitchFamily="34" charset="-122"/>
                <a:cs typeface="Aptos" pitchFamily="34" charset="-120"/>
              </a:rPr>
              <a:t>Mediadidik</a:t>
            </a:r>
            <a:endParaRPr lang="en-US" sz="1650" dirty="0"/>
          </a:p>
        </p:txBody>
      </p:sp>
      <p:sp>
        <p:nvSpPr>
          <p:cNvPr id="9" name="Text 7"/>
          <p:cNvSpPr/>
          <p:nvPr/>
        </p:nvSpPr>
        <p:spPr>
          <a:xfrm>
            <a:off x="5330952" y="3227832"/>
            <a:ext cx="1408176" cy="457200"/>
          </a:xfrm>
          <a:prstGeom prst="rect">
            <a:avLst/>
          </a:prstGeom>
          <a:noFill/>
          <a:ln/>
        </p:spPr>
        <p:txBody>
          <a:bodyPr wrap="square" lIns="0" tIns="0" rIns="0" bIns="0" rtlCol="0" anchor="ctr">
            <a:normAutofit/>
          </a:bodyPr>
          <a:lstStyle/>
          <a:p>
            <a:pPr algn="ctr" indent="0" marL="0">
              <a:buNone/>
            </a:pPr>
            <a:r>
              <a:rPr lang="en-US" sz="840" b="1" dirty="0">
                <a:solidFill>
                  <a:srgbClr val="DCE7EE"/>
                </a:solidFill>
                <a:latin typeface="Aptos" pitchFamily="34" charset="0"/>
                <a:ea typeface="Aptos" pitchFamily="34" charset="-122"/>
                <a:cs typeface="Aptos" pitchFamily="34" charset="-120"/>
              </a:rPr>
              <a:t>MATERI +</a:t>
            </a:r>
            <a:endParaRPr lang="en-US" sz="840" dirty="0"/>
          </a:p>
          <a:p>
            <a:pPr algn="ctr" indent="0" marL="0">
              <a:buNone/>
            </a:pPr>
            <a:r>
              <a:rPr lang="en-US" sz="840" b="1" dirty="0">
                <a:solidFill>
                  <a:srgbClr val="DCE7EE"/>
                </a:solidFill>
                <a:latin typeface="Aptos" pitchFamily="34" charset="0"/>
                <a:ea typeface="Aptos" pitchFamily="34" charset="-122"/>
                <a:cs typeface="Aptos" pitchFamily="34" charset="-120"/>
              </a:rPr>
              <a:t>ULANGAN HARIAN</a:t>
            </a:r>
            <a:endParaRPr lang="en-US" sz="840" dirty="0"/>
          </a:p>
        </p:txBody>
      </p:sp>
      <p:sp>
        <p:nvSpPr>
          <p:cNvPr id="10" name="Shape 8"/>
          <p:cNvSpPr/>
          <p:nvPr/>
        </p:nvSpPr>
        <p:spPr>
          <a:xfrm>
            <a:off x="4005072" y="2615184"/>
            <a:ext cx="1005840" cy="237744"/>
          </a:xfrm>
          <a:prstGeom prst="line">
            <a:avLst/>
          </a:prstGeom>
          <a:noFill/>
          <a:ln w="25400">
            <a:solidFill>
              <a:srgbClr val="D9E1E8"/>
            </a:solidFill>
            <a:prstDash val="solid"/>
            <a:headEnd type="none"/>
            <a:tailEnd type="none"/>
          </a:ln>
        </p:spPr>
      </p:sp>
      <p:sp>
        <p:nvSpPr>
          <p:cNvPr id="11" name="Shape 9"/>
          <p:cNvSpPr/>
          <p:nvPr/>
        </p:nvSpPr>
        <p:spPr>
          <a:xfrm>
            <a:off x="4005072" y="4187952"/>
            <a:ext cx="1069848" cy="-393192"/>
          </a:xfrm>
          <a:prstGeom prst="line">
            <a:avLst/>
          </a:prstGeom>
          <a:noFill/>
          <a:ln w="25400">
            <a:solidFill>
              <a:srgbClr val="D9E1E8"/>
            </a:solidFill>
            <a:prstDash val="solid"/>
            <a:headEnd type="none"/>
            <a:tailEnd type="none"/>
          </a:ln>
        </p:spPr>
      </p:sp>
      <p:sp>
        <p:nvSpPr>
          <p:cNvPr id="12" name="Shape 10"/>
          <p:cNvSpPr/>
          <p:nvPr/>
        </p:nvSpPr>
        <p:spPr>
          <a:xfrm>
            <a:off x="7059168" y="2852928"/>
            <a:ext cx="1097280" cy="-237744"/>
          </a:xfrm>
          <a:prstGeom prst="line">
            <a:avLst/>
          </a:prstGeom>
          <a:noFill/>
          <a:ln w="25400">
            <a:solidFill>
              <a:srgbClr val="D9E1E8"/>
            </a:solidFill>
            <a:prstDash val="solid"/>
            <a:headEnd type="none"/>
            <a:tailEnd type="none"/>
          </a:ln>
        </p:spPr>
      </p:sp>
      <p:sp>
        <p:nvSpPr>
          <p:cNvPr id="13" name="Shape 11"/>
          <p:cNvSpPr/>
          <p:nvPr/>
        </p:nvSpPr>
        <p:spPr>
          <a:xfrm>
            <a:off x="7059168" y="3794760"/>
            <a:ext cx="1097280" cy="393192"/>
          </a:xfrm>
          <a:prstGeom prst="line">
            <a:avLst/>
          </a:prstGeom>
          <a:noFill/>
          <a:ln w="25400">
            <a:solidFill>
              <a:srgbClr val="D9E1E8"/>
            </a:solidFill>
            <a:prstDash val="solid"/>
            <a:headEnd type="none"/>
            <a:tailEnd type="none"/>
          </a:ln>
        </p:spPr>
      </p:sp>
      <p:sp>
        <p:nvSpPr>
          <p:cNvPr id="14" name="Shape 12"/>
          <p:cNvSpPr/>
          <p:nvPr/>
        </p:nvSpPr>
        <p:spPr>
          <a:xfrm>
            <a:off x="713232" y="2121408"/>
            <a:ext cx="3291840" cy="1051560"/>
          </a:xfrm>
          <a:prstGeom prst="roundRect">
            <a:avLst>
              <a:gd name="adj" fmla="val 12174"/>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15" name="Shape 13"/>
          <p:cNvSpPr/>
          <p:nvPr/>
        </p:nvSpPr>
        <p:spPr>
          <a:xfrm>
            <a:off x="877824" y="2322576"/>
            <a:ext cx="329184" cy="329184"/>
          </a:xfrm>
          <a:prstGeom prst="ellipse">
            <a:avLst/>
          </a:prstGeom>
          <a:solidFill>
            <a:srgbClr val="7868B5"/>
          </a:solidFill>
          <a:ln w="12700">
            <a:solidFill>
              <a:srgbClr val="7868B5">
                <a:alpha val="0"/>
              </a:srgbClr>
            </a:solidFill>
            <a:prstDash val="solid"/>
          </a:ln>
        </p:spPr>
      </p:sp>
      <p:sp>
        <p:nvSpPr>
          <p:cNvPr id="16" name="Text 14"/>
          <p:cNvSpPr/>
          <p:nvPr/>
        </p:nvSpPr>
        <p:spPr>
          <a:xfrm>
            <a:off x="877824" y="2313432"/>
            <a:ext cx="329184" cy="32918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a:t>
            </a:r>
            <a:endParaRPr lang="en-US" sz="1200" dirty="0"/>
          </a:p>
        </p:txBody>
      </p:sp>
      <p:sp>
        <p:nvSpPr>
          <p:cNvPr id="17" name="Text 15"/>
          <p:cNvSpPr/>
          <p:nvPr/>
        </p:nvSpPr>
        <p:spPr>
          <a:xfrm>
            <a:off x="1335024" y="2276856"/>
            <a:ext cx="2505456" cy="256032"/>
          </a:xfrm>
          <a:prstGeom prst="rect">
            <a:avLst/>
          </a:prstGeom>
          <a:noFill/>
          <a:ln/>
        </p:spPr>
        <p:txBody>
          <a:bodyPr wrap="square" lIns="0" tIns="0" rIns="0" bIns="0" rtlCol="0" anchor="ctr">
            <a:normAutofit/>
          </a:bodyPr>
          <a:lstStyle/>
          <a:p>
            <a:pPr algn="l" indent="0" marL="0">
              <a:buNone/>
            </a:pPr>
            <a:r>
              <a:rPr lang="en-US" sz="1320" b="1" dirty="0">
                <a:solidFill>
                  <a:srgbClr val="102A43"/>
                </a:solidFill>
                <a:latin typeface="Aptos" pitchFamily="34" charset="0"/>
                <a:ea typeface="Aptos" pitchFamily="34" charset="-122"/>
                <a:cs typeface="Aptos" pitchFamily="34" charset="-120"/>
              </a:rPr>
              <a:t>Kanal anonim</a:t>
            </a:r>
            <a:endParaRPr lang="en-US" sz="1320" dirty="0"/>
          </a:p>
        </p:txBody>
      </p:sp>
      <p:sp>
        <p:nvSpPr>
          <p:cNvPr id="18" name="Text 16"/>
          <p:cNvSpPr/>
          <p:nvPr/>
        </p:nvSpPr>
        <p:spPr>
          <a:xfrm>
            <a:off x="1335024" y="2578608"/>
            <a:ext cx="2505456" cy="448056"/>
          </a:xfrm>
          <a:prstGeom prst="rect">
            <a:avLst/>
          </a:prstGeom>
          <a:noFill/>
          <a:ln/>
        </p:spPr>
        <p:txBody>
          <a:bodyPr wrap="square" lIns="0" tIns="0" rIns="0" bIns="0" rtlCol="0" anchor="t">
            <a:normAutofit/>
          </a:bodyPr>
          <a:lstStyle/>
          <a:p>
            <a:pPr algn="l" indent="0" marL="0">
              <a:buNone/>
            </a:pPr>
            <a:r>
              <a:rPr lang="en-US" sz="980" dirty="0">
                <a:solidFill>
                  <a:srgbClr val="183044"/>
                </a:solidFill>
                <a:latin typeface="Aptos" pitchFamily="34" charset="0"/>
                <a:ea typeface="Aptos" pitchFamily="34" charset="-122"/>
                <a:cs typeface="Aptos" pitchFamily="34" charset="-120"/>
              </a:rPr>
              <a:t>Munculkan pertanyaan tanpa memaksa siswa membuka pengalaman pribadi.</a:t>
            </a:r>
            <a:endParaRPr lang="en-US" sz="980" dirty="0"/>
          </a:p>
        </p:txBody>
      </p:sp>
      <p:sp>
        <p:nvSpPr>
          <p:cNvPr id="19" name="Shape 17"/>
          <p:cNvSpPr/>
          <p:nvPr/>
        </p:nvSpPr>
        <p:spPr>
          <a:xfrm>
            <a:off x="713232" y="3703320"/>
            <a:ext cx="3291840" cy="1051560"/>
          </a:xfrm>
          <a:prstGeom prst="roundRect">
            <a:avLst>
              <a:gd name="adj" fmla="val 12174"/>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20" name="Shape 18"/>
          <p:cNvSpPr/>
          <p:nvPr/>
        </p:nvSpPr>
        <p:spPr>
          <a:xfrm>
            <a:off x="877824" y="3904488"/>
            <a:ext cx="329184" cy="329184"/>
          </a:xfrm>
          <a:prstGeom prst="ellipse">
            <a:avLst/>
          </a:prstGeom>
          <a:solidFill>
            <a:srgbClr val="38A99A"/>
          </a:solidFill>
          <a:ln w="12700">
            <a:solidFill>
              <a:srgbClr val="38A99A">
                <a:alpha val="0"/>
              </a:srgbClr>
            </a:solidFill>
            <a:prstDash val="solid"/>
          </a:ln>
        </p:spPr>
      </p:sp>
      <p:sp>
        <p:nvSpPr>
          <p:cNvPr id="21" name="Text 19"/>
          <p:cNvSpPr/>
          <p:nvPr/>
        </p:nvSpPr>
        <p:spPr>
          <a:xfrm>
            <a:off x="877824" y="3895344"/>
            <a:ext cx="329184" cy="32918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a:t>
            </a:r>
            <a:endParaRPr lang="en-US" sz="1200" dirty="0"/>
          </a:p>
        </p:txBody>
      </p:sp>
      <p:sp>
        <p:nvSpPr>
          <p:cNvPr id="22" name="Text 20"/>
          <p:cNvSpPr/>
          <p:nvPr/>
        </p:nvSpPr>
        <p:spPr>
          <a:xfrm>
            <a:off x="1335024" y="3858768"/>
            <a:ext cx="2505456" cy="256032"/>
          </a:xfrm>
          <a:prstGeom prst="rect">
            <a:avLst/>
          </a:prstGeom>
          <a:noFill/>
          <a:ln/>
        </p:spPr>
        <p:txBody>
          <a:bodyPr wrap="square" lIns="0" tIns="0" rIns="0" bIns="0" rtlCol="0" anchor="ctr">
            <a:normAutofit/>
          </a:bodyPr>
          <a:lstStyle/>
          <a:p>
            <a:pPr algn="l" indent="0" marL="0">
              <a:buNone/>
            </a:pPr>
            <a:r>
              <a:rPr lang="en-US" sz="1320" b="1" dirty="0">
                <a:solidFill>
                  <a:srgbClr val="102A43"/>
                </a:solidFill>
                <a:latin typeface="Aptos" pitchFamily="34" charset="0"/>
                <a:ea typeface="Aptos" pitchFamily="34" charset="-122"/>
                <a:cs typeface="Aptos" pitchFamily="34" charset="-120"/>
              </a:rPr>
              <a:t>LKPD digital</a:t>
            </a:r>
            <a:endParaRPr lang="en-US" sz="1320" dirty="0"/>
          </a:p>
        </p:txBody>
      </p:sp>
      <p:sp>
        <p:nvSpPr>
          <p:cNvPr id="23" name="Text 21"/>
          <p:cNvSpPr/>
          <p:nvPr/>
        </p:nvSpPr>
        <p:spPr>
          <a:xfrm>
            <a:off x="1335024" y="4160520"/>
            <a:ext cx="2505456" cy="448056"/>
          </a:xfrm>
          <a:prstGeom prst="rect">
            <a:avLst/>
          </a:prstGeom>
          <a:noFill/>
          <a:ln/>
        </p:spPr>
        <p:txBody>
          <a:bodyPr wrap="square" lIns="0" tIns="0" rIns="0" bIns="0" rtlCol="0" anchor="t">
            <a:normAutofit/>
          </a:bodyPr>
          <a:lstStyle/>
          <a:p>
            <a:pPr algn="l" indent="0" marL="0">
              <a:buNone/>
            </a:pPr>
            <a:r>
              <a:rPr lang="en-US" sz="980" dirty="0">
                <a:solidFill>
                  <a:srgbClr val="183044"/>
                </a:solidFill>
                <a:latin typeface="Aptos" pitchFamily="34" charset="0"/>
                <a:ea typeface="Aptos" pitchFamily="34" charset="-122"/>
                <a:cs typeface="Aptos" pitchFamily="34" charset="-120"/>
              </a:rPr>
              <a:t>Catat klaim, sumber pembanding, bukti, alasan, dan simpulan.</a:t>
            </a:r>
            <a:endParaRPr lang="en-US" sz="980" dirty="0"/>
          </a:p>
        </p:txBody>
      </p:sp>
      <p:sp>
        <p:nvSpPr>
          <p:cNvPr id="24" name="Shape 22"/>
          <p:cNvSpPr/>
          <p:nvPr/>
        </p:nvSpPr>
        <p:spPr>
          <a:xfrm>
            <a:off x="8156448" y="2121408"/>
            <a:ext cx="3291840" cy="1051560"/>
          </a:xfrm>
          <a:prstGeom prst="roundRect">
            <a:avLst>
              <a:gd name="adj" fmla="val 12174"/>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25" name="Shape 23"/>
          <p:cNvSpPr/>
          <p:nvPr/>
        </p:nvSpPr>
        <p:spPr>
          <a:xfrm>
            <a:off x="8321040" y="2322576"/>
            <a:ext cx="329184" cy="329184"/>
          </a:xfrm>
          <a:prstGeom prst="ellipse">
            <a:avLst/>
          </a:prstGeom>
          <a:solidFill>
            <a:srgbClr val="2F6690"/>
          </a:solidFill>
          <a:ln w="12700">
            <a:solidFill>
              <a:srgbClr val="2F6690">
                <a:alpha val="0"/>
              </a:srgbClr>
            </a:solidFill>
            <a:prstDash val="solid"/>
          </a:ln>
        </p:spPr>
      </p:sp>
      <p:sp>
        <p:nvSpPr>
          <p:cNvPr id="26" name="Text 24"/>
          <p:cNvSpPr/>
          <p:nvPr/>
        </p:nvSpPr>
        <p:spPr>
          <a:xfrm>
            <a:off x="8321040" y="2313432"/>
            <a:ext cx="329184" cy="32918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a:t>
            </a:r>
            <a:endParaRPr lang="en-US" sz="1200" dirty="0"/>
          </a:p>
        </p:txBody>
      </p:sp>
      <p:sp>
        <p:nvSpPr>
          <p:cNvPr id="27" name="Text 25"/>
          <p:cNvSpPr/>
          <p:nvPr/>
        </p:nvSpPr>
        <p:spPr>
          <a:xfrm>
            <a:off x="8778240" y="2276856"/>
            <a:ext cx="2505456" cy="256032"/>
          </a:xfrm>
          <a:prstGeom prst="rect">
            <a:avLst/>
          </a:prstGeom>
          <a:noFill/>
          <a:ln/>
        </p:spPr>
        <p:txBody>
          <a:bodyPr wrap="square" lIns="0" tIns="0" rIns="0" bIns="0" rtlCol="0" anchor="ctr">
            <a:normAutofit/>
          </a:bodyPr>
          <a:lstStyle/>
          <a:p>
            <a:pPr algn="l" indent="0" marL="0">
              <a:buNone/>
            </a:pPr>
            <a:r>
              <a:rPr lang="en-US" sz="1320" b="1" dirty="0">
                <a:solidFill>
                  <a:srgbClr val="102A43"/>
                </a:solidFill>
                <a:latin typeface="Aptos" pitchFamily="34" charset="0"/>
                <a:ea typeface="Aptos" pitchFamily="34" charset="-122"/>
                <a:cs typeface="Aptos" pitchFamily="34" charset="-120"/>
              </a:rPr>
              <a:t>Pencarian web</a:t>
            </a:r>
            <a:endParaRPr lang="en-US" sz="1320" dirty="0"/>
          </a:p>
        </p:txBody>
      </p:sp>
      <p:sp>
        <p:nvSpPr>
          <p:cNvPr id="28" name="Text 26"/>
          <p:cNvSpPr/>
          <p:nvPr/>
        </p:nvSpPr>
        <p:spPr>
          <a:xfrm>
            <a:off x="8778240" y="2578608"/>
            <a:ext cx="2505456" cy="448056"/>
          </a:xfrm>
          <a:prstGeom prst="rect">
            <a:avLst/>
          </a:prstGeom>
          <a:noFill/>
          <a:ln/>
        </p:spPr>
        <p:txBody>
          <a:bodyPr wrap="square" lIns="0" tIns="0" rIns="0" bIns="0" rtlCol="0" anchor="t">
            <a:normAutofit/>
          </a:bodyPr>
          <a:lstStyle/>
          <a:p>
            <a:pPr algn="l" indent="0" marL="0">
              <a:buNone/>
            </a:pPr>
            <a:r>
              <a:rPr lang="en-US" sz="980" dirty="0">
                <a:solidFill>
                  <a:srgbClr val="183044"/>
                </a:solidFill>
                <a:latin typeface="Aptos" pitchFamily="34" charset="0"/>
                <a:ea typeface="Aptos" pitchFamily="34" charset="-122"/>
                <a:cs typeface="Aptos" pitchFamily="34" charset="-120"/>
              </a:rPr>
              <a:t>Periksa sumber resmi, bandingkan klaim, telusuri balik gambar jika tersedia.</a:t>
            </a:r>
            <a:endParaRPr lang="en-US" sz="980" dirty="0"/>
          </a:p>
        </p:txBody>
      </p:sp>
      <p:sp>
        <p:nvSpPr>
          <p:cNvPr id="29" name="Shape 27"/>
          <p:cNvSpPr/>
          <p:nvPr/>
        </p:nvSpPr>
        <p:spPr>
          <a:xfrm>
            <a:off x="8156448" y="3703320"/>
            <a:ext cx="3291840" cy="1051560"/>
          </a:xfrm>
          <a:prstGeom prst="roundRect">
            <a:avLst>
              <a:gd name="adj" fmla="val 12174"/>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30" name="Shape 28"/>
          <p:cNvSpPr/>
          <p:nvPr/>
        </p:nvSpPr>
        <p:spPr>
          <a:xfrm>
            <a:off x="8321040" y="3904488"/>
            <a:ext cx="329184" cy="329184"/>
          </a:xfrm>
          <a:prstGeom prst="ellipse">
            <a:avLst/>
          </a:prstGeom>
          <a:solidFill>
            <a:srgbClr val="F06A5C"/>
          </a:solidFill>
          <a:ln w="12700">
            <a:solidFill>
              <a:srgbClr val="F06A5C">
                <a:alpha val="0"/>
              </a:srgbClr>
            </a:solidFill>
            <a:prstDash val="solid"/>
          </a:ln>
        </p:spPr>
      </p:sp>
      <p:sp>
        <p:nvSpPr>
          <p:cNvPr id="31" name="Text 29"/>
          <p:cNvSpPr/>
          <p:nvPr/>
        </p:nvSpPr>
        <p:spPr>
          <a:xfrm>
            <a:off x="8321040" y="3895344"/>
            <a:ext cx="329184" cy="32918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a:t>
            </a:r>
            <a:endParaRPr lang="en-US" sz="1200" dirty="0"/>
          </a:p>
        </p:txBody>
      </p:sp>
      <p:sp>
        <p:nvSpPr>
          <p:cNvPr id="32" name="Text 30"/>
          <p:cNvSpPr/>
          <p:nvPr/>
        </p:nvSpPr>
        <p:spPr>
          <a:xfrm>
            <a:off x="8778240" y="3858768"/>
            <a:ext cx="2505456" cy="256032"/>
          </a:xfrm>
          <a:prstGeom prst="rect">
            <a:avLst/>
          </a:prstGeom>
          <a:noFill/>
          <a:ln/>
        </p:spPr>
        <p:txBody>
          <a:bodyPr wrap="square" lIns="0" tIns="0" rIns="0" bIns="0" rtlCol="0" anchor="ctr">
            <a:normAutofit/>
          </a:bodyPr>
          <a:lstStyle/>
          <a:p>
            <a:pPr algn="l" indent="0" marL="0">
              <a:buNone/>
            </a:pPr>
            <a:r>
              <a:rPr lang="en-US" sz="1320" b="1" dirty="0">
                <a:solidFill>
                  <a:srgbClr val="102A43"/>
                </a:solidFill>
                <a:latin typeface="Aptos" pitchFamily="34" charset="0"/>
                <a:ea typeface="Aptos" pitchFamily="34" charset="-122"/>
                <a:cs typeface="Aptos" pitchFamily="34" charset="-120"/>
              </a:rPr>
              <a:t>Padlet / papan kolaborasi</a:t>
            </a:r>
            <a:endParaRPr lang="en-US" sz="1320" dirty="0"/>
          </a:p>
        </p:txBody>
      </p:sp>
      <p:sp>
        <p:nvSpPr>
          <p:cNvPr id="33" name="Text 31"/>
          <p:cNvSpPr/>
          <p:nvPr/>
        </p:nvSpPr>
        <p:spPr>
          <a:xfrm>
            <a:off x="8778240" y="4160520"/>
            <a:ext cx="2505456" cy="448056"/>
          </a:xfrm>
          <a:prstGeom prst="rect">
            <a:avLst/>
          </a:prstGeom>
          <a:noFill/>
          <a:ln/>
        </p:spPr>
        <p:txBody>
          <a:bodyPr wrap="square" lIns="0" tIns="0" rIns="0" bIns="0" rtlCol="0" anchor="t">
            <a:normAutofit/>
          </a:bodyPr>
          <a:lstStyle/>
          <a:p>
            <a:pPr algn="l" indent="0" marL="0">
              <a:buNone/>
            </a:pPr>
            <a:r>
              <a:rPr lang="en-US" sz="980" dirty="0">
                <a:solidFill>
                  <a:srgbClr val="183044"/>
                </a:solidFill>
                <a:latin typeface="Aptos" pitchFamily="34" charset="0"/>
                <a:ea typeface="Aptos" pitchFamily="34" charset="-122"/>
                <a:cs typeface="Aptos" pitchFamily="34" charset="-120"/>
              </a:rPr>
              <a:t>Publikasikan temuan kelompok dan beri komentar berbasis bukti.</a:t>
            </a:r>
            <a:endParaRPr lang="en-US" sz="980" dirty="0"/>
          </a:p>
        </p:txBody>
      </p:sp>
      <p:sp>
        <p:nvSpPr>
          <p:cNvPr id="34" name="Shape 32"/>
          <p:cNvSpPr/>
          <p:nvPr/>
        </p:nvSpPr>
        <p:spPr>
          <a:xfrm>
            <a:off x="713232" y="5166360"/>
            <a:ext cx="10735056" cy="658368"/>
          </a:xfrm>
          <a:prstGeom prst="roundRect">
            <a:avLst>
              <a:gd name="adj" fmla="val 19444"/>
            </a:avLst>
          </a:prstGeom>
          <a:solidFill>
            <a:srgbClr val="FFF4CC"/>
          </a:solidFill>
          <a:ln w="12700">
            <a:solidFill>
              <a:srgbClr val="FFF4CC">
                <a:alpha val="0"/>
              </a:srgbClr>
            </a:solidFill>
            <a:prstDash val="solid"/>
          </a:ln>
        </p:spPr>
      </p:sp>
      <p:sp>
        <p:nvSpPr>
          <p:cNvPr id="35" name="Shape 33"/>
          <p:cNvSpPr/>
          <p:nvPr/>
        </p:nvSpPr>
        <p:spPr>
          <a:xfrm>
            <a:off x="896112" y="5294376"/>
            <a:ext cx="384048" cy="384048"/>
          </a:xfrm>
          <a:prstGeom prst="roundRect">
            <a:avLst>
              <a:gd name="adj" fmla="val 28571"/>
            </a:avLst>
          </a:prstGeom>
          <a:solidFill>
            <a:srgbClr val="18766F"/>
          </a:solidFill>
          <a:ln w="12700">
            <a:solidFill>
              <a:srgbClr val="18766F">
                <a:alpha val="0"/>
              </a:srgbClr>
            </a:solidFill>
            <a:prstDash val="solid"/>
          </a:ln>
        </p:spPr>
      </p:sp>
      <p:sp>
        <p:nvSpPr>
          <p:cNvPr id="36" name="Shape 34"/>
          <p:cNvSpPr/>
          <p:nvPr/>
        </p:nvSpPr>
        <p:spPr>
          <a:xfrm>
            <a:off x="980603" y="5494081"/>
            <a:ext cx="76810" cy="69129"/>
          </a:xfrm>
          <a:prstGeom prst="line">
            <a:avLst/>
          </a:prstGeom>
          <a:noFill/>
          <a:ln w="30480">
            <a:solidFill>
              <a:srgbClr val="FFFFFF"/>
            </a:solidFill>
            <a:prstDash val="solid"/>
            <a:headEnd type="none"/>
            <a:tailEnd type="none"/>
          </a:ln>
        </p:spPr>
      </p:sp>
      <p:sp>
        <p:nvSpPr>
          <p:cNvPr id="37" name="Shape 35"/>
          <p:cNvSpPr/>
          <p:nvPr/>
        </p:nvSpPr>
        <p:spPr>
          <a:xfrm>
            <a:off x="1057412" y="5563210"/>
            <a:ext cx="138257" cy="-161300"/>
          </a:xfrm>
          <a:prstGeom prst="line">
            <a:avLst/>
          </a:prstGeom>
          <a:noFill/>
          <a:ln w="30480">
            <a:solidFill>
              <a:srgbClr val="FFFFFF"/>
            </a:solidFill>
            <a:prstDash val="solid"/>
            <a:headEnd type="none"/>
            <a:tailEnd type="none"/>
          </a:ln>
        </p:spPr>
      </p:sp>
      <p:sp>
        <p:nvSpPr>
          <p:cNvPr id="38" name="Text 36"/>
          <p:cNvSpPr/>
          <p:nvPr/>
        </p:nvSpPr>
        <p:spPr>
          <a:xfrm>
            <a:off x="1408176" y="5312664"/>
            <a:ext cx="1097280" cy="201168"/>
          </a:xfrm>
          <a:prstGeom prst="rect">
            <a:avLst/>
          </a:prstGeom>
          <a:noFill/>
          <a:ln/>
        </p:spPr>
        <p:txBody>
          <a:bodyPr wrap="square" lIns="0" tIns="0" rIns="0" bIns="0" rtlCol="0" anchor="ctr">
            <a:normAutofit/>
          </a:bodyPr>
          <a:lstStyle/>
          <a:p>
            <a:pPr algn="l" indent="0" marL="0">
              <a:buNone/>
            </a:pPr>
            <a:r>
              <a:rPr lang="en-US" sz="900" b="1" spc="50" kern="0" dirty="0">
                <a:solidFill>
                  <a:srgbClr val="18766F"/>
                </a:solidFill>
                <a:latin typeface="Aptos" pitchFamily="34" charset="0"/>
                <a:ea typeface="Aptos" pitchFamily="34" charset="-122"/>
                <a:cs typeface="Aptos" pitchFamily="34" charset="-120"/>
              </a:rPr>
              <a:t>PENGAMANAN</a:t>
            </a:r>
            <a:endParaRPr lang="en-US" sz="900" dirty="0"/>
          </a:p>
        </p:txBody>
      </p:sp>
      <p:sp>
        <p:nvSpPr>
          <p:cNvPr id="39" name="Text 37"/>
          <p:cNvSpPr/>
          <p:nvPr/>
        </p:nvSpPr>
        <p:spPr>
          <a:xfrm>
            <a:off x="2514600" y="5285232"/>
            <a:ext cx="8595360" cy="320040"/>
          </a:xfrm>
          <a:prstGeom prst="rect">
            <a:avLst/>
          </a:prstGeom>
          <a:noFill/>
          <a:ln/>
        </p:spPr>
        <p:txBody>
          <a:bodyPr wrap="square" lIns="0" tIns="0" rIns="0" bIns="0" rtlCol="0" anchor="ctr">
            <a:normAutofit/>
          </a:bodyPr>
          <a:lstStyle/>
          <a:p>
            <a:pPr algn="l" indent="0" marL="0">
              <a:buNone/>
            </a:pPr>
            <a:r>
              <a:rPr lang="en-US" sz="1020" b="1" dirty="0">
                <a:solidFill>
                  <a:srgbClr val="183044"/>
                </a:solidFill>
                <a:latin typeface="Aptos" pitchFamily="34" charset="0"/>
                <a:ea typeface="Aptos" pitchFamily="34" charset="-122"/>
                <a:cs typeface="Aptos" pitchFamily="34" charset="-120"/>
              </a:rPr>
              <a:t>Gunakan kasus simulasi • jangan klik tautan aktif • jangan masukkan kata sandi/OTP • sediakan materi ringan atau alternatif luring</a:t>
            </a:r>
            <a:endParaRPr lang="en-US" sz="102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37587"/>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66928" y="329184"/>
            <a:ext cx="2194560" cy="274320"/>
          </a:xfrm>
          <a:prstGeom prst="roundRect">
            <a:avLst>
              <a:gd name="adj" fmla="val 46667"/>
            </a:avLst>
          </a:prstGeom>
          <a:solidFill>
            <a:srgbClr val="DDF4EC"/>
          </a:solidFill>
          <a:ln w="12700">
            <a:solidFill>
              <a:srgbClr val="DDF4EC">
                <a:alpha val="0"/>
              </a:srgbClr>
            </a:solidFill>
            <a:prstDash val="solid"/>
          </a:ln>
        </p:spPr>
      </p:sp>
      <p:sp>
        <p:nvSpPr>
          <p:cNvPr id="3" name="Text 1"/>
          <p:cNvSpPr/>
          <p:nvPr/>
        </p:nvSpPr>
        <p:spPr>
          <a:xfrm>
            <a:off x="640080" y="342900"/>
            <a:ext cx="2048256" cy="256032"/>
          </a:xfrm>
          <a:prstGeom prst="rect">
            <a:avLst/>
          </a:prstGeom>
          <a:noFill/>
          <a:ln/>
        </p:spPr>
        <p:txBody>
          <a:bodyPr wrap="square" lIns="0" tIns="0" rIns="0" bIns="0" rtlCol="0" anchor="ctr">
            <a:normAutofit/>
          </a:bodyPr>
          <a:lstStyle/>
          <a:p>
            <a:pPr algn="ctr" indent="0" marL="0">
              <a:buNone/>
            </a:pPr>
            <a:r>
              <a:rPr lang="en-US" sz="850" b="1" spc="40" kern="0" dirty="0">
                <a:solidFill>
                  <a:srgbClr val="18766F"/>
                </a:solidFill>
                <a:latin typeface="Aptos" pitchFamily="34" charset="0"/>
                <a:ea typeface="Aptos" pitchFamily="34" charset="-122"/>
                <a:cs typeface="Aptos" pitchFamily="34" charset="-120"/>
              </a:rPr>
              <a:t>07 • PROSEDUR INVESTIGASI</a:t>
            </a:r>
            <a:endParaRPr lang="en-US" sz="850" dirty="0"/>
          </a:p>
        </p:txBody>
      </p:sp>
      <p:sp>
        <p:nvSpPr>
          <p:cNvPr id="4" name="Text 2"/>
          <p:cNvSpPr/>
          <p:nvPr/>
        </p:nvSpPr>
        <p:spPr>
          <a:xfrm>
            <a:off x="566928" y="749808"/>
            <a:ext cx="10972800" cy="548640"/>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Dari klaim menuju kesimpulan berbasis bukti</a:t>
            </a:r>
            <a:endParaRPr lang="en-US" sz="2800" dirty="0"/>
          </a:p>
        </p:txBody>
      </p:sp>
      <p:sp>
        <p:nvSpPr>
          <p:cNvPr id="5" name="Text 3"/>
          <p:cNvSpPr/>
          <p:nvPr/>
        </p:nvSpPr>
        <p:spPr>
          <a:xfrm>
            <a:off x="585216" y="1307592"/>
            <a:ext cx="10881360" cy="329184"/>
          </a:xfrm>
          <a:prstGeom prst="rect">
            <a:avLst/>
          </a:prstGeom>
          <a:noFill/>
          <a:ln/>
        </p:spPr>
        <p:txBody>
          <a:bodyPr wrap="square" lIns="0" tIns="0" rIns="0" bIns="0" rtlCol="0" anchor="ctr">
            <a:normAutofit/>
          </a:bodyPr>
          <a:lstStyle/>
          <a:p>
            <a:pPr algn="l" indent="0" marL="0">
              <a:buNone/>
            </a:pPr>
            <a:r>
              <a:rPr lang="en-US" sz="1250" dirty="0">
                <a:solidFill>
                  <a:srgbClr val="617587"/>
                </a:solidFill>
                <a:latin typeface="Aptos" pitchFamily="34" charset="0"/>
                <a:ea typeface="Aptos" pitchFamily="34" charset="-122"/>
                <a:cs typeface="Aptos" pitchFamily="34" charset="-120"/>
              </a:rPr>
              <a:t>Ajarkan proses berpikir yang bisa diulang peserta didik pada kasus lain.</a:t>
            </a:r>
            <a:endParaRPr lang="en-US" sz="1250" dirty="0"/>
          </a:p>
        </p:txBody>
      </p:sp>
      <p:sp>
        <p:nvSpPr>
          <p:cNvPr id="6" name="Shape 4"/>
          <p:cNvSpPr/>
          <p:nvPr/>
        </p:nvSpPr>
        <p:spPr>
          <a:xfrm>
            <a:off x="749808" y="1892808"/>
            <a:ext cx="384048" cy="384048"/>
          </a:xfrm>
          <a:prstGeom prst="ellipse">
            <a:avLst/>
          </a:prstGeom>
          <a:solidFill>
            <a:srgbClr val="2F6690"/>
          </a:solidFill>
          <a:ln w="12700">
            <a:solidFill>
              <a:srgbClr val="2F6690">
                <a:alpha val="0"/>
              </a:srgbClr>
            </a:solidFill>
            <a:prstDash val="solid"/>
          </a:ln>
        </p:spPr>
      </p:sp>
      <p:sp>
        <p:nvSpPr>
          <p:cNvPr id="7" name="Text 5"/>
          <p:cNvSpPr/>
          <p:nvPr/>
        </p:nvSpPr>
        <p:spPr>
          <a:xfrm>
            <a:off x="749808" y="1892808"/>
            <a:ext cx="384048" cy="38404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01</a:t>
            </a:r>
            <a:endParaRPr lang="en-US" sz="950" dirty="0"/>
          </a:p>
        </p:txBody>
      </p:sp>
      <p:sp>
        <p:nvSpPr>
          <p:cNvPr id="8" name="Text 6"/>
          <p:cNvSpPr/>
          <p:nvPr/>
        </p:nvSpPr>
        <p:spPr>
          <a:xfrm>
            <a:off x="1298448" y="1874520"/>
            <a:ext cx="1965960" cy="246888"/>
          </a:xfrm>
          <a:prstGeom prst="rect">
            <a:avLst/>
          </a:prstGeom>
          <a:noFill/>
          <a:ln/>
        </p:spPr>
        <p:txBody>
          <a:bodyPr wrap="square" lIns="0" tIns="0" rIns="0" bIns="0" rtlCol="0" anchor="ctr">
            <a:normAutofit/>
          </a:bodyPr>
          <a:lstStyle/>
          <a:p>
            <a:pPr algn="l" indent="0" marL="0">
              <a:buNone/>
            </a:pPr>
            <a:r>
              <a:rPr lang="en-US" sz="1320" b="1" dirty="0">
                <a:solidFill>
                  <a:srgbClr val="102A43"/>
                </a:solidFill>
                <a:latin typeface="Aptos" pitchFamily="34" charset="0"/>
                <a:ea typeface="Aptos" pitchFamily="34" charset="-122"/>
                <a:cs typeface="Aptos" pitchFamily="34" charset="-120"/>
              </a:rPr>
              <a:t>Catat klaim</a:t>
            </a:r>
            <a:endParaRPr lang="en-US" sz="1320" dirty="0"/>
          </a:p>
        </p:txBody>
      </p:sp>
      <p:sp>
        <p:nvSpPr>
          <p:cNvPr id="9" name="Text 7"/>
          <p:cNvSpPr/>
          <p:nvPr/>
        </p:nvSpPr>
        <p:spPr>
          <a:xfrm>
            <a:off x="3273552" y="1874520"/>
            <a:ext cx="4919472" cy="438912"/>
          </a:xfrm>
          <a:prstGeom prst="rect">
            <a:avLst/>
          </a:prstGeom>
          <a:noFill/>
          <a:ln/>
        </p:spPr>
        <p:txBody>
          <a:bodyPr wrap="square" lIns="0" tIns="0" rIns="0" bIns="0" rtlCol="0" anchor="t">
            <a:normAutofit/>
          </a:bodyPr>
          <a:lstStyle/>
          <a:p>
            <a:pPr algn="l" indent="0" marL="0">
              <a:buNone/>
            </a:pPr>
            <a:r>
              <a:rPr lang="en-US" sz="1060" dirty="0">
                <a:solidFill>
                  <a:srgbClr val="183044"/>
                </a:solidFill>
                <a:latin typeface="Aptos" pitchFamily="34" charset="0"/>
                <a:ea typeface="Aptos" pitchFamily="34" charset="-122"/>
                <a:cs typeface="Aptos" pitchFamily="34" charset="-120"/>
              </a:rPr>
              <a:t>Apa yang dikatakan pesan atau video? Catat pengirim, tanggal, dan domain yang terlihat.</a:t>
            </a:r>
            <a:endParaRPr lang="en-US" sz="1060" dirty="0"/>
          </a:p>
        </p:txBody>
      </p:sp>
      <p:sp>
        <p:nvSpPr>
          <p:cNvPr id="10" name="Shape 8"/>
          <p:cNvSpPr/>
          <p:nvPr/>
        </p:nvSpPr>
        <p:spPr>
          <a:xfrm>
            <a:off x="941832" y="2267712"/>
            <a:ext cx="0" cy="310896"/>
          </a:xfrm>
          <a:prstGeom prst="line">
            <a:avLst/>
          </a:prstGeom>
          <a:noFill/>
          <a:ln w="20320">
            <a:solidFill>
              <a:srgbClr val="D9E1E8"/>
            </a:solidFill>
            <a:prstDash val="solid"/>
            <a:headEnd type="none"/>
            <a:tailEnd type="none"/>
          </a:ln>
        </p:spPr>
      </p:sp>
      <p:sp>
        <p:nvSpPr>
          <p:cNvPr id="11" name="Shape 9"/>
          <p:cNvSpPr/>
          <p:nvPr/>
        </p:nvSpPr>
        <p:spPr>
          <a:xfrm>
            <a:off x="749808" y="2642616"/>
            <a:ext cx="384048" cy="384048"/>
          </a:xfrm>
          <a:prstGeom prst="ellipse">
            <a:avLst/>
          </a:prstGeom>
          <a:solidFill>
            <a:srgbClr val="2F6690"/>
          </a:solidFill>
          <a:ln w="12700">
            <a:solidFill>
              <a:srgbClr val="2F6690">
                <a:alpha val="0"/>
              </a:srgbClr>
            </a:solidFill>
            <a:prstDash val="solid"/>
          </a:ln>
        </p:spPr>
      </p:sp>
      <p:sp>
        <p:nvSpPr>
          <p:cNvPr id="12" name="Text 10"/>
          <p:cNvSpPr/>
          <p:nvPr/>
        </p:nvSpPr>
        <p:spPr>
          <a:xfrm>
            <a:off x="749808" y="2642616"/>
            <a:ext cx="384048" cy="38404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02</a:t>
            </a:r>
            <a:endParaRPr lang="en-US" sz="950" dirty="0"/>
          </a:p>
        </p:txBody>
      </p:sp>
      <p:sp>
        <p:nvSpPr>
          <p:cNvPr id="13" name="Text 11"/>
          <p:cNvSpPr/>
          <p:nvPr/>
        </p:nvSpPr>
        <p:spPr>
          <a:xfrm>
            <a:off x="1298448" y="2624328"/>
            <a:ext cx="1965960" cy="246888"/>
          </a:xfrm>
          <a:prstGeom prst="rect">
            <a:avLst/>
          </a:prstGeom>
          <a:noFill/>
          <a:ln/>
        </p:spPr>
        <p:txBody>
          <a:bodyPr wrap="square" lIns="0" tIns="0" rIns="0" bIns="0" rtlCol="0" anchor="ctr">
            <a:normAutofit/>
          </a:bodyPr>
          <a:lstStyle/>
          <a:p>
            <a:pPr algn="l" indent="0" marL="0">
              <a:buNone/>
            </a:pPr>
            <a:r>
              <a:rPr lang="en-US" sz="1320" b="1" dirty="0">
                <a:solidFill>
                  <a:srgbClr val="102A43"/>
                </a:solidFill>
                <a:latin typeface="Aptos" pitchFamily="34" charset="0"/>
                <a:ea typeface="Aptos" pitchFamily="34" charset="-122"/>
                <a:cs typeface="Aptos" pitchFamily="34" charset="-120"/>
              </a:rPr>
              <a:t>Buka sumber lain</a:t>
            </a:r>
            <a:endParaRPr lang="en-US" sz="1320" dirty="0"/>
          </a:p>
        </p:txBody>
      </p:sp>
      <p:sp>
        <p:nvSpPr>
          <p:cNvPr id="14" name="Text 12"/>
          <p:cNvSpPr/>
          <p:nvPr/>
        </p:nvSpPr>
        <p:spPr>
          <a:xfrm>
            <a:off x="3273552" y="2624328"/>
            <a:ext cx="4919472" cy="438912"/>
          </a:xfrm>
          <a:prstGeom prst="rect">
            <a:avLst/>
          </a:prstGeom>
          <a:noFill/>
          <a:ln/>
        </p:spPr>
        <p:txBody>
          <a:bodyPr wrap="square" lIns="0" tIns="0" rIns="0" bIns="0" rtlCol="0" anchor="t">
            <a:normAutofit/>
          </a:bodyPr>
          <a:lstStyle/>
          <a:p>
            <a:pPr algn="l" indent="0" marL="0">
              <a:buNone/>
            </a:pPr>
            <a:r>
              <a:rPr lang="en-US" sz="1060" dirty="0">
                <a:solidFill>
                  <a:srgbClr val="183044"/>
                </a:solidFill>
                <a:latin typeface="Aptos" pitchFamily="34" charset="0"/>
                <a:ea typeface="Aptos" pitchFamily="34" charset="-122"/>
                <a:cs typeface="Aptos" pitchFamily="34" charset="-120"/>
              </a:rPr>
              <a:t>Lakukan lateral reading; periksa kanal resmi atau sumber tepercaya di luar halaman awal.</a:t>
            </a:r>
            <a:endParaRPr lang="en-US" sz="1060" dirty="0"/>
          </a:p>
        </p:txBody>
      </p:sp>
      <p:sp>
        <p:nvSpPr>
          <p:cNvPr id="15" name="Shape 13"/>
          <p:cNvSpPr/>
          <p:nvPr/>
        </p:nvSpPr>
        <p:spPr>
          <a:xfrm>
            <a:off x="941832" y="3017520"/>
            <a:ext cx="0" cy="310896"/>
          </a:xfrm>
          <a:prstGeom prst="line">
            <a:avLst/>
          </a:prstGeom>
          <a:noFill/>
          <a:ln w="20320">
            <a:solidFill>
              <a:srgbClr val="D9E1E8"/>
            </a:solidFill>
            <a:prstDash val="solid"/>
            <a:headEnd type="none"/>
            <a:tailEnd type="none"/>
          </a:ln>
        </p:spPr>
      </p:sp>
      <p:sp>
        <p:nvSpPr>
          <p:cNvPr id="16" name="Shape 14"/>
          <p:cNvSpPr/>
          <p:nvPr/>
        </p:nvSpPr>
        <p:spPr>
          <a:xfrm>
            <a:off x="749808" y="3392424"/>
            <a:ext cx="384048" cy="384048"/>
          </a:xfrm>
          <a:prstGeom prst="ellipse">
            <a:avLst/>
          </a:prstGeom>
          <a:solidFill>
            <a:srgbClr val="38A99A"/>
          </a:solidFill>
          <a:ln w="12700">
            <a:solidFill>
              <a:srgbClr val="38A99A">
                <a:alpha val="0"/>
              </a:srgbClr>
            </a:solidFill>
            <a:prstDash val="solid"/>
          </a:ln>
        </p:spPr>
      </p:sp>
      <p:sp>
        <p:nvSpPr>
          <p:cNvPr id="17" name="Text 15"/>
          <p:cNvSpPr/>
          <p:nvPr/>
        </p:nvSpPr>
        <p:spPr>
          <a:xfrm>
            <a:off x="749808" y="3392424"/>
            <a:ext cx="384048" cy="38404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03</a:t>
            </a:r>
            <a:endParaRPr lang="en-US" sz="950" dirty="0"/>
          </a:p>
        </p:txBody>
      </p:sp>
      <p:sp>
        <p:nvSpPr>
          <p:cNvPr id="18" name="Text 16"/>
          <p:cNvSpPr/>
          <p:nvPr/>
        </p:nvSpPr>
        <p:spPr>
          <a:xfrm>
            <a:off x="1298448" y="3374136"/>
            <a:ext cx="1965960" cy="246888"/>
          </a:xfrm>
          <a:prstGeom prst="rect">
            <a:avLst/>
          </a:prstGeom>
          <a:noFill/>
          <a:ln/>
        </p:spPr>
        <p:txBody>
          <a:bodyPr wrap="square" lIns="0" tIns="0" rIns="0" bIns="0" rtlCol="0" anchor="ctr">
            <a:normAutofit/>
          </a:bodyPr>
          <a:lstStyle/>
          <a:p>
            <a:pPr algn="l" indent="0" marL="0">
              <a:buNone/>
            </a:pPr>
            <a:r>
              <a:rPr lang="en-US" sz="1320" b="1" dirty="0">
                <a:solidFill>
                  <a:srgbClr val="102A43"/>
                </a:solidFill>
                <a:latin typeface="Aptos" pitchFamily="34" charset="0"/>
                <a:ea typeface="Aptos" pitchFamily="34" charset="-122"/>
                <a:cs typeface="Aptos" pitchFamily="34" charset="-120"/>
              </a:rPr>
              <a:t>Bandingkan bukti</a:t>
            </a:r>
            <a:endParaRPr lang="en-US" sz="1320" dirty="0"/>
          </a:p>
        </p:txBody>
      </p:sp>
      <p:sp>
        <p:nvSpPr>
          <p:cNvPr id="19" name="Text 17"/>
          <p:cNvSpPr/>
          <p:nvPr/>
        </p:nvSpPr>
        <p:spPr>
          <a:xfrm>
            <a:off x="3273552" y="3374136"/>
            <a:ext cx="4919472" cy="438912"/>
          </a:xfrm>
          <a:prstGeom prst="rect">
            <a:avLst/>
          </a:prstGeom>
          <a:noFill/>
          <a:ln/>
        </p:spPr>
        <p:txBody>
          <a:bodyPr wrap="square" lIns="0" tIns="0" rIns="0" bIns="0" rtlCol="0" anchor="t">
            <a:normAutofit/>
          </a:bodyPr>
          <a:lstStyle/>
          <a:p>
            <a:pPr algn="l" indent="0" marL="0">
              <a:buNone/>
            </a:pPr>
            <a:r>
              <a:rPr lang="en-US" sz="1060" dirty="0">
                <a:solidFill>
                  <a:srgbClr val="183044"/>
                </a:solidFill>
                <a:latin typeface="Aptos" pitchFamily="34" charset="0"/>
                <a:ea typeface="Aptos" pitchFamily="34" charset="-122"/>
                <a:cs typeface="Aptos" pitchFamily="34" charset="-120"/>
              </a:rPr>
              <a:t>Periksa minimal dua sumber relevan; cek konteks, tanggal, penerbit, dan kesesuaian konten.</a:t>
            </a:r>
            <a:endParaRPr lang="en-US" sz="1060" dirty="0"/>
          </a:p>
        </p:txBody>
      </p:sp>
      <p:sp>
        <p:nvSpPr>
          <p:cNvPr id="20" name="Shape 18"/>
          <p:cNvSpPr/>
          <p:nvPr/>
        </p:nvSpPr>
        <p:spPr>
          <a:xfrm>
            <a:off x="941832" y="3767328"/>
            <a:ext cx="0" cy="310896"/>
          </a:xfrm>
          <a:prstGeom prst="line">
            <a:avLst/>
          </a:prstGeom>
          <a:noFill/>
          <a:ln w="20320">
            <a:solidFill>
              <a:srgbClr val="D9E1E8"/>
            </a:solidFill>
            <a:prstDash val="solid"/>
            <a:headEnd type="none"/>
            <a:tailEnd type="none"/>
          </a:ln>
        </p:spPr>
      </p:sp>
      <p:sp>
        <p:nvSpPr>
          <p:cNvPr id="21" name="Shape 19"/>
          <p:cNvSpPr/>
          <p:nvPr/>
        </p:nvSpPr>
        <p:spPr>
          <a:xfrm>
            <a:off x="749808" y="4142232"/>
            <a:ext cx="384048" cy="384048"/>
          </a:xfrm>
          <a:prstGeom prst="ellipse">
            <a:avLst/>
          </a:prstGeom>
          <a:solidFill>
            <a:srgbClr val="2F6690"/>
          </a:solidFill>
          <a:ln w="12700">
            <a:solidFill>
              <a:srgbClr val="2F6690">
                <a:alpha val="0"/>
              </a:srgbClr>
            </a:solidFill>
            <a:prstDash val="solid"/>
          </a:ln>
        </p:spPr>
      </p:sp>
      <p:sp>
        <p:nvSpPr>
          <p:cNvPr id="22" name="Text 20"/>
          <p:cNvSpPr/>
          <p:nvPr/>
        </p:nvSpPr>
        <p:spPr>
          <a:xfrm>
            <a:off x="749808" y="4142232"/>
            <a:ext cx="384048" cy="38404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04</a:t>
            </a:r>
            <a:endParaRPr lang="en-US" sz="950" dirty="0"/>
          </a:p>
        </p:txBody>
      </p:sp>
      <p:sp>
        <p:nvSpPr>
          <p:cNvPr id="23" name="Text 21"/>
          <p:cNvSpPr/>
          <p:nvPr/>
        </p:nvSpPr>
        <p:spPr>
          <a:xfrm>
            <a:off x="1298448" y="4123944"/>
            <a:ext cx="1965960" cy="246888"/>
          </a:xfrm>
          <a:prstGeom prst="rect">
            <a:avLst/>
          </a:prstGeom>
          <a:noFill/>
          <a:ln/>
        </p:spPr>
        <p:txBody>
          <a:bodyPr wrap="square" lIns="0" tIns="0" rIns="0" bIns="0" rtlCol="0" anchor="ctr">
            <a:normAutofit/>
          </a:bodyPr>
          <a:lstStyle/>
          <a:p>
            <a:pPr algn="l" indent="0" marL="0">
              <a:buNone/>
            </a:pPr>
            <a:r>
              <a:rPr lang="en-US" sz="1320" b="1" dirty="0">
                <a:solidFill>
                  <a:srgbClr val="102A43"/>
                </a:solidFill>
                <a:latin typeface="Aptos" pitchFamily="34" charset="0"/>
                <a:ea typeface="Aptos" pitchFamily="34" charset="-122"/>
                <a:cs typeface="Aptos" pitchFamily="34" charset="-120"/>
              </a:rPr>
              <a:t>Telusuri visual</a:t>
            </a:r>
            <a:endParaRPr lang="en-US" sz="1320" dirty="0"/>
          </a:p>
        </p:txBody>
      </p:sp>
      <p:sp>
        <p:nvSpPr>
          <p:cNvPr id="24" name="Text 22"/>
          <p:cNvSpPr/>
          <p:nvPr/>
        </p:nvSpPr>
        <p:spPr>
          <a:xfrm>
            <a:off x="3273552" y="4123944"/>
            <a:ext cx="4919472" cy="438912"/>
          </a:xfrm>
          <a:prstGeom prst="rect">
            <a:avLst/>
          </a:prstGeom>
          <a:noFill/>
          <a:ln/>
        </p:spPr>
        <p:txBody>
          <a:bodyPr wrap="square" lIns="0" tIns="0" rIns="0" bIns="0" rtlCol="0" anchor="t">
            <a:normAutofit/>
          </a:bodyPr>
          <a:lstStyle/>
          <a:p>
            <a:pPr algn="l" indent="0" marL="0">
              <a:buNone/>
            </a:pPr>
            <a:r>
              <a:rPr lang="en-US" sz="1060" dirty="0">
                <a:solidFill>
                  <a:srgbClr val="183044"/>
                </a:solidFill>
                <a:latin typeface="Aptos" pitchFamily="34" charset="0"/>
                <a:ea typeface="Aptos" pitchFamily="34" charset="-122"/>
                <a:cs typeface="Aptos" pitchFamily="34" charset="-120"/>
              </a:rPr>
              <a:t>Gunakan reverse image/video search jika tersedia; jangan memaksakan kesimpulan bila alat terbatas.</a:t>
            </a:r>
            <a:endParaRPr lang="en-US" sz="1060" dirty="0"/>
          </a:p>
        </p:txBody>
      </p:sp>
      <p:sp>
        <p:nvSpPr>
          <p:cNvPr id="25" name="Shape 23"/>
          <p:cNvSpPr/>
          <p:nvPr/>
        </p:nvSpPr>
        <p:spPr>
          <a:xfrm>
            <a:off x="941832" y="4517136"/>
            <a:ext cx="0" cy="310896"/>
          </a:xfrm>
          <a:prstGeom prst="line">
            <a:avLst/>
          </a:prstGeom>
          <a:noFill/>
          <a:ln w="20320">
            <a:solidFill>
              <a:srgbClr val="D9E1E8"/>
            </a:solidFill>
            <a:prstDash val="solid"/>
            <a:headEnd type="none"/>
            <a:tailEnd type="none"/>
          </a:ln>
        </p:spPr>
      </p:sp>
      <p:sp>
        <p:nvSpPr>
          <p:cNvPr id="26" name="Shape 24"/>
          <p:cNvSpPr/>
          <p:nvPr/>
        </p:nvSpPr>
        <p:spPr>
          <a:xfrm>
            <a:off x="749808" y="4892040"/>
            <a:ext cx="384048" cy="384048"/>
          </a:xfrm>
          <a:prstGeom prst="ellipse">
            <a:avLst/>
          </a:prstGeom>
          <a:solidFill>
            <a:srgbClr val="F06A5C"/>
          </a:solidFill>
          <a:ln w="12700">
            <a:solidFill>
              <a:srgbClr val="F06A5C">
                <a:alpha val="0"/>
              </a:srgbClr>
            </a:solidFill>
            <a:prstDash val="solid"/>
          </a:ln>
        </p:spPr>
      </p:sp>
      <p:sp>
        <p:nvSpPr>
          <p:cNvPr id="27" name="Text 25"/>
          <p:cNvSpPr/>
          <p:nvPr/>
        </p:nvSpPr>
        <p:spPr>
          <a:xfrm>
            <a:off x="749808" y="4892040"/>
            <a:ext cx="384048" cy="38404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05</a:t>
            </a:r>
            <a:endParaRPr lang="en-US" sz="950" dirty="0"/>
          </a:p>
        </p:txBody>
      </p:sp>
      <p:sp>
        <p:nvSpPr>
          <p:cNvPr id="28" name="Text 26"/>
          <p:cNvSpPr/>
          <p:nvPr/>
        </p:nvSpPr>
        <p:spPr>
          <a:xfrm>
            <a:off x="1298448" y="4873752"/>
            <a:ext cx="1965960" cy="246888"/>
          </a:xfrm>
          <a:prstGeom prst="rect">
            <a:avLst/>
          </a:prstGeom>
          <a:noFill/>
          <a:ln/>
        </p:spPr>
        <p:txBody>
          <a:bodyPr wrap="square" lIns="0" tIns="0" rIns="0" bIns="0" rtlCol="0" anchor="ctr">
            <a:normAutofit/>
          </a:bodyPr>
          <a:lstStyle/>
          <a:p>
            <a:pPr algn="l" indent="0" marL="0">
              <a:buNone/>
            </a:pPr>
            <a:r>
              <a:rPr lang="en-US" sz="1320" b="1" dirty="0">
                <a:solidFill>
                  <a:srgbClr val="102A43"/>
                </a:solidFill>
                <a:latin typeface="Aptos" pitchFamily="34" charset="0"/>
                <a:ea typeface="Aptos" pitchFamily="34" charset="-122"/>
                <a:cs typeface="Aptos" pitchFamily="34" charset="-120"/>
              </a:rPr>
              <a:t>Simpulkan &amp; bertindak</a:t>
            </a:r>
            <a:endParaRPr lang="en-US" sz="1320" dirty="0"/>
          </a:p>
        </p:txBody>
      </p:sp>
      <p:sp>
        <p:nvSpPr>
          <p:cNvPr id="29" name="Text 27"/>
          <p:cNvSpPr/>
          <p:nvPr/>
        </p:nvSpPr>
        <p:spPr>
          <a:xfrm>
            <a:off x="3273552" y="4873752"/>
            <a:ext cx="4919472" cy="438912"/>
          </a:xfrm>
          <a:prstGeom prst="rect">
            <a:avLst/>
          </a:prstGeom>
          <a:noFill/>
          <a:ln/>
        </p:spPr>
        <p:txBody>
          <a:bodyPr wrap="square" lIns="0" tIns="0" rIns="0" bIns="0" rtlCol="0" anchor="t">
            <a:normAutofit/>
          </a:bodyPr>
          <a:lstStyle/>
          <a:p>
            <a:pPr algn="l" indent="0" marL="0">
              <a:buNone/>
            </a:pPr>
            <a:r>
              <a:rPr lang="en-US" sz="1060" dirty="0">
                <a:solidFill>
                  <a:srgbClr val="183044"/>
                </a:solidFill>
                <a:latin typeface="Aptos" pitchFamily="34" charset="0"/>
                <a:ea typeface="Aptos" pitchFamily="34" charset="-122"/>
                <a:cs typeface="Aptos" pitchFamily="34" charset="-120"/>
              </a:rPr>
              <a:t>Sertakan alasan serta tindakan aman. Jangan bagikan informasi yang belum terverifikasi.</a:t>
            </a:r>
            <a:endParaRPr lang="en-US" sz="1060" dirty="0"/>
          </a:p>
        </p:txBody>
      </p:sp>
      <p:sp>
        <p:nvSpPr>
          <p:cNvPr id="30" name="Shape 28"/>
          <p:cNvSpPr/>
          <p:nvPr/>
        </p:nvSpPr>
        <p:spPr>
          <a:xfrm>
            <a:off x="8458200" y="1965960"/>
            <a:ext cx="2971800" cy="3529584"/>
          </a:xfrm>
          <a:prstGeom prst="roundRect">
            <a:avLst>
              <a:gd name="adj" fmla="val 5538"/>
            </a:avLst>
          </a:prstGeom>
          <a:solidFill>
            <a:srgbClr val="102A43"/>
          </a:solidFill>
          <a:ln w="12700">
            <a:solidFill>
              <a:srgbClr val="102A43">
                <a:alpha val="0"/>
              </a:srgbClr>
            </a:solidFill>
            <a:prstDash val="solid"/>
          </a:ln>
        </p:spPr>
      </p:sp>
      <p:sp>
        <p:nvSpPr>
          <p:cNvPr id="31" name="Text 29"/>
          <p:cNvSpPr/>
          <p:nvPr/>
        </p:nvSpPr>
        <p:spPr>
          <a:xfrm>
            <a:off x="8750808" y="2249424"/>
            <a:ext cx="2423160" cy="265176"/>
          </a:xfrm>
          <a:prstGeom prst="rect">
            <a:avLst/>
          </a:prstGeom>
          <a:noFill/>
          <a:ln/>
        </p:spPr>
        <p:txBody>
          <a:bodyPr wrap="square" lIns="0" tIns="0" rIns="0" bIns="0" rtlCol="0" anchor="ctr">
            <a:normAutofit/>
          </a:bodyPr>
          <a:lstStyle/>
          <a:p>
            <a:pPr algn="l" indent="0" marL="0">
              <a:buNone/>
            </a:pPr>
            <a:r>
              <a:rPr lang="en-US" sz="1000" b="1" spc="70" kern="0" dirty="0">
                <a:solidFill>
                  <a:srgbClr val="F4C95D"/>
                </a:solidFill>
                <a:latin typeface="Aptos" pitchFamily="34" charset="0"/>
                <a:ea typeface="Aptos" pitchFamily="34" charset="-122"/>
                <a:cs typeface="Aptos" pitchFamily="34" charset="-120"/>
              </a:rPr>
              <a:t>STATUS SIMPULAN</a:t>
            </a:r>
            <a:endParaRPr lang="en-US" sz="1000" dirty="0"/>
          </a:p>
        </p:txBody>
      </p:sp>
      <p:sp>
        <p:nvSpPr>
          <p:cNvPr id="32" name="Shape 30"/>
          <p:cNvSpPr/>
          <p:nvPr/>
        </p:nvSpPr>
        <p:spPr>
          <a:xfrm>
            <a:off x="8759952" y="2743200"/>
            <a:ext cx="201168" cy="201168"/>
          </a:xfrm>
          <a:prstGeom prst="ellipse">
            <a:avLst/>
          </a:prstGeom>
          <a:solidFill>
            <a:srgbClr val="38A99A"/>
          </a:solidFill>
          <a:ln w="12700">
            <a:solidFill>
              <a:srgbClr val="38A99A">
                <a:alpha val="0"/>
              </a:srgbClr>
            </a:solidFill>
            <a:prstDash val="solid"/>
          </a:ln>
        </p:spPr>
      </p:sp>
      <p:sp>
        <p:nvSpPr>
          <p:cNvPr id="33" name="Text 31"/>
          <p:cNvSpPr/>
          <p:nvPr/>
        </p:nvSpPr>
        <p:spPr>
          <a:xfrm>
            <a:off x="9061704" y="2724912"/>
            <a:ext cx="2075688" cy="256032"/>
          </a:xfrm>
          <a:prstGeom prst="rect">
            <a:avLst/>
          </a:prstGeom>
          <a:noFill/>
          <a:ln/>
        </p:spPr>
        <p:txBody>
          <a:bodyPr wrap="square" lIns="0" tIns="0" rIns="0" bIns="0" rtlCol="0" anchor="ctr">
            <a:normAutofit/>
          </a:bodyPr>
          <a:lstStyle/>
          <a:p>
            <a:pPr algn="l" indent="0" marL="0">
              <a:buNone/>
            </a:pPr>
            <a:r>
              <a:rPr lang="en-US" sz="940" b="1" dirty="0">
                <a:solidFill>
                  <a:srgbClr val="FFFFFF"/>
                </a:solidFill>
                <a:latin typeface="Aptos" pitchFamily="34" charset="0"/>
                <a:ea typeface="Aptos" pitchFamily="34" charset="-122"/>
                <a:cs typeface="Aptos" pitchFamily="34" charset="-120"/>
              </a:rPr>
              <a:t>TERVERIFIKASI</a:t>
            </a:r>
            <a:endParaRPr lang="en-US" sz="940" dirty="0"/>
          </a:p>
        </p:txBody>
      </p:sp>
      <p:sp>
        <p:nvSpPr>
          <p:cNvPr id="34" name="Text 32"/>
          <p:cNvSpPr/>
          <p:nvPr/>
        </p:nvSpPr>
        <p:spPr>
          <a:xfrm>
            <a:off x="9061704" y="3017520"/>
            <a:ext cx="2057400" cy="347472"/>
          </a:xfrm>
          <a:prstGeom prst="rect">
            <a:avLst/>
          </a:prstGeom>
          <a:noFill/>
          <a:ln/>
        </p:spPr>
        <p:txBody>
          <a:bodyPr wrap="square" lIns="0" tIns="0" rIns="0" bIns="0" rtlCol="0" anchor="t">
            <a:normAutofit/>
          </a:bodyPr>
          <a:lstStyle/>
          <a:p>
            <a:pPr algn="l" indent="0" marL="0">
              <a:buNone/>
            </a:pPr>
            <a:r>
              <a:rPr lang="en-US" sz="940" dirty="0">
                <a:solidFill>
                  <a:srgbClr val="DCE7EE"/>
                </a:solidFill>
                <a:latin typeface="Aptos" pitchFamily="34" charset="0"/>
                <a:ea typeface="Aptos" pitchFamily="34" charset="-122"/>
                <a:cs typeface="Aptos" pitchFamily="34" charset="-120"/>
              </a:rPr>
              <a:t>Bukti mendukung klaim</a:t>
            </a:r>
            <a:endParaRPr lang="en-US" sz="940" dirty="0"/>
          </a:p>
        </p:txBody>
      </p:sp>
      <p:sp>
        <p:nvSpPr>
          <p:cNvPr id="35" name="Shape 33"/>
          <p:cNvSpPr/>
          <p:nvPr/>
        </p:nvSpPr>
        <p:spPr>
          <a:xfrm>
            <a:off x="8759952" y="3529584"/>
            <a:ext cx="201168" cy="201168"/>
          </a:xfrm>
          <a:prstGeom prst="ellipse">
            <a:avLst/>
          </a:prstGeom>
          <a:solidFill>
            <a:srgbClr val="F06A5C"/>
          </a:solidFill>
          <a:ln w="12700">
            <a:solidFill>
              <a:srgbClr val="F06A5C">
                <a:alpha val="0"/>
              </a:srgbClr>
            </a:solidFill>
            <a:prstDash val="solid"/>
          </a:ln>
        </p:spPr>
      </p:sp>
      <p:sp>
        <p:nvSpPr>
          <p:cNvPr id="36" name="Text 34"/>
          <p:cNvSpPr/>
          <p:nvPr/>
        </p:nvSpPr>
        <p:spPr>
          <a:xfrm>
            <a:off x="9061704" y="3511296"/>
            <a:ext cx="2075688" cy="256032"/>
          </a:xfrm>
          <a:prstGeom prst="rect">
            <a:avLst/>
          </a:prstGeom>
          <a:noFill/>
          <a:ln/>
        </p:spPr>
        <p:txBody>
          <a:bodyPr wrap="square" lIns="0" tIns="0" rIns="0" bIns="0" rtlCol="0" anchor="ctr">
            <a:normAutofit/>
          </a:bodyPr>
          <a:lstStyle/>
          <a:p>
            <a:pPr algn="l" indent="0" marL="0">
              <a:buNone/>
            </a:pPr>
            <a:r>
              <a:rPr lang="en-US" sz="820" b="1" dirty="0">
                <a:solidFill>
                  <a:srgbClr val="FFFFFF"/>
                </a:solidFill>
                <a:latin typeface="Aptos" pitchFamily="34" charset="0"/>
                <a:ea typeface="Aptos" pitchFamily="34" charset="-122"/>
                <a:cs typeface="Aptos" pitchFamily="34" charset="-120"/>
              </a:rPr>
              <a:t>TIDAK BENAR / TERINDIKASI SCAM</a:t>
            </a:r>
            <a:endParaRPr lang="en-US" sz="820" dirty="0"/>
          </a:p>
        </p:txBody>
      </p:sp>
      <p:sp>
        <p:nvSpPr>
          <p:cNvPr id="37" name="Text 35"/>
          <p:cNvSpPr/>
          <p:nvPr/>
        </p:nvSpPr>
        <p:spPr>
          <a:xfrm>
            <a:off x="9061704" y="3803904"/>
            <a:ext cx="2057400" cy="347472"/>
          </a:xfrm>
          <a:prstGeom prst="rect">
            <a:avLst/>
          </a:prstGeom>
          <a:noFill/>
          <a:ln/>
        </p:spPr>
        <p:txBody>
          <a:bodyPr wrap="square" lIns="0" tIns="0" rIns="0" bIns="0" rtlCol="0" anchor="t">
            <a:normAutofit/>
          </a:bodyPr>
          <a:lstStyle/>
          <a:p>
            <a:pPr algn="l" indent="0" marL="0">
              <a:buNone/>
            </a:pPr>
            <a:r>
              <a:rPr lang="en-US" sz="940" dirty="0">
                <a:solidFill>
                  <a:srgbClr val="DCE7EE"/>
                </a:solidFill>
                <a:latin typeface="Aptos" pitchFamily="34" charset="0"/>
                <a:ea typeface="Aptos" pitchFamily="34" charset="-122"/>
                <a:cs typeface="Aptos" pitchFamily="34" charset="-120"/>
              </a:rPr>
              <a:t>Bukti bertentangan atau menunjukkan risiko</a:t>
            </a:r>
            <a:endParaRPr lang="en-US" sz="940" dirty="0"/>
          </a:p>
        </p:txBody>
      </p:sp>
      <p:sp>
        <p:nvSpPr>
          <p:cNvPr id="38" name="Shape 36"/>
          <p:cNvSpPr/>
          <p:nvPr/>
        </p:nvSpPr>
        <p:spPr>
          <a:xfrm>
            <a:off x="8759952" y="4498848"/>
            <a:ext cx="201168" cy="201168"/>
          </a:xfrm>
          <a:prstGeom prst="ellipse">
            <a:avLst/>
          </a:prstGeom>
          <a:solidFill>
            <a:srgbClr val="F4C95D"/>
          </a:solidFill>
          <a:ln w="12700">
            <a:solidFill>
              <a:srgbClr val="F4C95D">
                <a:alpha val="0"/>
              </a:srgbClr>
            </a:solidFill>
            <a:prstDash val="solid"/>
          </a:ln>
        </p:spPr>
      </p:sp>
      <p:sp>
        <p:nvSpPr>
          <p:cNvPr id="39" name="Text 37"/>
          <p:cNvSpPr/>
          <p:nvPr/>
        </p:nvSpPr>
        <p:spPr>
          <a:xfrm>
            <a:off x="9061704" y="4480560"/>
            <a:ext cx="2075688" cy="256032"/>
          </a:xfrm>
          <a:prstGeom prst="rect">
            <a:avLst/>
          </a:prstGeom>
          <a:noFill/>
          <a:ln/>
        </p:spPr>
        <p:txBody>
          <a:bodyPr wrap="square" lIns="0" tIns="0" rIns="0" bIns="0" rtlCol="0" anchor="ctr">
            <a:normAutofit/>
          </a:bodyPr>
          <a:lstStyle/>
          <a:p>
            <a:pPr algn="l" indent="0" marL="0">
              <a:buNone/>
            </a:pPr>
            <a:r>
              <a:rPr lang="en-US" sz="940" b="1" dirty="0">
                <a:solidFill>
                  <a:srgbClr val="FFFFFF"/>
                </a:solidFill>
                <a:latin typeface="Aptos" pitchFamily="34" charset="0"/>
                <a:ea typeface="Aptos" pitchFamily="34" charset="-122"/>
                <a:cs typeface="Aptos" pitchFamily="34" charset="-120"/>
              </a:rPr>
              <a:t>BELUM CUKUP BUKTI</a:t>
            </a:r>
            <a:endParaRPr lang="en-US" sz="940" dirty="0"/>
          </a:p>
        </p:txBody>
      </p:sp>
      <p:sp>
        <p:nvSpPr>
          <p:cNvPr id="40" name="Text 38"/>
          <p:cNvSpPr/>
          <p:nvPr/>
        </p:nvSpPr>
        <p:spPr>
          <a:xfrm>
            <a:off x="9061704" y="4773168"/>
            <a:ext cx="2057400" cy="347472"/>
          </a:xfrm>
          <a:prstGeom prst="rect">
            <a:avLst/>
          </a:prstGeom>
          <a:noFill/>
          <a:ln/>
        </p:spPr>
        <p:txBody>
          <a:bodyPr wrap="square" lIns="0" tIns="0" rIns="0" bIns="0" rtlCol="0" anchor="t">
            <a:normAutofit/>
          </a:bodyPr>
          <a:lstStyle/>
          <a:p>
            <a:pPr algn="l" indent="0" marL="0">
              <a:buNone/>
            </a:pPr>
            <a:r>
              <a:rPr lang="en-US" sz="940" dirty="0">
                <a:solidFill>
                  <a:srgbClr val="DCE7EE"/>
                </a:solidFill>
                <a:latin typeface="Aptos" pitchFamily="34" charset="0"/>
                <a:ea typeface="Aptos" pitchFamily="34" charset="-122"/>
                <a:cs typeface="Aptos" pitchFamily="34" charset="-120"/>
              </a:rPr>
              <a:t>Tahan simpulan, cari informasi tambahan</a:t>
            </a:r>
            <a:endParaRPr lang="en-US" sz="940" dirty="0"/>
          </a:p>
        </p:txBody>
      </p:sp>
      <p:sp>
        <p:nvSpPr>
          <p:cNvPr id="41" name="Shape 39"/>
          <p:cNvSpPr/>
          <p:nvPr/>
        </p:nvSpPr>
        <p:spPr>
          <a:xfrm>
            <a:off x="8458200" y="5650992"/>
            <a:ext cx="2971800" cy="393192"/>
          </a:xfrm>
          <a:prstGeom prst="roundRect">
            <a:avLst>
              <a:gd name="adj" fmla="val 23256"/>
            </a:avLst>
          </a:prstGeom>
          <a:solidFill>
            <a:srgbClr val="DDF4EC"/>
          </a:solidFill>
          <a:ln w="12700">
            <a:solidFill>
              <a:srgbClr val="DDF4EC">
                <a:alpha val="0"/>
              </a:srgbClr>
            </a:solidFill>
            <a:prstDash val="solid"/>
          </a:ln>
        </p:spPr>
      </p:sp>
      <p:sp>
        <p:nvSpPr>
          <p:cNvPr id="42" name="Text 40"/>
          <p:cNvSpPr/>
          <p:nvPr/>
        </p:nvSpPr>
        <p:spPr>
          <a:xfrm>
            <a:off x="8613648" y="5687568"/>
            <a:ext cx="2651760" cy="256032"/>
          </a:xfrm>
          <a:prstGeom prst="rect">
            <a:avLst/>
          </a:prstGeom>
          <a:noFill/>
          <a:ln/>
        </p:spPr>
        <p:txBody>
          <a:bodyPr wrap="square" lIns="0" tIns="0" rIns="0" bIns="0" rtlCol="0" anchor="ctr">
            <a:normAutofit/>
          </a:bodyPr>
          <a:lstStyle/>
          <a:p>
            <a:pPr algn="ctr" indent="0" marL="0">
              <a:buNone/>
            </a:pPr>
            <a:r>
              <a:rPr lang="en-US" sz="1030" b="1" dirty="0">
                <a:solidFill>
                  <a:srgbClr val="18766F"/>
                </a:solidFill>
                <a:latin typeface="Aptos" pitchFamily="34" charset="0"/>
                <a:ea typeface="Aptos" pitchFamily="34" charset="-122"/>
                <a:cs typeface="Aptos" pitchFamily="34" charset="-120"/>
              </a:rPr>
              <a:t>Yang dinilai: alasan + bukti</a:t>
            </a:r>
            <a:endParaRPr lang="en-US" sz="103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37587"/>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66928" y="329184"/>
            <a:ext cx="1362456" cy="274320"/>
          </a:xfrm>
          <a:prstGeom prst="roundRect">
            <a:avLst>
              <a:gd name="adj" fmla="val 46667"/>
            </a:avLst>
          </a:prstGeom>
          <a:solidFill>
            <a:srgbClr val="DDF4EC"/>
          </a:solidFill>
          <a:ln w="12700">
            <a:solidFill>
              <a:srgbClr val="DDF4EC">
                <a:alpha val="0"/>
              </a:srgbClr>
            </a:solidFill>
            <a:prstDash val="solid"/>
          </a:ln>
        </p:spPr>
      </p:sp>
      <p:sp>
        <p:nvSpPr>
          <p:cNvPr id="3" name="Text 1"/>
          <p:cNvSpPr/>
          <p:nvPr/>
        </p:nvSpPr>
        <p:spPr>
          <a:xfrm>
            <a:off x="640080" y="342900"/>
            <a:ext cx="1216152" cy="256032"/>
          </a:xfrm>
          <a:prstGeom prst="rect">
            <a:avLst/>
          </a:prstGeom>
          <a:noFill/>
          <a:ln/>
        </p:spPr>
        <p:txBody>
          <a:bodyPr wrap="square" lIns="0" tIns="0" rIns="0" bIns="0" rtlCol="0" anchor="ctr">
            <a:normAutofit/>
          </a:bodyPr>
          <a:lstStyle/>
          <a:p>
            <a:pPr algn="ctr" indent="0" marL="0">
              <a:buNone/>
            </a:pPr>
            <a:r>
              <a:rPr lang="en-US" sz="850" b="1" spc="40" kern="0" dirty="0">
                <a:solidFill>
                  <a:srgbClr val="18766F"/>
                </a:solidFill>
                <a:latin typeface="Aptos" pitchFamily="34" charset="0"/>
                <a:ea typeface="Aptos" pitchFamily="34" charset="-122"/>
                <a:cs typeface="Aptos" pitchFamily="34" charset="-120"/>
              </a:rPr>
              <a:t>08 • ASESMEN</a:t>
            </a:r>
            <a:endParaRPr lang="en-US" sz="850" dirty="0"/>
          </a:p>
        </p:txBody>
      </p:sp>
      <p:sp>
        <p:nvSpPr>
          <p:cNvPr id="4" name="Text 2"/>
          <p:cNvSpPr/>
          <p:nvPr/>
        </p:nvSpPr>
        <p:spPr>
          <a:xfrm>
            <a:off x="566928" y="749808"/>
            <a:ext cx="10972800" cy="548640"/>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Bagaimana ketercapaian tujuan dinilai?</a:t>
            </a:r>
            <a:endParaRPr lang="en-US" sz="2800" dirty="0"/>
          </a:p>
        </p:txBody>
      </p:sp>
      <p:sp>
        <p:nvSpPr>
          <p:cNvPr id="5" name="Text 3"/>
          <p:cNvSpPr/>
          <p:nvPr/>
        </p:nvSpPr>
        <p:spPr>
          <a:xfrm>
            <a:off x="585216" y="1307592"/>
            <a:ext cx="10881360" cy="329184"/>
          </a:xfrm>
          <a:prstGeom prst="rect">
            <a:avLst/>
          </a:prstGeom>
          <a:noFill/>
          <a:ln/>
        </p:spPr>
        <p:txBody>
          <a:bodyPr wrap="square" lIns="0" tIns="0" rIns="0" bIns="0" rtlCol="0" anchor="ctr">
            <a:normAutofit/>
          </a:bodyPr>
          <a:lstStyle/>
          <a:p>
            <a:pPr algn="l" indent="0" marL="0">
              <a:buNone/>
            </a:pPr>
            <a:r>
              <a:rPr lang="en-US" sz="1250" dirty="0">
                <a:solidFill>
                  <a:srgbClr val="617587"/>
                </a:solidFill>
                <a:latin typeface="Aptos" pitchFamily="34" charset="0"/>
                <a:ea typeface="Aptos" pitchFamily="34" charset="-122"/>
                <a:cs typeface="Aptos" pitchFamily="34" charset="-120"/>
              </a:rPr>
              <a:t>Kombinasikan bukti proses, produk kelompok, dan pemahaman individu.</a:t>
            </a:r>
            <a:endParaRPr lang="en-US" sz="1250" dirty="0"/>
          </a:p>
        </p:txBody>
      </p:sp>
      <p:sp>
        <p:nvSpPr>
          <p:cNvPr id="6" name="Shape 4"/>
          <p:cNvSpPr/>
          <p:nvPr/>
        </p:nvSpPr>
        <p:spPr>
          <a:xfrm>
            <a:off x="621792" y="1856232"/>
            <a:ext cx="6858000" cy="429768"/>
          </a:xfrm>
          <a:prstGeom prst="roundRect">
            <a:avLst>
              <a:gd name="adj" fmla="val 21277"/>
            </a:avLst>
          </a:prstGeom>
          <a:solidFill>
            <a:srgbClr val="102A43"/>
          </a:solidFill>
          <a:ln w="12700">
            <a:solidFill>
              <a:srgbClr val="102A43">
                <a:alpha val="0"/>
              </a:srgbClr>
            </a:solidFill>
            <a:prstDash val="solid"/>
          </a:ln>
        </p:spPr>
      </p:sp>
      <p:sp>
        <p:nvSpPr>
          <p:cNvPr id="7" name="Text 5"/>
          <p:cNvSpPr/>
          <p:nvPr/>
        </p:nvSpPr>
        <p:spPr>
          <a:xfrm>
            <a:off x="777240" y="1920240"/>
            <a:ext cx="4389120" cy="256032"/>
          </a:xfrm>
          <a:prstGeom prst="rect">
            <a:avLst/>
          </a:prstGeom>
          <a:noFill/>
          <a:ln/>
        </p:spPr>
        <p:txBody>
          <a:bodyPr wrap="square" lIns="0" tIns="0" rIns="0" bIns="0" rtlCol="0" anchor="ctr">
            <a:normAutofit/>
          </a:bodyPr>
          <a:lstStyle/>
          <a:p>
            <a:pPr algn="l" indent="0" marL="0">
              <a:buNone/>
            </a:pPr>
            <a:r>
              <a:rPr lang="en-US" sz="1000" b="1" spc="50" kern="0" dirty="0">
                <a:solidFill>
                  <a:srgbClr val="FFFFFF"/>
                </a:solidFill>
                <a:latin typeface="Aptos" pitchFamily="34" charset="0"/>
                <a:ea typeface="Aptos" pitchFamily="34" charset="-122"/>
                <a:cs typeface="Aptos" pitchFamily="34" charset="-120"/>
              </a:rPr>
              <a:t>KRITERIA KINERJA</a:t>
            </a:r>
            <a:endParaRPr lang="en-US" sz="1000" dirty="0"/>
          </a:p>
        </p:txBody>
      </p:sp>
      <p:sp>
        <p:nvSpPr>
          <p:cNvPr id="8" name="Text 6"/>
          <p:cNvSpPr/>
          <p:nvPr/>
        </p:nvSpPr>
        <p:spPr>
          <a:xfrm>
            <a:off x="6199632" y="1920240"/>
            <a:ext cx="1005840" cy="256032"/>
          </a:xfrm>
          <a:prstGeom prst="rect">
            <a:avLst/>
          </a:prstGeom>
          <a:noFill/>
          <a:ln/>
        </p:spPr>
        <p:txBody>
          <a:bodyPr wrap="square" lIns="0" tIns="0" rIns="0" bIns="0" rtlCol="0" anchor="ctr">
            <a:normAutofit/>
          </a:bodyPr>
          <a:lstStyle/>
          <a:p>
            <a:pPr algn="r" indent="0" marL="0">
              <a:buNone/>
            </a:pPr>
            <a:r>
              <a:rPr lang="en-US" sz="1000" b="1" dirty="0">
                <a:solidFill>
                  <a:srgbClr val="F4C95D"/>
                </a:solidFill>
                <a:latin typeface="Aptos" pitchFamily="34" charset="0"/>
                <a:ea typeface="Aptos" pitchFamily="34" charset="-122"/>
                <a:cs typeface="Aptos" pitchFamily="34" charset="-120"/>
              </a:rPr>
              <a:t>BOBOT</a:t>
            </a:r>
            <a:endParaRPr lang="en-US" sz="1000" dirty="0"/>
          </a:p>
        </p:txBody>
      </p:sp>
      <p:sp>
        <p:nvSpPr>
          <p:cNvPr id="9" name="Shape 7"/>
          <p:cNvSpPr/>
          <p:nvPr/>
        </p:nvSpPr>
        <p:spPr>
          <a:xfrm>
            <a:off x="621792" y="2386584"/>
            <a:ext cx="6858000" cy="448056"/>
          </a:xfrm>
          <a:prstGeom prst="roundRect">
            <a:avLst>
              <a:gd name="adj" fmla="val 10204"/>
            </a:avLst>
          </a:prstGeom>
          <a:solidFill>
            <a:srgbClr val="FFFFFF"/>
          </a:solidFill>
          <a:ln w="6350">
            <a:solidFill>
              <a:srgbClr val="E2E7EB"/>
            </a:solidFill>
            <a:prstDash val="solid"/>
          </a:ln>
        </p:spPr>
      </p:sp>
      <p:sp>
        <p:nvSpPr>
          <p:cNvPr id="10" name="Shape 8"/>
          <p:cNvSpPr/>
          <p:nvPr/>
        </p:nvSpPr>
        <p:spPr>
          <a:xfrm>
            <a:off x="704088" y="2487168"/>
            <a:ext cx="73152" cy="246888"/>
          </a:xfrm>
          <a:prstGeom prst="roundRect">
            <a:avLst>
              <a:gd name="adj" fmla="val 25000"/>
            </a:avLst>
          </a:prstGeom>
          <a:solidFill>
            <a:srgbClr val="F06A5C"/>
          </a:solidFill>
          <a:ln w="12700">
            <a:solidFill>
              <a:srgbClr val="F06A5C">
                <a:alpha val="0"/>
              </a:srgbClr>
            </a:solidFill>
            <a:prstDash val="solid"/>
          </a:ln>
        </p:spPr>
      </p:sp>
      <p:sp>
        <p:nvSpPr>
          <p:cNvPr id="11" name="Text 9"/>
          <p:cNvSpPr/>
          <p:nvPr/>
        </p:nvSpPr>
        <p:spPr>
          <a:xfrm>
            <a:off x="896112" y="2450592"/>
            <a:ext cx="4846320" cy="292608"/>
          </a:xfrm>
          <a:prstGeom prst="rect">
            <a:avLst/>
          </a:prstGeom>
          <a:noFill/>
          <a:ln/>
        </p:spPr>
        <p:txBody>
          <a:bodyPr wrap="square" lIns="0" tIns="0" rIns="0" bIns="0" rtlCol="0" anchor="ctr">
            <a:normAutofit/>
          </a:bodyPr>
          <a:lstStyle/>
          <a:p>
            <a:pPr algn="l" indent="0" marL="0">
              <a:buNone/>
            </a:pPr>
            <a:r>
              <a:rPr lang="en-US" sz="1120" b="1" dirty="0">
                <a:solidFill>
                  <a:srgbClr val="183044"/>
                </a:solidFill>
                <a:latin typeface="Aptos" pitchFamily="34" charset="0"/>
                <a:ea typeface="Aptos" pitchFamily="34" charset="-122"/>
                <a:cs typeface="Aptos" pitchFamily="34" charset="-120"/>
              </a:rPr>
              <a:t>Analisis indikator mencurigakan</a:t>
            </a:r>
            <a:endParaRPr lang="en-US" sz="1120" dirty="0"/>
          </a:p>
        </p:txBody>
      </p:sp>
      <p:sp>
        <p:nvSpPr>
          <p:cNvPr id="12" name="Text 10"/>
          <p:cNvSpPr/>
          <p:nvPr/>
        </p:nvSpPr>
        <p:spPr>
          <a:xfrm>
            <a:off x="6217920" y="2450592"/>
            <a:ext cx="896112" cy="292608"/>
          </a:xfrm>
          <a:prstGeom prst="rect">
            <a:avLst/>
          </a:prstGeom>
          <a:noFill/>
          <a:ln/>
        </p:spPr>
        <p:txBody>
          <a:bodyPr wrap="square" lIns="0" tIns="0" rIns="0" bIns="0" rtlCol="0" anchor="ctr">
            <a:normAutofit/>
          </a:bodyPr>
          <a:lstStyle/>
          <a:p>
            <a:pPr algn="r" indent="0" marL="0">
              <a:buNone/>
            </a:pPr>
            <a:r>
              <a:rPr lang="en-US" sz="1200" b="1" dirty="0">
                <a:solidFill>
                  <a:srgbClr val="F06A5C"/>
                </a:solidFill>
                <a:latin typeface="Aptos" pitchFamily="34" charset="0"/>
                <a:ea typeface="Aptos" pitchFamily="34" charset="-122"/>
                <a:cs typeface="Aptos" pitchFamily="34" charset="-120"/>
              </a:rPr>
              <a:t>20%</a:t>
            </a:r>
            <a:endParaRPr lang="en-US" sz="1200" dirty="0"/>
          </a:p>
        </p:txBody>
      </p:sp>
      <p:sp>
        <p:nvSpPr>
          <p:cNvPr id="13" name="Shape 11"/>
          <p:cNvSpPr/>
          <p:nvPr/>
        </p:nvSpPr>
        <p:spPr>
          <a:xfrm>
            <a:off x="621792" y="2907792"/>
            <a:ext cx="6858000" cy="448056"/>
          </a:xfrm>
          <a:prstGeom prst="roundRect">
            <a:avLst>
              <a:gd name="adj" fmla="val 10204"/>
            </a:avLst>
          </a:prstGeom>
          <a:solidFill>
            <a:srgbClr val="F0F3F5"/>
          </a:solidFill>
          <a:ln w="6350">
            <a:solidFill>
              <a:srgbClr val="E2E7EB"/>
            </a:solidFill>
            <a:prstDash val="solid"/>
          </a:ln>
        </p:spPr>
      </p:sp>
      <p:sp>
        <p:nvSpPr>
          <p:cNvPr id="14" name="Shape 12"/>
          <p:cNvSpPr/>
          <p:nvPr/>
        </p:nvSpPr>
        <p:spPr>
          <a:xfrm>
            <a:off x="704088" y="3008376"/>
            <a:ext cx="73152" cy="246888"/>
          </a:xfrm>
          <a:prstGeom prst="roundRect">
            <a:avLst>
              <a:gd name="adj" fmla="val 25000"/>
            </a:avLst>
          </a:prstGeom>
          <a:solidFill>
            <a:srgbClr val="38A99A"/>
          </a:solidFill>
          <a:ln w="12700">
            <a:solidFill>
              <a:srgbClr val="38A99A">
                <a:alpha val="0"/>
              </a:srgbClr>
            </a:solidFill>
            <a:prstDash val="solid"/>
          </a:ln>
        </p:spPr>
      </p:sp>
      <p:sp>
        <p:nvSpPr>
          <p:cNvPr id="15" name="Text 13"/>
          <p:cNvSpPr/>
          <p:nvPr/>
        </p:nvSpPr>
        <p:spPr>
          <a:xfrm>
            <a:off x="896112" y="2971800"/>
            <a:ext cx="4846320" cy="292608"/>
          </a:xfrm>
          <a:prstGeom prst="rect">
            <a:avLst/>
          </a:prstGeom>
          <a:noFill/>
          <a:ln/>
        </p:spPr>
        <p:txBody>
          <a:bodyPr wrap="square" lIns="0" tIns="0" rIns="0" bIns="0" rtlCol="0" anchor="ctr">
            <a:normAutofit/>
          </a:bodyPr>
          <a:lstStyle/>
          <a:p>
            <a:pPr algn="l" indent="0" marL="0">
              <a:buNone/>
            </a:pPr>
            <a:r>
              <a:rPr lang="en-US" sz="1120" b="1" dirty="0">
                <a:solidFill>
                  <a:srgbClr val="183044"/>
                </a:solidFill>
                <a:latin typeface="Aptos" pitchFamily="34" charset="0"/>
                <a:ea typeface="Aptos" pitchFamily="34" charset="-122"/>
                <a:cs typeface="Aptos" pitchFamily="34" charset="-120"/>
              </a:rPr>
              <a:t>Investigasi lintas sumber &amp; bukti</a:t>
            </a:r>
            <a:endParaRPr lang="en-US" sz="1120" dirty="0"/>
          </a:p>
        </p:txBody>
      </p:sp>
      <p:sp>
        <p:nvSpPr>
          <p:cNvPr id="16" name="Text 14"/>
          <p:cNvSpPr/>
          <p:nvPr/>
        </p:nvSpPr>
        <p:spPr>
          <a:xfrm>
            <a:off x="6217920" y="2971800"/>
            <a:ext cx="896112" cy="292608"/>
          </a:xfrm>
          <a:prstGeom prst="rect">
            <a:avLst/>
          </a:prstGeom>
          <a:noFill/>
          <a:ln/>
        </p:spPr>
        <p:txBody>
          <a:bodyPr wrap="square" lIns="0" tIns="0" rIns="0" bIns="0" rtlCol="0" anchor="ctr">
            <a:normAutofit/>
          </a:bodyPr>
          <a:lstStyle/>
          <a:p>
            <a:pPr algn="r" indent="0" marL="0">
              <a:buNone/>
            </a:pPr>
            <a:r>
              <a:rPr lang="en-US" sz="1200" b="1" dirty="0">
                <a:solidFill>
                  <a:srgbClr val="38A99A"/>
                </a:solidFill>
                <a:latin typeface="Aptos" pitchFamily="34" charset="0"/>
                <a:ea typeface="Aptos" pitchFamily="34" charset="-122"/>
                <a:cs typeface="Aptos" pitchFamily="34" charset="-120"/>
              </a:rPr>
              <a:t>30%</a:t>
            </a:r>
            <a:endParaRPr lang="en-US" sz="1200" dirty="0"/>
          </a:p>
        </p:txBody>
      </p:sp>
      <p:sp>
        <p:nvSpPr>
          <p:cNvPr id="17" name="Shape 15"/>
          <p:cNvSpPr/>
          <p:nvPr/>
        </p:nvSpPr>
        <p:spPr>
          <a:xfrm>
            <a:off x="621792" y="3429000"/>
            <a:ext cx="6858000" cy="448056"/>
          </a:xfrm>
          <a:prstGeom prst="roundRect">
            <a:avLst>
              <a:gd name="adj" fmla="val 10204"/>
            </a:avLst>
          </a:prstGeom>
          <a:solidFill>
            <a:srgbClr val="FFFFFF"/>
          </a:solidFill>
          <a:ln w="6350">
            <a:solidFill>
              <a:srgbClr val="E2E7EB"/>
            </a:solidFill>
            <a:prstDash val="solid"/>
          </a:ln>
        </p:spPr>
      </p:sp>
      <p:sp>
        <p:nvSpPr>
          <p:cNvPr id="18" name="Shape 16"/>
          <p:cNvSpPr/>
          <p:nvPr/>
        </p:nvSpPr>
        <p:spPr>
          <a:xfrm>
            <a:off x="704088" y="3529584"/>
            <a:ext cx="73152" cy="246888"/>
          </a:xfrm>
          <a:prstGeom prst="roundRect">
            <a:avLst>
              <a:gd name="adj" fmla="val 25000"/>
            </a:avLst>
          </a:prstGeom>
          <a:solidFill>
            <a:srgbClr val="2F6690"/>
          </a:solidFill>
          <a:ln w="12700">
            <a:solidFill>
              <a:srgbClr val="2F6690">
                <a:alpha val="0"/>
              </a:srgbClr>
            </a:solidFill>
            <a:prstDash val="solid"/>
          </a:ln>
        </p:spPr>
      </p:sp>
      <p:sp>
        <p:nvSpPr>
          <p:cNvPr id="19" name="Text 17"/>
          <p:cNvSpPr/>
          <p:nvPr/>
        </p:nvSpPr>
        <p:spPr>
          <a:xfrm>
            <a:off x="896112" y="3493008"/>
            <a:ext cx="4846320" cy="292608"/>
          </a:xfrm>
          <a:prstGeom prst="rect">
            <a:avLst/>
          </a:prstGeom>
          <a:noFill/>
          <a:ln/>
        </p:spPr>
        <p:txBody>
          <a:bodyPr wrap="square" lIns="0" tIns="0" rIns="0" bIns="0" rtlCol="0" anchor="ctr">
            <a:normAutofit/>
          </a:bodyPr>
          <a:lstStyle/>
          <a:p>
            <a:pPr algn="l" indent="0" marL="0">
              <a:buNone/>
            </a:pPr>
            <a:r>
              <a:rPr lang="en-US" sz="1120" b="1" dirty="0">
                <a:solidFill>
                  <a:srgbClr val="183044"/>
                </a:solidFill>
                <a:latin typeface="Aptos" pitchFamily="34" charset="0"/>
                <a:ea typeface="Aptos" pitchFamily="34" charset="-122"/>
                <a:cs typeface="Aptos" pitchFamily="34" charset="-120"/>
              </a:rPr>
              <a:t>Kesimpulan berbasis bukti</a:t>
            </a:r>
            <a:endParaRPr lang="en-US" sz="1120" dirty="0"/>
          </a:p>
        </p:txBody>
      </p:sp>
      <p:sp>
        <p:nvSpPr>
          <p:cNvPr id="20" name="Text 18"/>
          <p:cNvSpPr/>
          <p:nvPr/>
        </p:nvSpPr>
        <p:spPr>
          <a:xfrm>
            <a:off x="6217920" y="3493008"/>
            <a:ext cx="896112" cy="292608"/>
          </a:xfrm>
          <a:prstGeom prst="rect">
            <a:avLst/>
          </a:prstGeom>
          <a:noFill/>
          <a:ln/>
        </p:spPr>
        <p:txBody>
          <a:bodyPr wrap="square" lIns="0" tIns="0" rIns="0" bIns="0" rtlCol="0" anchor="ctr">
            <a:normAutofit/>
          </a:bodyPr>
          <a:lstStyle/>
          <a:p>
            <a:pPr algn="r" indent="0" marL="0">
              <a:buNone/>
            </a:pPr>
            <a:r>
              <a:rPr lang="en-US" sz="1200" b="1" dirty="0">
                <a:solidFill>
                  <a:srgbClr val="2F6690"/>
                </a:solidFill>
                <a:latin typeface="Aptos" pitchFamily="34" charset="0"/>
                <a:ea typeface="Aptos" pitchFamily="34" charset="-122"/>
                <a:cs typeface="Aptos" pitchFamily="34" charset="-120"/>
              </a:rPr>
              <a:t>20%</a:t>
            </a:r>
            <a:endParaRPr lang="en-US" sz="1200" dirty="0"/>
          </a:p>
        </p:txBody>
      </p:sp>
      <p:sp>
        <p:nvSpPr>
          <p:cNvPr id="21" name="Shape 19"/>
          <p:cNvSpPr/>
          <p:nvPr/>
        </p:nvSpPr>
        <p:spPr>
          <a:xfrm>
            <a:off x="621792" y="3950208"/>
            <a:ext cx="6858000" cy="448056"/>
          </a:xfrm>
          <a:prstGeom prst="roundRect">
            <a:avLst>
              <a:gd name="adj" fmla="val 10204"/>
            </a:avLst>
          </a:prstGeom>
          <a:solidFill>
            <a:srgbClr val="F0F3F5"/>
          </a:solidFill>
          <a:ln w="6350">
            <a:solidFill>
              <a:srgbClr val="E2E7EB"/>
            </a:solidFill>
            <a:prstDash val="solid"/>
          </a:ln>
        </p:spPr>
      </p:sp>
      <p:sp>
        <p:nvSpPr>
          <p:cNvPr id="22" name="Shape 20"/>
          <p:cNvSpPr/>
          <p:nvPr/>
        </p:nvSpPr>
        <p:spPr>
          <a:xfrm>
            <a:off x="704088" y="4050792"/>
            <a:ext cx="73152" cy="246888"/>
          </a:xfrm>
          <a:prstGeom prst="roundRect">
            <a:avLst>
              <a:gd name="adj" fmla="val 25000"/>
            </a:avLst>
          </a:prstGeom>
          <a:solidFill>
            <a:srgbClr val="7868B5"/>
          </a:solidFill>
          <a:ln w="12700">
            <a:solidFill>
              <a:srgbClr val="7868B5">
                <a:alpha val="0"/>
              </a:srgbClr>
            </a:solidFill>
            <a:prstDash val="solid"/>
          </a:ln>
        </p:spPr>
      </p:sp>
      <p:sp>
        <p:nvSpPr>
          <p:cNvPr id="23" name="Text 21"/>
          <p:cNvSpPr/>
          <p:nvPr/>
        </p:nvSpPr>
        <p:spPr>
          <a:xfrm>
            <a:off x="896112" y="4014216"/>
            <a:ext cx="4846320" cy="292608"/>
          </a:xfrm>
          <a:prstGeom prst="rect">
            <a:avLst/>
          </a:prstGeom>
          <a:noFill/>
          <a:ln/>
        </p:spPr>
        <p:txBody>
          <a:bodyPr wrap="square" lIns="0" tIns="0" rIns="0" bIns="0" rtlCol="0" anchor="ctr">
            <a:normAutofit/>
          </a:bodyPr>
          <a:lstStyle/>
          <a:p>
            <a:pPr algn="l" indent="0" marL="0">
              <a:buNone/>
            </a:pPr>
            <a:r>
              <a:rPr lang="en-US" sz="1120" b="1" dirty="0">
                <a:solidFill>
                  <a:srgbClr val="183044"/>
                </a:solidFill>
                <a:latin typeface="Aptos" pitchFamily="34" charset="0"/>
                <a:ea typeface="Aptos" pitchFamily="34" charset="-122"/>
                <a:cs typeface="Aptos" pitchFamily="34" charset="-120"/>
              </a:rPr>
              <a:t>Kolaborasi &amp; komunikasi</a:t>
            </a:r>
            <a:endParaRPr lang="en-US" sz="1120" dirty="0"/>
          </a:p>
        </p:txBody>
      </p:sp>
      <p:sp>
        <p:nvSpPr>
          <p:cNvPr id="24" name="Text 22"/>
          <p:cNvSpPr/>
          <p:nvPr/>
        </p:nvSpPr>
        <p:spPr>
          <a:xfrm>
            <a:off x="6217920" y="4014216"/>
            <a:ext cx="896112" cy="292608"/>
          </a:xfrm>
          <a:prstGeom prst="rect">
            <a:avLst/>
          </a:prstGeom>
          <a:noFill/>
          <a:ln/>
        </p:spPr>
        <p:txBody>
          <a:bodyPr wrap="square" lIns="0" tIns="0" rIns="0" bIns="0" rtlCol="0" anchor="ctr">
            <a:normAutofit/>
          </a:bodyPr>
          <a:lstStyle/>
          <a:p>
            <a:pPr algn="r" indent="0" marL="0">
              <a:buNone/>
            </a:pPr>
            <a:r>
              <a:rPr lang="en-US" sz="1200" b="1" dirty="0">
                <a:solidFill>
                  <a:srgbClr val="7868B5"/>
                </a:solidFill>
                <a:latin typeface="Aptos" pitchFamily="34" charset="0"/>
                <a:ea typeface="Aptos" pitchFamily="34" charset="-122"/>
                <a:cs typeface="Aptos" pitchFamily="34" charset="-120"/>
              </a:rPr>
              <a:t>15%</a:t>
            </a:r>
            <a:endParaRPr lang="en-US" sz="1200" dirty="0"/>
          </a:p>
        </p:txBody>
      </p:sp>
      <p:sp>
        <p:nvSpPr>
          <p:cNvPr id="25" name="Shape 23"/>
          <p:cNvSpPr/>
          <p:nvPr/>
        </p:nvSpPr>
        <p:spPr>
          <a:xfrm>
            <a:off x="621792" y="4471416"/>
            <a:ext cx="6858000" cy="448056"/>
          </a:xfrm>
          <a:prstGeom prst="roundRect">
            <a:avLst>
              <a:gd name="adj" fmla="val 10204"/>
            </a:avLst>
          </a:prstGeom>
          <a:solidFill>
            <a:srgbClr val="FFFFFF"/>
          </a:solidFill>
          <a:ln w="6350">
            <a:solidFill>
              <a:srgbClr val="E2E7EB"/>
            </a:solidFill>
            <a:prstDash val="solid"/>
          </a:ln>
        </p:spPr>
      </p:sp>
      <p:sp>
        <p:nvSpPr>
          <p:cNvPr id="26" name="Shape 24"/>
          <p:cNvSpPr/>
          <p:nvPr/>
        </p:nvSpPr>
        <p:spPr>
          <a:xfrm>
            <a:off x="704088" y="4572000"/>
            <a:ext cx="73152" cy="246888"/>
          </a:xfrm>
          <a:prstGeom prst="roundRect">
            <a:avLst>
              <a:gd name="adj" fmla="val 25000"/>
            </a:avLst>
          </a:prstGeom>
          <a:solidFill>
            <a:srgbClr val="18766F"/>
          </a:solidFill>
          <a:ln w="12700">
            <a:solidFill>
              <a:srgbClr val="18766F">
                <a:alpha val="0"/>
              </a:srgbClr>
            </a:solidFill>
            <a:prstDash val="solid"/>
          </a:ln>
        </p:spPr>
      </p:sp>
      <p:sp>
        <p:nvSpPr>
          <p:cNvPr id="27" name="Text 25"/>
          <p:cNvSpPr/>
          <p:nvPr/>
        </p:nvSpPr>
        <p:spPr>
          <a:xfrm>
            <a:off x="896112" y="4535424"/>
            <a:ext cx="4846320" cy="292608"/>
          </a:xfrm>
          <a:prstGeom prst="rect">
            <a:avLst/>
          </a:prstGeom>
          <a:noFill/>
          <a:ln/>
        </p:spPr>
        <p:txBody>
          <a:bodyPr wrap="square" lIns="0" tIns="0" rIns="0" bIns="0" rtlCol="0" anchor="ctr">
            <a:normAutofit/>
          </a:bodyPr>
          <a:lstStyle/>
          <a:p>
            <a:pPr algn="l" indent="0" marL="0">
              <a:buNone/>
            </a:pPr>
            <a:r>
              <a:rPr lang="en-US" sz="1120" b="1" dirty="0">
                <a:solidFill>
                  <a:srgbClr val="183044"/>
                </a:solidFill>
                <a:latin typeface="Aptos" pitchFamily="34" charset="0"/>
                <a:ea typeface="Aptos" pitchFamily="34" charset="-122"/>
                <a:cs typeface="Aptos" pitchFamily="34" charset="-120"/>
              </a:rPr>
              <a:t>Keamanan &amp; etika digital</a:t>
            </a:r>
            <a:endParaRPr lang="en-US" sz="1120" dirty="0"/>
          </a:p>
        </p:txBody>
      </p:sp>
      <p:sp>
        <p:nvSpPr>
          <p:cNvPr id="28" name="Text 26"/>
          <p:cNvSpPr/>
          <p:nvPr/>
        </p:nvSpPr>
        <p:spPr>
          <a:xfrm>
            <a:off x="6217920" y="4535424"/>
            <a:ext cx="896112" cy="292608"/>
          </a:xfrm>
          <a:prstGeom prst="rect">
            <a:avLst/>
          </a:prstGeom>
          <a:noFill/>
          <a:ln/>
        </p:spPr>
        <p:txBody>
          <a:bodyPr wrap="square" lIns="0" tIns="0" rIns="0" bIns="0" rtlCol="0" anchor="ctr">
            <a:normAutofit/>
          </a:bodyPr>
          <a:lstStyle/>
          <a:p>
            <a:pPr algn="r" indent="0" marL="0">
              <a:buNone/>
            </a:pPr>
            <a:r>
              <a:rPr lang="en-US" sz="1200" b="1" dirty="0">
                <a:solidFill>
                  <a:srgbClr val="18766F"/>
                </a:solidFill>
                <a:latin typeface="Aptos" pitchFamily="34" charset="0"/>
                <a:ea typeface="Aptos" pitchFamily="34" charset="-122"/>
                <a:cs typeface="Aptos" pitchFamily="34" charset="-120"/>
              </a:rPr>
              <a:t>15%</a:t>
            </a:r>
            <a:endParaRPr lang="en-US" sz="1200" dirty="0"/>
          </a:p>
        </p:txBody>
      </p:sp>
      <p:sp>
        <p:nvSpPr>
          <p:cNvPr id="29" name="Shape 27"/>
          <p:cNvSpPr/>
          <p:nvPr/>
        </p:nvSpPr>
        <p:spPr>
          <a:xfrm>
            <a:off x="621792" y="5093208"/>
            <a:ext cx="6858000" cy="475488"/>
          </a:xfrm>
          <a:prstGeom prst="roundRect">
            <a:avLst>
              <a:gd name="adj" fmla="val 19231"/>
            </a:avLst>
          </a:prstGeom>
          <a:solidFill>
            <a:srgbClr val="DDF4EC"/>
          </a:solidFill>
          <a:ln w="12700">
            <a:solidFill>
              <a:srgbClr val="DDF4EC">
                <a:alpha val="0"/>
              </a:srgbClr>
            </a:solidFill>
            <a:prstDash val="solid"/>
          </a:ln>
        </p:spPr>
      </p:sp>
      <p:sp>
        <p:nvSpPr>
          <p:cNvPr id="30" name="Text 28"/>
          <p:cNvSpPr/>
          <p:nvPr/>
        </p:nvSpPr>
        <p:spPr>
          <a:xfrm>
            <a:off x="804672" y="5193792"/>
            <a:ext cx="4114800" cy="237744"/>
          </a:xfrm>
          <a:prstGeom prst="rect">
            <a:avLst/>
          </a:prstGeom>
          <a:noFill/>
          <a:ln/>
        </p:spPr>
        <p:txBody>
          <a:bodyPr wrap="square" lIns="0" tIns="0" rIns="0" bIns="0" rtlCol="0" anchor="ctr">
            <a:normAutofit/>
          </a:bodyPr>
          <a:lstStyle/>
          <a:p>
            <a:pPr algn="l" indent="0" marL="0">
              <a:buNone/>
            </a:pPr>
            <a:r>
              <a:rPr lang="en-US" sz="1000" b="1" dirty="0">
                <a:solidFill>
                  <a:srgbClr val="18766F"/>
                </a:solidFill>
                <a:latin typeface="Aptos" pitchFamily="34" charset="0"/>
                <a:ea typeface="Aptos" pitchFamily="34" charset="-122"/>
                <a:cs typeface="Aptos" pitchFamily="34" charset="-120"/>
              </a:rPr>
              <a:t>TOTAL</a:t>
            </a:r>
            <a:endParaRPr lang="en-US" sz="1000" dirty="0"/>
          </a:p>
        </p:txBody>
      </p:sp>
      <p:sp>
        <p:nvSpPr>
          <p:cNvPr id="31" name="Text 29"/>
          <p:cNvSpPr/>
          <p:nvPr/>
        </p:nvSpPr>
        <p:spPr>
          <a:xfrm>
            <a:off x="6199632" y="5166360"/>
            <a:ext cx="914400" cy="256032"/>
          </a:xfrm>
          <a:prstGeom prst="rect">
            <a:avLst/>
          </a:prstGeom>
          <a:noFill/>
          <a:ln/>
        </p:spPr>
        <p:txBody>
          <a:bodyPr wrap="square" lIns="0" tIns="0" rIns="0" bIns="0" rtlCol="0" anchor="ctr">
            <a:normAutofit/>
          </a:bodyPr>
          <a:lstStyle/>
          <a:p>
            <a:pPr algn="r" indent="0" marL="0">
              <a:buNone/>
            </a:pPr>
            <a:r>
              <a:rPr lang="en-US" sz="1300" b="1" dirty="0">
                <a:solidFill>
                  <a:srgbClr val="18766F"/>
                </a:solidFill>
                <a:latin typeface="Aptos" pitchFamily="34" charset="0"/>
                <a:ea typeface="Aptos" pitchFamily="34" charset="-122"/>
                <a:cs typeface="Aptos" pitchFamily="34" charset="-120"/>
              </a:rPr>
              <a:t>100%</a:t>
            </a:r>
            <a:endParaRPr lang="en-US" sz="1300" dirty="0"/>
          </a:p>
        </p:txBody>
      </p:sp>
      <p:sp>
        <p:nvSpPr>
          <p:cNvPr id="32" name="Shape 30"/>
          <p:cNvSpPr/>
          <p:nvPr/>
        </p:nvSpPr>
        <p:spPr>
          <a:xfrm>
            <a:off x="7818120" y="1856232"/>
            <a:ext cx="3767328" cy="3611880"/>
          </a:xfrm>
          <a:prstGeom prst="roundRect">
            <a:avLst>
              <a:gd name="adj" fmla="val 4051"/>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33" name="Text 31"/>
          <p:cNvSpPr/>
          <p:nvPr/>
        </p:nvSpPr>
        <p:spPr>
          <a:xfrm>
            <a:off x="8092440" y="2103120"/>
            <a:ext cx="3200400" cy="274320"/>
          </a:xfrm>
          <a:prstGeom prst="rect">
            <a:avLst/>
          </a:prstGeom>
          <a:noFill/>
          <a:ln/>
        </p:spPr>
        <p:txBody>
          <a:bodyPr wrap="square" lIns="0" tIns="0" rIns="0" bIns="0" rtlCol="0" anchor="ctr">
            <a:normAutofit/>
          </a:bodyPr>
          <a:lstStyle/>
          <a:p>
            <a:pPr algn="l" indent="0" marL="0">
              <a:buNone/>
            </a:pPr>
            <a:r>
              <a:rPr lang="en-US" sz="1100" b="1" spc="20" kern="0" dirty="0">
                <a:solidFill>
                  <a:srgbClr val="102A43"/>
                </a:solidFill>
                <a:latin typeface="Aptos" pitchFamily="34" charset="0"/>
                <a:ea typeface="Aptos" pitchFamily="34" charset="-122"/>
                <a:cs typeface="Aptos" pitchFamily="34" charset="-120"/>
              </a:rPr>
              <a:t>BUKTI YANG DIKUMPULKAN</a:t>
            </a:r>
            <a:endParaRPr lang="en-US" sz="1100" dirty="0"/>
          </a:p>
        </p:txBody>
      </p:sp>
      <p:sp>
        <p:nvSpPr>
          <p:cNvPr id="34" name="Shape 32"/>
          <p:cNvSpPr/>
          <p:nvPr/>
        </p:nvSpPr>
        <p:spPr>
          <a:xfrm>
            <a:off x="8119872" y="2606040"/>
            <a:ext cx="365760" cy="365760"/>
          </a:xfrm>
          <a:prstGeom prst="ellipse">
            <a:avLst/>
          </a:prstGeom>
          <a:solidFill>
            <a:srgbClr val="2F6690"/>
          </a:solidFill>
          <a:ln w="12700">
            <a:solidFill>
              <a:srgbClr val="2F6690">
                <a:alpha val="0"/>
              </a:srgbClr>
            </a:solidFill>
            <a:prstDash val="solid"/>
          </a:ln>
        </p:spPr>
      </p:sp>
      <p:sp>
        <p:nvSpPr>
          <p:cNvPr id="35" name="Text 33"/>
          <p:cNvSpPr/>
          <p:nvPr/>
        </p:nvSpPr>
        <p:spPr>
          <a:xfrm>
            <a:off x="8119872" y="2606040"/>
            <a:ext cx="365760" cy="36576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A</a:t>
            </a:r>
            <a:endParaRPr lang="en-US" sz="1100" dirty="0"/>
          </a:p>
        </p:txBody>
      </p:sp>
      <p:sp>
        <p:nvSpPr>
          <p:cNvPr id="36" name="Text 34"/>
          <p:cNvSpPr/>
          <p:nvPr/>
        </p:nvSpPr>
        <p:spPr>
          <a:xfrm>
            <a:off x="8641080" y="2596896"/>
            <a:ext cx="2606040" cy="256032"/>
          </a:xfrm>
          <a:prstGeom prst="rect">
            <a:avLst/>
          </a:prstGeom>
          <a:noFill/>
          <a:ln/>
        </p:spPr>
        <p:txBody>
          <a:bodyPr wrap="square" lIns="0" tIns="0" rIns="0" bIns="0" rtlCol="0" anchor="ctr">
            <a:normAutofit/>
          </a:bodyPr>
          <a:lstStyle/>
          <a:p>
            <a:pPr algn="l" indent="0" marL="0">
              <a:buNone/>
            </a:pPr>
            <a:r>
              <a:rPr lang="en-US" sz="1170" b="1" dirty="0">
                <a:solidFill>
                  <a:srgbClr val="102A43"/>
                </a:solidFill>
                <a:latin typeface="Aptos" pitchFamily="34" charset="0"/>
                <a:ea typeface="Aptos" pitchFamily="34" charset="-122"/>
                <a:cs typeface="Aptos" pitchFamily="34" charset="-120"/>
              </a:rPr>
              <a:t>Diagnostik &amp; formatif</a:t>
            </a:r>
            <a:endParaRPr lang="en-US" sz="1170" dirty="0"/>
          </a:p>
        </p:txBody>
      </p:sp>
      <p:sp>
        <p:nvSpPr>
          <p:cNvPr id="37" name="Text 35"/>
          <p:cNvSpPr/>
          <p:nvPr/>
        </p:nvSpPr>
        <p:spPr>
          <a:xfrm>
            <a:off x="8641080" y="2898648"/>
            <a:ext cx="2606040" cy="338328"/>
          </a:xfrm>
          <a:prstGeom prst="rect">
            <a:avLst/>
          </a:prstGeom>
          <a:noFill/>
          <a:ln/>
        </p:spPr>
        <p:txBody>
          <a:bodyPr wrap="square" lIns="0" tIns="0" rIns="0" bIns="0" rtlCol="0" anchor="t">
            <a:normAutofit/>
          </a:bodyPr>
          <a:lstStyle/>
          <a:p>
            <a:pPr algn="l" indent="0" marL="0">
              <a:buNone/>
            </a:pPr>
            <a:r>
              <a:rPr lang="en-US" sz="970" dirty="0">
                <a:solidFill>
                  <a:srgbClr val="183044"/>
                </a:solidFill>
                <a:latin typeface="Aptos" pitchFamily="34" charset="0"/>
                <a:ea typeface="Aptos" pitchFamily="34" charset="-122"/>
                <a:cs typeface="Aptos" pitchFamily="34" charset="-120"/>
              </a:rPr>
              <a:t>Respons awal, pertanyaan, observasi diskusi</a:t>
            </a:r>
            <a:endParaRPr lang="en-US" sz="970" dirty="0"/>
          </a:p>
        </p:txBody>
      </p:sp>
      <p:sp>
        <p:nvSpPr>
          <p:cNvPr id="38" name="Shape 36"/>
          <p:cNvSpPr/>
          <p:nvPr/>
        </p:nvSpPr>
        <p:spPr>
          <a:xfrm>
            <a:off x="8119872" y="3383280"/>
            <a:ext cx="365760" cy="365760"/>
          </a:xfrm>
          <a:prstGeom prst="ellipse">
            <a:avLst/>
          </a:prstGeom>
          <a:solidFill>
            <a:srgbClr val="38A99A"/>
          </a:solidFill>
          <a:ln w="12700">
            <a:solidFill>
              <a:srgbClr val="38A99A">
                <a:alpha val="0"/>
              </a:srgbClr>
            </a:solidFill>
            <a:prstDash val="solid"/>
          </a:ln>
        </p:spPr>
      </p:sp>
      <p:sp>
        <p:nvSpPr>
          <p:cNvPr id="39" name="Text 37"/>
          <p:cNvSpPr/>
          <p:nvPr/>
        </p:nvSpPr>
        <p:spPr>
          <a:xfrm>
            <a:off x="8119872" y="3383280"/>
            <a:ext cx="365760" cy="36576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B</a:t>
            </a:r>
            <a:endParaRPr lang="en-US" sz="1100" dirty="0"/>
          </a:p>
        </p:txBody>
      </p:sp>
      <p:sp>
        <p:nvSpPr>
          <p:cNvPr id="40" name="Text 38"/>
          <p:cNvSpPr/>
          <p:nvPr/>
        </p:nvSpPr>
        <p:spPr>
          <a:xfrm>
            <a:off x="8641080" y="3374136"/>
            <a:ext cx="2606040" cy="256032"/>
          </a:xfrm>
          <a:prstGeom prst="rect">
            <a:avLst/>
          </a:prstGeom>
          <a:noFill/>
          <a:ln/>
        </p:spPr>
        <p:txBody>
          <a:bodyPr wrap="square" lIns="0" tIns="0" rIns="0" bIns="0" rtlCol="0" anchor="ctr">
            <a:normAutofit/>
          </a:bodyPr>
          <a:lstStyle/>
          <a:p>
            <a:pPr algn="l" indent="0" marL="0">
              <a:buNone/>
            </a:pPr>
            <a:r>
              <a:rPr lang="en-US" sz="1170" b="1" dirty="0">
                <a:solidFill>
                  <a:srgbClr val="102A43"/>
                </a:solidFill>
                <a:latin typeface="Aptos" pitchFamily="34" charset="0"/>
                <a:ea typeface="Aptos" pitchFamily="34" charset="-122"/>
                <a:cs typeface="Aptos" pitchFamily="34" charset="-120"/>
              </a:rPr>
              <a:t>Kinerja / produk</a:t>
            </a:r>
            <a:endParaRPr lang="en-US" sz="1170" dirty="0"/>
          </a:p>
        </p:txBody>
      </p:sp>
      <p:sp>
        <p:nvSpPr>
          <p:cNvPr id="41" name="Text 39"/>
          <p:cNvSpPr/>
          <p:nvPr/>
        </p:nvSpPr>
        <p:spPr>
          <a:xfrm>
            <a:off x="8641080" y="3675888"/>
            <a:ext cx="2606040" cy="338328"/>
          </a:xfrm>
          <a:prstGeom prst="rect">
            <a:avLst/>
          </a:prstGeom>
          <a:noFill/>
          <a:ln/>
        </p:spPr>
        <p:txBody>
          <a:bodyPr wrap="square" lIns="0" tIns="0" rIns="0" bIns="0" rtlCol="0" anchor="t">
            <a:normAutofit/>
          </a:bodyPr>
          <a:lstStyle/>
          <a:p>
            <a:pPr algn="l" indent="0" marL="0">
              <a:buNone/>
            </a:pPr>
            <a:r>
              <a:rPr lang="en-US" sz="970" dirty="0">
                <a:solidFill>
                  <a:srgbClr val="183044"/>
                </a:solidFill>
                <a:latin typeface="Aptos" pitchFamily="34" charset="0"/>
                <a:ea typeface="Aptos" pitchFamily="34" charset="-122"/>
                <a:cs typeface="Aptos" pitchFamily="34" charset="-120"/>
              </a:rPr>
              <a:t>LKPD digital dan unggahan Padlet</a:t>
            </a:r>
            <a:endParaRPr lang="en-US" sz="970" dirty="0"/>
          </a:p>
        </p:txBody>
      </p:sp>
      <p:sp>
        <p:nvSpPr>
          <p:cNvPr id="42" name="Shape 40"/>
          <p:cNvSpPr/>
          <p:nvPr/>
        </p:nvSpPr>
        <p:spPr>
          <a:xfrm>
            <a:off x="8119872" y="4160520"/>
            <a:ext cx="365760" cy="365760"/>
          </a:xfrm>
          <a:prstGeom prst="ellipse">
            <a:avLst/>
          </a:prstGeom>
          <a:solidFill>
            <a:srgbClr val="F06A5C"/>
          </a:solidFill>
          <a:ln w="12700">
            <a:solidFill>
              <a:srgbClr val="F06A5C">
                <a:alpha val="0"/>
              </a:srgbClr>
            </a:solidFill>
            <a:prstDash val="solid"/>
          </a:ln>
        </p:spPr>
      </p:sp>
      <p:sp>
        <p:nvSpPr>
          <p:cNvPr id="43" name="Text 41"/>
          <p:cNvSpPr/>
          <p:nvPr/>
        </p:nvSpPr>
        <p:spPr>
          <a:xfrm>
            <a:off x="8119872" y="4160520"/>
            <a:ext cx="365760" cy="36576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C</a:t>
            </a:r>
            <a:endParaRPr lang="en-US" sz="1100" dirty="0"/>
          </a:p>
        </p:txBody>
      </p:sp>
      <p:sp>
        <p:nvSpPr>
          <p:cNvPr id="44" name="Text 42"/>
          <p:cNvSpPr/>
          <p:nvPr/>
        </p:nvSpPr>
        <p:spPr>
          <a:xfrm>
            <a:off x="8641080" y="4151376"/>
            <a:ext cx="2606040" cy="256032"/>
          </a:xfrm>
          <a:prstGeom prst="rect">
            <a:avLst/>
          </a:prstGeom>
          <a:noFill/>
          <a:ln/>
        </p:spPr>
        <p:txBody>
          <a:bodyPr wrap="square" lIns="0" tIns="0" rIns="0" bIns="0" rtlCol="0" anchor="ctr">
            <a:normAutofit/>
          </a:bodyPr>
          <a:lstStyle/>
          <a:p>
            <a:pPr algn="l" indent="0" marL="0">
              <a:buNone/>
            </a:pPr>
            <a:r>
              <a:rPr lang="en-US" sz="1170" b="1" dirty="0">
                <a:solidFill>
                  <a:srgbClr val="102A43"/>
                </a:solidFill>
                <a:latin typeface="Aptos" pitchFamily="34" charset="0"/>
                <a:ea typeface="Aptos" pitchFamily="34" charset="-122"/>
                <a:cs typeface="Aptos" pitchFamily="34" charset="-120"/>
              </a:rPr>
              <a:t>Pemahaman individu</a:t>
            </a:r>
            <a:endParaRPr lang="en-US" sz="1170" dirty="0"/>
          </a:p>
        </p:txBody>
      </p:sp>
      <p:sp>
        <p:nvSpPr>
          <p:cNvPr id="45" name="Text 43"/>
          <p:cNvSpPr/>
          <p:nvPr/>
        </p:nvSpPr>
        <p:spPr>
          <a:xfrm>
            <a:off x="8641080" y="4453128"/>
            <a:ext cx="2606040" cy="338328"/>
          </a:xfrm>
          <a:prstGeom prst="rect">
            <a:avLst/>
          </a:prstGeom>
          <a:noFill/>
          <a:ln/>
        </p:spPr>
        <p:txBody>
          <a:bodyPr wrap="square" lIns="0" tIns="0" rIns="0" bIns="0" rtlCol="0" anchor="t">
            <a:normAutofit/>
          </a:bodyPr>
          <a:lstStyle/>
          <a:p>
            <a:pPr algn="l" indent="0" marL="0">
              <a:buNone/>
            </a:pPr>
            <a:r>
              <a:rPr lang="en-US" sz="970" dirty="0">
                <a:solidFill>
                  <a:srgbClr val="183044"/>
                </a:solidFill>
                <a:latin typeface="Aptos" pitchFamily="34" charset="0"/>
                <a:ea typeface="Aptos" pitchFamily="34" charset="-122"/>
                <a:cs typeface="Aptos" pitchFamily="34" charset="-120"/>
              </a:rPr>
              <a:t>Ulangan harian melalui Mediadidik</a:t>
            </a:r>
            <a:endParaRPr lang="en-US" sz="970" dirty="0"/>
          </a:p>
        </p:txBody>
      </p:sp>
      <p:sp>
        <p:nvSpPr>
          <p:cNvPr id="46" name="Shape 44"/>
          <p:cNvSpPr/>
          <p:nvPr/>
        </p:nvSpPr>
        <p:spPr>
          <a:xfrm>
            <a:off x="7818120" y="5650992"/>
            <a:ext cx="3767328" cy="420624"/>
          </a:xfrm>
          <a:prstGeom prst="roundRect">
            <a:avLst>
              <a:gd name="adj" fmla="val 21739"/>
            </a:avLst>
          </a:prstGeom>
          <a:solidFill>
            <a:srgbClr val="FFF4CC"/>
          </a:solidFill>
          <a:ln w="12700">
            <a:solidFill>
              <a:srgbClr val="FFF4CC">
                <a:alpha val="0"/>
              </a:srgbClr>
            </a:solidFill>
            <a:prstDash val="solid"/>
          </a:ln>
        </p:spPr>
      </p:sp>
      <p:sp>
        <p:nvSpPr>
          <p:cNvPr id="47" name="Text 45"/>
          <p:cNvSpPr/>
          <p:nvPr/>
        </p:nvSpPr>
        <p:spPr>
          <a:xfrm>
            <a:off x="7991856" y="5715000"/>
            <a:ext cx="3429000" cy="256032"/>
          </a:xfrm>
          <a:prstGeom prst="rect">
            <a:avLst/>
          </a:prstGeom>
          <a:noFill/>
          <a:ln/>
        </p:spPr>
        <p:txBody>
          <a:bodyPr wrap="square" lIns="0" tIns="0" rIns="0" bIns="0" rtlCol="0" anchor="ctr">
            <a:normAutofit/>
          </a:bodyPr>
          <a:lstStyle/>
          <a:p>
            <a:pPr algn="ctr" indent="0" marL="0">
              <a:buNone/>
            </a:pPr>
            <a:r>
              <a:rPr lang="en-US" sz="1020" b="1" dirty="0">
                <a:solidFill>
                  <a:srgbClr val="785C0A"/>
                </a:solidFill>
                <a:latin typeface="Aptos" pitchFamily="34" charset="0"/>
                <a:ea typeface="Aptos" pitchFamily="34" charset="-122"/>
                <a:cs typeface="Aptos" pitchFamily="34" charset="-120"/>
              </a:rPr>
              <a:t>Fokus: kualitas bukti, bukan tebakan</a:t>
            </a:r>
            <a:endParaRPr lang="en-US" sz="102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37587"/>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21792" y="411480"/>
            <a:ext cx="1234440" cy="283464"/>
          </a:xfrm>
          <a:prstGeom prst="roundRect">
            <a:avLst>
              <a:gd name="adj" fmla="val 45161"/>
            </a:avLst>
          </a:prstGeom>
          <a:solidFill>
            <a:srgbClr val="284861"/>
          </a:solidFill>
          <a:ln w="12700">
            <a:solidFill>
              <a:srgbClr val="284861">
                <a:alpha val="0"/>
              </a:srgbClr>
            </a:solidFill>
            <a:prstDash val="solid"/>
          </a:ln>
        </p:spPr>
      </p:sp>
      <p:sp>
        <p:nvSpPr>
          <p:cNvPr id="3" name="Text 1"/>
          <p:cNvSpPr/>
          <p:nvPr/>
        </p:nvSpPr>
        <p:spPr>
          <a:xfrm>
            <a:off x="694944" y="425196"/>
            <a:ext cx="1088136" cy="265176"/>
          </a:xfrm>
          <a:prstGeom prst="rect">
            <a:avLst/>
          </a:prstGeom>
          <a:noFill/>
          <a:ln/>
        </p:spPr>
        <p:txBody>
          <a:bodyPr wrap="square" lIns="0" tIns="0" rIns="0" bIns="0" rtlCol="0" anchor="ctr">
            <a:normAutofit/>
          </a:bodyPr>
          <a:lstStyle/>
          <a:p>
            <a:pPr algn="ctr" indent="0" marL="0">
              <a:buNone/>
            </a:pPr>
            <a:r>
              <a:rPr lang="en-US" sz="880" b="1" spc="40" kern="0" dirty="0">
                <a:solidFill>
                  <a:srgbClr val="DDF4EC"/>
                </a:solidFill>
                <a:latin typeface="Aptos" pitchFamily="34" charset="0"/>
                <a:ea typeface="Aptos" pitchFamily="34" charset="-122"/>
                <a:cs typeface="Aptos" pitchFamily="34" charset="-120"/>
              </a:rPr>
              <a:t>09 • REFLEKSI</a:t>
            </a:r>
            <a:endParaRPr lang="en-US" sz="880" dirty="0"/>
          </a:p>
        </p:txBody>
      </p:sp>
      <p:sp>
        <p:nvSpPr>
          <p:cNvPr id="4" name="Text 2"/>
          <p:cNvSpPr/>
          <p:nvPr/>
        </p:nvSpPr>
        <p:spPr>
          <a:xfrm>
            <a:off x="621792" y="932688"/>
            <a:ext cx="7680960" cy="1097280"/>
          </a:xfrm>
          <a:prstGeom prst="rect">
            <a:avLst/>
          </a:prstGeom>
          <a:noFill/>
          <a:ln/>
        </p:spPr>
        <p:txBody>
          <a:bodyPr wrap="square" lIns="0" tIns="0" rIns="0" bIns="0" rtlCol="0" anchor="ctr">
            <a:normAutofit/>
          </a:bodyPr>
          <a:lstStyle/>
          <a:p>
            <a:pPr algn="l" indent="0" marL="0">
              <a:buNone/>
            </a:pPr>
            <a:r>
              <a:rPr lang="en-US" sz="3100" b="1" dirty="0">
                <a:solidFill>
                  <a:srgbClr val="FFFFFF"/>
                </a:solidFill>
                <a:latin typeface="Aptos Display" pitchFamily="34" charset="0"/>
                <a:ea typeface="Aptos Display" pitchFamily="34" charset="-122"/>
                <a:cs typeface="Aptos Display" pitchFamily="34" charset="-120"/>
              </a:rPr>
              <a:t>Teknologi adalah jembatan.</a:t>
            </a:r>
            <a:endParaRPr lang="en-US" sz="3100" dirty="0"/>
          </a:p>
          <a:p>
            <a:pPr algn="l" indent="0" marL="0">
              <a:buNone/>
            </a:pPr>
            <a:r>
              <a:rPr lang="en-US" sz="3100" b="1" dirty="0">
                <a:solidFill>
                  <a:srgbClr val="FFFFFF"/>
                </a:solidFill>
                <a:latin typeface="Aptos Display" pitchFamily="34" charset="0"/>
                <a:ea typeface="Aptos Display" pitchFamily="34" charset="-122"/>
                <a:cs typeface="Aptos Display" pitchFamily="34" charset="-120"/>
              </a:rPr>
              <a:t>Bukti adalah dasar keputusan.</a:t>
            </a:r>
            <a:endParaRPr lang="en-US" sz="3100" dirty="0"/>
          </a:p>
        </p:txBody>
      </p:sp>
      <p:sp>
        <p:nvSpPr>
          <p:cNvPr id="5" name="Text 3"/>
          <p:cNvSpPr/>
          <p:nvPr/>
        </p:nvSpPr>
        <p:spPr>
          <a:xfrm>
            <a:off x="658368" y="2249424"/>
            <a:ext cx="6858000" cy="329184"/>
          </a:xfrm>
          <a:prstGeom prst="rect">
            <a:avLst/>
          </a:prstGeom>
          <a:noFill/>
          <a:ln/>
        </p:spPr>
        <p:txBody>
          <a:bodyPr wrap="square" lIns="0" tIns="0" rIns="0" bIns="0" rtlCol="0" anchor="ctr">
            <a:normAutofit/>
          </a:bodyPr>
          <a:lstStyle/>
          <a:p>
            <a:pPr algn="l" indent="0" marL="0">
              <a:buNone/>
            </a:pPr>
            <a:r>
              <a:rPr lang="en-US" sz="1350" dirty="0">
                <a:solidFill>
                  <a:srgbClr val="C0CFDA"/>
                </a:solidFill>
                <a:latin typeface="Aptos" pitchFamily="34" charset="0"/>
                <a:ea typeface="Aptos" pitchFamily="34" charset="-122"/>
                <a:cs typeface="Aptos" pitchFamily="34" charset="-120"/>
              </a:rPr>
              <a:t>Hal yang akan saya terapkan dalam pembelajaran berikutnya:</a:t>
            </a:r>
            <a:endParaRPr lang="en-US" sz="1350" dirty="0"/>
          </a:p>
        </p:txBody>
      </p:sp>
      <p:sp>
        <p:nvSpPr>
          <p:cNvPr id="6" name="Shape 4"/>
          <p:cNvSpPr/>
          <p:nvPr/>
        </p:nvSpPr>
        <p:spPr>
          <a:xfrm>
            <a:off x="685800" y="2816352"/>
            <a:ext cx="402336" cy="402336"/>
          </a:xfrm>
          <a:prstGeom prst="ellipse">
            <a:avLst/>
          </a:prstGeom>
          <a:solidFill>
            <a:srgbClr val="38A99A"/>
          </a:solidFill>
          <a:ln w="12700">
            <a:solidFill>
              <a:srgbClr val="38A99A">
                <a:alpha val="0"/>
              </a:srgbClr>
            </a:solidFill>
            <a:prstDash val="solid"/>
          </a:ln>
        </p:spPr>
      </p:sp>
      <p:sp>
        <p:nvSpPr>
          <p:cNvPr id="7" name="Text 5"/>
          <p:cNvSpPr/>
          <p:nvPr/>
        </p:nvSpPr>
        <p:spPr>
          <a:xfrm>
            <a:off x="685800" y="2816352"/>
            <a:ext cx="402336" cy="402336"/>
          </a:xfrm>
          <a:prstGeom prst="rect">
            <a:avLst/>
          </a:prstGeom>
          <a:noFill/>
          <a:ln/>
        </p:spPr>
        <p:txBody>
          <a:bodyPr wrap="square" lIns="0" tIns="0" rIns="0" bIns="0" rtlCol="0" anchor="ctr">
            <a:normAutofit/>
          </a:bodyPr>
          <a:lstStyle/>
          <a:p>
            <a:pPr algn="ctr" indent="0" marL="0">
              <a:buNone/>
            </a:pPr>
            <a:r>
              <a:rPr lang="en-US" sz="1000" b="1" dirty="0">
                <a:solidFill>
                  <a:srgbClr val="102A43"/>
                </a:solidFill>
                <a:latin typeface="Aptos" pitchFamily="34" charset="0"/>
                <a:ea typeface="Aptos" pitchFamily="34" charset="-122"/>
                <a:cs typeface="Aptos" pitchFamily="34" charset="-120"/>
              </a:rPr>
              <a:t>01</a:t>
            </a:r>
            <a:endParaRPr lang="en-US" sz="1000" dirty="0"/>
          </a:p>
        </p:txBody>
      </p:sp>
      <p:sp>
        <p:nvSpPr>
          <p:cNvPr id="8" name="Text 6"/>
          <p:cNvSpPr/>
          <p:nvPr/>
        </p:nvSpPr>
        <p:spPr>
          <a:xfrm>
            <a:off x="1261872" y="2807208"/>
            <a:ext cx="1508760" cy="256032"/>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ptos" pitchFamily="34" charset="0"/>
                <a:ea typeface="Aptos" pitchFamily="34" charset="-122"/>
                <a:cs typeface="Aptos" pitchFamily="34" charset="-120"/>
              </a:rPr>
              <a:t>Satukan alur</a:t>
            </a:r>
            <a:endParaRPr lang="en-US" sz="1300" dirty="0"/>
          </a:p>
        </p:txBody>
      </p:sp>
      <p:sp>
        <p:nvSpPr>
          <p:cNvPr id="9" name="Text 7"/>
          <p:cNvSpPr/>
          <p:nvPr/>
        </p:nvSpPr>
        <p:spPr>
          <a:xfrm>
            <a:off x="2788920" y="2798064"/>
            <a:ext cx="4709160" cy="429768"/>
          </a:xfrm>
          <a:prstGeom prst="rect">
            <a:avLst/>
          </a:prstGeom>
          <a:noFill/>
          <a:ln/>
        </p:spPr>
        <p:txBody>
          <a:bodyPr wrap="square" lIns="0" tIns="0" rIns="0" bIns="0" rtlCol="0" anchor="t">
            <a:normAutofit/>
          </a:bodyPr>
          <a:lstStyle/>
          <a:p>
            <a:pPr algn="l" indent="0" marL="0">
              <a:buNone/>
            </a:pPr>
            <a:r>
              <a:rPr lang="en-US" sz="1120" dirty="0">
                <a:solidFill>
                  <a:srgbClr val="DCE7EE"/>
                </a:solidFill>
                <a:latin typeface="Aptos" pitchFamily="34" charset="0"/>
                <a:ea typeface="Aptos" pitchFamily="34" charset="-122"/>
                <a:cs typeface="Aptos" pitchFamily="34" charset="-120"/>
              </a:rPr>
              <a:t>Gunakan Mediadidik untuk materi dan ulangan harian; Padlet dan LKPD membantu investigasi.</a:t>
            </a:r>
            <a:endParaRPr lang="en-US" sz="1120" dirty="0"/>
          </a:p>
        </p:txBody>
      </p:sp>
      <p:sp>
        <p:nvSpPr>
          <p:cNvPr id="10" name="Shape 8"/>
          <p:cNvSpPr/>
          <p:nvPr/>
        </p:nvSpPr>
        <p:spPr>
          <a:xfrm>
            <a:off x="685800" y="3621024"/>
            <a:ext cx="402336" cy="402336"/>
          </a:xfrm>
          <a:prstGeom prst="ellipse">
            <a:avLst/>
          </a:prstGeom>
          <a:solidFill>
            <a:srgbClr val="F06A5C"/>
          </a:solidFill>
          <a:ln w="12700">
            <a:solidFill>
              <a:srgbClr val="F06A5C">
                <a:alpha val="0"/>
              </a:srgbClr>
            </a:solidFill>
            <a:prstDash val="solid"/>
          </a:ln>
        </p:spPr>
      </p:sp>
      <p:sp>
        <p:nvSpPr>
          <p:cNvPr id="11" name="Text 9"/>
          <p:cNvSpPr/>
          <p:nvPr/>
        </p:nvSpPr>
        <p:spPr>
          <a:xfrm>
            <a:off x="685800" y="3621024"/>
            <a:ext cx="402336" cy="402336"/>
          </a:xfrm>
          <a:prstGeom prst="rect">
            <a:avLst/>
          </a:prstGeom>
          <a:noFill/>
          <a:ln/>
        </p:spPr>
        <p:txBody>
          <a:bodyPr wrap="square" lIns="0" tIns="0" rIns="0" bIns="0" rtlCol="0" anchor="ctr">
            <a:normAutofit/>
          </a:bodyPr>
          <a:lstStyle/>
          <a:p>
            <a:pPr algn="ctr" indent="0" marL="0">
              <a:buNone/>
            </a:pPr>
            <a:r>
              <a:rPr lang="en-US" sz="1000" b="1" dirty="0">
                <a:solidFill>
                  <a:srgbClr val="102A43"/>
                </a:solidFill>
                <a:latin typeface="Aptos" pitchFamily="34" charset="0"/>
                <a:ea typeface="Aptos" pitchFamily="34" charset="-122"/>
                <a:cs typeface="Aptos" pitchFamily="34" charset="-120"/>
              </a:rPr>
              <a:t>02</a:t>
            </a:r>
            <a:endParaRPr lang="en-US" sz="1000" dirty="0"/>
          </a:p>
        </p:txBody>
      </p:sp>
      <p:sp>
        <p:nvSpPr>
          <p:cNvPr id="12" name="Text 10"/>
          <p:cNvSpPr/>
          <p:nvPr/>
        </p:nvSpPr>
        <p:spPr>
          <a:xfrm>
            <a:off x="1261872" y="3611880"/>
            <a:ext cx="1508760" cy="256032"/>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ptos" pitchFamily="34" charset="0"/>
                <a:ea typeface="Aptos" pitchFamily="34" charset="-122"/>
                <a:cs typeface="Aptos" pitchFamily="34" charset="-120"/>
              </a:rPr>
              <a:t>Jaga keamanan</a:t>
            </a:r>
            <a:endParaRPr lang="en-US" sz="1300" dirty="0"/>
          </a:p>
        </p:txBody>
      </p:sp>
      <p:sp>
        <p:nvSpPr>
          <p:cNvPr id="13" name="Text 11"/>
          <p:cNvSpPr/>
          <p:nvPr/>
        </p:nvSpPr>
        <p:spPr>
          <a:xfrm>
            <a:off x="2788920" y="3602736"/>
            <a:ext cx="4709160" cy="429768"/>
          </a:xfrm>
          <a:prstGeom prst="rect">
            <a:avLst/>
          </a:prstGeom>
          <a:noFill/>
          <a:ln/>
        </p:spPr>
        <p:txBody>
          <a:bodyPr wrap="square" lIns="0" tIns="0" rIns="0" bIns="0" rtlCol="0" anchor="t">
            <a:normAutofit/>
          </a:bodyPr>
          <a:lstStyle/>
          <a:p>
            <a:pPr algn="l" indent="0" marL="0">
              <a:buNone/>
            </a:pPr>
            <a:r>
              <a:rPr lang="en-US" sz="1120" dirty="0">
                <a:solidFill>
                  <a:srgbClr val="DCE7EE"/>
                </a:solidFill>
                <a:latin typeface="Aptos" pitchFamily="34" charset="0"/>
                <a:ea typeface="Aptos" pitchFamily="34" charset="-122"/>
                <a:cs typeface="Aptos" pitchFamily="34" charset="-120"/>
              </a:rPr>
              <a:t>Pakai kasus simulasi, lindungi privasi, dan jangan membuka tautan berbahaya.</a:t>
            </a:r>
            <a:endParaRPr lang="en-US" sz="1120" dirty="0"/>
          </a:p>
        </p:txBody>
      </p:sp>
      <p:sp>
        <p:nvSpPr>
          <p:cNvPr id="14" name="Shape 12"/>
          <p:cNvSpPr/>
          <p:nvPr/>
        </p:nvSpPr>
        <p:spPr>
          <a:xfrm>
            <a:off x="685800" y="4425696"/>
            <a:ext cx="402336" cy="402336"/>
          </a:xfrm>
          <a:prstGeom prst="ellipse">
            <a:avLst/>
          </a:prstGeom>
          <a:solidFill>
            <a:srgbClr val="F4C95D"/>
          </a:solidFill>
          <a:ln w="12700">
            <a:solidFill>
              <a:srgbClr val="F4C95D">
                <a:alpha val="0"/>
              </a:srgbClr>
            </a:solidFill>
            <a:prstDash val="solid"/>
          </a:ln>
        </p:spPr>
      </p:sp>
      <p:sp>
        <p:nvSpPr>
          <p:cNvPr id="15" name="Text 13"/>
          <p:cNvSpPr/>
          <p:nvPr/>
        </p:nvSpPr>
        <p:spPr>
          <a:xfrm>
            <a:off x="685800" y="4425696"/>
            <a:ext cx="402336" cy="402336"/>
          </a:xfrm>
          <a:prstGeom prst="rect">
            <a:avLst/>
          </a:prstGeom>
          <a:noFill/>
          <a:ln/>
        </p:spPr>
        <p:txBody>
          <a:bodyPr wrap="square" lIns="0" tIns="0" rIns="0" bIns="0" rtlCol="0" anchor="ctr">
            <a:normAutofit/>
          </a:bodyPr>
          <a:lstStyle/>
          <a:p>
            <a:pPr algn="ctr" indent="0" marL="0">
              <a:buNone/>
            </a:pPr>
            <a:r>
              <a:rPr lang="en-US" sz="1000" b="1" dirty="0">
                <a:solidFill>
                  <a:srgbClr val="102A43"/>
                </a:solidFill>
                <a:latin typeface="Aptos" pitchFamily="34" charset="0"/>
                <a:ea typeface="Aptos" pitchFamily="34" charset="-122"/>
                <a:cs typeface="Aptos" pitchFamily="34" charset="-120"/>
              </a:rPr>
              <a:t>03</a:t>
            </a:r>
            <a:endParaRPr lang="en-US" sz="1000" dirty="0"/>
          </a:p>
        </p:txBody>
      </p:sp>
      <p:sp>
        <p:nvSpPr>
          <p:cNvPr id="16" name="Text 14"/>
          <p:cNvSpPr/>
          <p:nvPr/>
        </p:nvSpPr>
        <p:spPr>
          <a:xfrm>
            <a:off x="1261872" y="4416552"/>
            <a:ext cx="1508760" cy="256032"/>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ptos" pitchFamily="34" charset="0"/>
                <a:ea typeface="Aptos" pitchFamily="34" charset="-122"/>
                <a:cs typeface="Aptos" pitchFamily="34" charset="-120"/>
              </a:rPr>
              <a:t>Buka akses</a:t>
            </a:r>
            <a:endParaRPr lang="en-US" sz="1300" dirty="0"/>
          </a:p>
        </p:txBody>
      </p:sp>
      <p:sp>
        <p:nvSpPr>
          <p:cNvPr id="17" name="Text 15"/>
          <p:cNvSpPr/>
          <p:nvPr/>
        </p:nvSpPr>
        <p:spPr>
          <a:xfrm>
            <a:off x="2788920" y="4407408"/>
            <a:ext cx="4709160" cy="429768"/>
          </a:xfrm>
          <a:prstGeom prst="rect">
            <a:avLst/>
          </a:prstGeom>
          <a:noFill/>
          <a:ln/>
        </p:spPr>
        <p:txBody>
          <a:bodyPr wrap="square" lIns="0" tIns="0" rIns="0" bIns="0" rtlCol="0" anchor="t">
            <a:normAutofit/>
          </a:bodyPr>
          <a:lstStyle/>
          <a:p>
            <a:pPr algn="l" indent="0" marL="0">
              <a:buNone/>
            </a:pPr>
            <a:r>
              <a:rPr lang="en-US" sz="1120" dirty="0">
                <a:solidFill>
                  <a:srgbClr val="DCE7EE"/>
                </a:solidFill>
                <a:latin typeface="Aptos" pitchFamily="34" charset="0"/>
                <a:ea typeface="Aptos" pitchFamily="34" charset="-122"/>
                <a:cs typeface="Aptos" pitchFamily="34" charset="-120"/>
              </a:rPr>
              <a:t>Sediakan materi ringan, alternatif luring, rubrik jelas, dan umpan balik yang membantu.</a:t>
            </a:r>
            <a:endParaRPr lang="en-US" sz="1120" dirty="0"/>
          </a:p>
        </p:txBody>
      </p:sp>
      <p:sp>
        <p:nvSpPr>
          <p:cNvPr id="18" name="Shape 16"/>
          <p:cNvSpPr/>
          <p:nvPr/>
        </p:nvSpPr>
        <p:spPr>
          <a:xfrm>
            <a:off x="8339328" y="1828800"/>
            <a:ext cx="2926080" cy="2971800"/>
          </a:xfrm>
          <a:prstGeom prst="roundRect">
            <a:avLst>
              <a:gd name="adj" fmla="val 5625"/>
            </a:avLst>
          </a:prstGeom>
          <a:solidFill>
            <a:srgbClr val="1B3B55"/>
          </a:solidFill>
          <a:ln w="12700">
            <a:solidFill>
              <a:srgbClr val="31506D"/>
            </a:solidFill>
            <a:prstDash val="solid"/>
          </a:ln>
        </p:spPr>
      </p:sp>
      <p:sp>
        <p:nvSpPr>
          <p:cNvPr id="19" name="Shape 17"/>
          <p:cNvSpPr/>
          <p:nvPr/>
        </p:nvSpPr>
        <p:spPr>
          <a:xfrm>
            <a:off x="9281160" y="2212848"/>
            <a:ext cx="1078992" cy="1078992"/>
          </a:xfrm>
          <a:prstGeom prst="ellipse">
            <a:avLst/>
          </a:prstGeom>
          <a:solidFill>
            <a:srgbClr val="38A99A"/>
          </a:solidFill>
          <a:ln w="12700">
            <a:solidFill>
              <a:srgbClr val="38A99A">
                <a:alpha val="0"/>
              </a:srgbClr>
            </a:solidFill>
            <a:prstDash val="solid"/>
          </a:ln>
        </p:spPr>
      </p:sp>
      <p:sp>
        <p:nvSpPr>
          <p:cNvPr id="20" name="Shape 18"/>
          <p:cNvSpPr/>
          <p:nvPr/>
        </p:nvSpPr>
        <p:spPr>
          <a:xfrm>
            <a:off x="9573768" y="2505456"/>
            <a:ext cx="493776" cy="493776"/>
          </a:xfrm>
          <a:prstGeom prst="roundRect">
            <a:avLst>
              <a:gd name="adj" fmla="val 22222"/>
            </a:avLst>
          </a:prstGeom>
          <a:solidFill>
            <a:srgbClr val="102A43"/>
          </a:solidFill>
          <a:ln w="12700">
            <a:solidFill>
              <a:srgbClr val="102A43">
                <a:alpha val="0"/>
              </a:srgbClr>
            </a:solidFill>
            <a:prstDash val="solid"/>
          </a:ln>
        </p:spPr>
      </p:sp>
      <p:sp>
        <p:nvSpPr>
          <p:cNvPr id="21" name="Shape 19"/>
          <p:cNvSpPr/>
          <p:nvPr/>
        </p:nvSpPr>
        <p:spPr>
          <a:xfrm>
            <a:off x="9682399" y="2762220"/>
            <a:ext cx="98755" cy="88880"/>
          </a:xfrm>
          <a:prstGeom prst="line">
            <a:avLst/>
          </a:prstGeom>
          <a:noFill/>
          <a:ln w="30480">
            <a:solidFill>
              <a:srgbClr val="FFFFFF"/>
            </a:solidFill>
            <a:prstDash val="solid"/>
            <a:headEnd type="none"/>
            <a:tailEnd type="none"/>
          </a:ln>
        </p:spPr>
      </p:sp>
      <p:sp>
        <p:nvSpPr>
          <p:cNvPr id="22" name="Shape 20"/>
          <p:cNvSpPr/>
          <p:nvPr/>
        </p:nvSpPr>
        <p:spPr>
          <a:xfrm>
            <a:off x="9781154" y="2851099"/>
            <a:ext cx="177759" cy="-207386"/>
          </a:xfrm>
          <a:prstGeom prst="line">
            <a:avLst/>
          </a:prstGeom>
          <a:noFill/>
          <a:ln w="30480">
            <a:solidFill>
              <a:srgbClr val="FFFFFF"/>
            </a:solidFill>
            <a:prstDash val="solid"/>
            <a:headEnd type="none"/>
            <a:tailEnd type="none"/>
          </a:ln>
        </p:spPr>
      </p:sp>
      <p:sp>
        <p:nvSpPr>
          <p:cNvPr id="23" name="Text 21"/>
          <p:cNvSpPr/>
          <p:nvPr/>
        </p:nvSpPr>
        <p:spPr>
          <a:xfrm>
            <a:off x="8622792" y="3611880"/>
            <a:ext cx="2340864" cy="676656"/>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SARING SEBELUM</a:t>
            </a:r>
            <a:endParaRPr lang="en-US" sz="2000" dirty="0"/>
          </a:p>
          <a:p>
            <a:pPr algn="ctr" indent="0" marL="0">
              <a:buNone/>
            </a:pPr>
            <a:r>
              <a:rPr lang="en-US" sz="2000" b="1" dirty="0">
                <a:solidFill>
                  <a:srgbClr val="FFFFFF"/>
                </a:solidFill>
                <a:latin typeface="Aptos" pitchFamily="34" charset="0"/>
                <a:ea typeface="Aptos" pitchFamily="34" charset="-122"/>
                <a:cs typeface="Aptos" pitchFamily="34" charset="-120"/>
              </a:rPr>
              <a:t>SHARING</a:t>
            </a:r>
            <a:endParaRPr lang="en-US" sz="2000" dirty="0"/>
          </a:p>
        </p:txBody>
      </p:sp>
      <p:sp>
        <p:nvSpPr>
          <p:cNvPr id="24" name="Text 22"/>
          <p:cNvSpPr/>
          <p:nvPr/>
        </p:nvSpPr>
        <p:spPr>
          <a:xfrm>
            <a:off x="8549640" y="4407408"/>
            <a:ext cx="2514600" cy="274320"/>
          </a:xfrm>
          <a:prstGeom prst="rect">
            <a:avLst/>
          </a:prstGeom>
          <a:noFill/>
          <a:ln/>
        </p:spPr>
        <p:txBody>
          <a:bodyPr wrap="square" lIns="0" tIns="0" rIns="0" bIns="0" rtlCol="0" anchor="ctr">
            <a:normAutofit/>
          </a:bodyPr>
          <a:lstStyle/>
          <a:p>
            <a:pPr algn="ctr" indent="0" marL="0">
              <a:buNone/>
            </a:pPr>
            <a:r>
              <a:rPr lang="en-US" sz="950" dirty="0">
                <a:solidFill>
                  <a:srgbClr val="B6C6D3"/>
                </a:solidFill>
                <a:latin typeface="Aptos" pitchFamily="34" charset="0"/>
                <a:ea typeface="Aptos" pitchFamily="34" charset="-122"/>
                <a:cs typeface="Aptos" pitchFamily="34" charset="-120"/>
              </a:rPr>
              <a:t>Tanyakan • Telusuri • Bandingkan • Simpulkan</a:t>
            </a:r>
            <a:endParaRPr lang="en-US" sz="950" dirty="0"/>
          </a:p>
        </p:txBody>
      </p:sp>
      <p:sp>
        <p:nvSpPr>
          <p:cNvPr id="25" name="Shape 23"/>
          <p:cNvSpPr/>
          <p:nvPr/>
        </p:nvSpPr>
        <p:spPr>
          <a:xfrm>
            <a:off x="685800" y="5623560"/>
            <a:ext cx="10561320" cy="0"/>
          </a:xfrm>
          <a:prstGeom prst="line">
            <a:avLst/>
          </a:prstGeom>
          <a:noFill/>
          <a:ln w="12700">
            <a:solidFill>
              <a:srgbClr val="31506D"/>
            </a:solidFill>
            <a:prstDash val="solid"/>
            <a:headEnd type="none"/>
            <a:tailEnd type="none"/>
          </a:ln>
        </p:spPr>
      </p:sp>
      <p:sp>
        <p:nvSpPr>
          <p:cNvPr id="26" name="Text 24"/>
          <p:cNvSpPr/>
          <p:nvPr/>
        </p:nvSpPr>
        <p:spPr>
          <a:xfrm>
            <a:off x="704088" y="5806440"/>
            <a:ext cx="2743200" cy="365760"/>
          </a:xfrm>
          <a:prstGeom prst="rect">
            <a:avLst/>
          </a:prstGeom>
          <a:noFill/>
          <a:ln/>
        </p:spPr>
        <p:txBody>
          <a:bodyPr wrap="square" lIns="0" tIns="0" rIns="0" bIns="0" rtlCol="0" anchor="ctr">
            <a:normAutofit/>
          </a:bodyPr>
          <a:lstStyle/>
          <a:p>
            <a:pPr algn="l" indent="0" marL="0">
              <a:buNone/>
            </a:pPr>
            <a:r>
              <a:rPr lang="en-US" sz="2100" b="1" dirty="0">
                <a:solidFill>
                  <a:srgbClr val="F4C95D"/>
                </a:solidFill>
                <a:latin typeface="Aptos Display" pitchFamily="34" charset="0"/>
                <a:ea typeface="Aptos Display" pitchFamily="34" charset="-122"/>
                <a:cs typeface="Aptos Display" pitchFamily="34" charset="-120"/>
              </a:rPr>
              <a:t>Terima kasih</a:t>
            </a:r>
            <a:endParaRPr lang="en-US" sz="2100" dirty="0"/>
          </a:p>
        </p:txBody>
      </p:sp>
      <p:sp>
        <p:nvSpPr>
          <p:cNvPr id="27" name="Text 25"/>
          <p:cNvSpPr/>
          <p:nvPr/>
        </p:nvSpPr>
        <p:spPr>
          <a:xfrm>
            <a:off x="2743200" y="5833872"/>
            <a:ext cx="3017520" cy="292608"/>
          </a:xfrm>
          <a:prstGeom prst="rect">
            <a:avLst/>
          </a:prstGeom>
          <a:noFill/>
          <a:ln/>
        </p:spPr>
        <p:txBody>
          <a:bodyPr wrap="square" lIns="0" tIns="0" rIns="0" bIns="0" rtlCol="0" anchor="ctr">
            <a:normAutofit/>
          </a:bodyPr>
          <a:lstStyle/>
          <a:p>
            <a:pPr algn="l" indent="0" marL="0">
              <a:buNone/>
            </a:pPr>
            <a:r>
              <a:rPr lang="en-US" sz="1200" dirty="0">
                <a:solidFill>
                  <a:srgbClr val="DCE7EE"/>
                </a:solidFill>
                <a:latin typeface="Aptos" pitchFamily="34" charset="0"/>
                <a:ea typeface="Aptos" pitchFamily="34" charset="-122"/>
                <a:cs typeface="Aptos" pitchFamily="34" charset="-120"/>
              </a:rPr>
              <a:t>Diskusi dan masukan</a:t>
            </a:r>
            <a:endParaRPr lang="en-US" sz="120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B6C6D3"/>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66928" y="329184"/>
            <a:ext cx="1170432" cy="274320"/>
          </a:xfrm>
          <a:prstGeom prst="roundRect">
            <a:avLst>
              <a:gd name="adj" fmla="val 46667"/>
            </a:avLst>
          </a:prstGeom>
          <a:solidFill>
            <a:srgbClr val="DDF4EC"/>
          </a:solidFill>
          <a:ln w="12700">
            <a:solidFill>
              <a:srgbClr val="DDF4EC">
                <a:alpha val="0"/>
              </a:srgbClr>
            </a:solidFill>
            <a:prstDash val="solid"/>
          </a:ln>
        </p:spPr>
      </p:sp>
      <p:sp>
        <p:nvSpPr>
          <p:cNvPr id="3" name="Text 1"/>
          <p:cNvSpPr/>
          <p:nvPr/>
        </p:nvSpPr>
        <p:spPr>
          <a:xfrm>
            <a:off x="640080" y="342900"/>
            <a:ext cx="1024128" cy="256032"/>
          </a:xfrm>
          <a:prstGeom prst="rect">
            <a:avLst/>
          </a:prstGeom>
          <a:noFill/>
          <a:ln/>
        </p:spPr>
        <p:txBody>
          <a:bodyPr wrap="square" lIns="0" tIns="0" rIns="0" bIns="0" rtlCol="0" anchor="ctr">
            <a:normAutofit/>
          </a:bodyPr>
          <a:lstStyle/>
          <a:p>
            <a:pPr algn="ctr" indent="0" marL="0">
              <a:buNone/>
            </a:pPr>
            <a:r>
              <a:rPr lang="en-US" sz="850" b="1" spc="40" kern="0" dirty="0">
                <a:solidFill>
                  <a:srgbClr val="18766F"/>
                </a:solidFill>
                <a:latin typeface="Aptos" pitchFamily="34" charset="0"/>
                <a:ea typeface="Aptos" pitchFamily="34" charset="-122"/>
                <a:cs typeface="Aptos" pitchFamily="34" charset="-120"/>
              </a:rPr>
              <a:t>REFERENSI</a:t>
            </a:r>
            <a:endParaRPr lang="en-US" sz="850" dirty="0"/>
          </a:p>
        </p:txBody>
      </p:sp>
      <p:sp>
        <p:nvSpPr>
          <p:cNvPr id="4" name="Text 2"/>
          <p:cNvSpPr/>
          <p:nvPr/>
        </p:nvSpPr>
        <p:spPr>
          <a:xfrm>
            <a:off x="566928" y="749808"/>
            <a:ext cx="10972800" cy="548640"/>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Landasan yang digunakan</a:t>
            </a:r>
            <a:endParaRPr lang="en-US" sz="2800" dirty="0"/>
          </a:p>
        </p:txBody>
      </p:sp>
      <p:sp>
        <p:nvSpPr>
          <p:cNvPr id="5" name="Text 3"/>
          <p:cNvSpPr/>
          <p:nvPr/>
        </p:nvSpPr>
        <p:spPr>
          <a:xfrm>
            <a:off x="585216" y="1307592"/>
            <a:ext cx="10881360" cy="329184"/>
          </a:xfrm>
          <a:prstGeom prst="rect">
            <a:avLst/>
          </a:prstGeom>
          <a:noFill/>
          <a:ln/>
        </p:spPr>
        <p:txBody>
          <a:bodyPr wrap="square" lIns="0" tIns="0" rIns="0" bIns="0" rtlCol="0" anchor="ctr">
            <a:normAutofit/>
          </a:bodyPr>
          <a:lstStyle/>
          <a:p>
            <a:pPr algn="l" indent="0" marL="0">
              <a:buNone/>
            </a:pPr>
            <a:r>
              <a:rPr lang="en-US" sz="1250" dirty="0">
                <a:solidFill>
                  <a:srgbClr val="617587"/>
                </a:solidFill>
                <a:latin typeface="Aptos" pitchFamily="34" charset="0"/>
                <a:ea typeface="Aptos" pitchFamily="34" charset="-122"/>
                <a:cs typeface="Aptos" pitchFamily="34" charset="-120"/>
              </a:rPr>
              <a:t>Sumber teori yang dicantumkan dalam rancangan pembelajaran.</a:t>
            </a:r>
            <a:endParaRPr lang="en-US" sz="1250" dirty="0"/>
          </a:p>
        </p:txBody>
      </p:sp>
      <p:sp>
        <p:nvSpPr>
          <p:cNvPr id="6" name="Shape 4"/>
          <p:cNvSpPr/>
          <p:nvPr/>
        </p:nvSpPr>
        <p:spPr>
          <a:xfrm>
            <a:off x="640080" y="1874520"/>
            <a:ext cx="10927080" cy="1024128"/>
          </a:xfrm>
          <a:prstGeom prst="roundRect">
            <a:avLst>
              <a:gd name="adj" fmla="val 12500"/>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7" name="Shape 5"/>
          <p:cNvSpPr/>
          <p:nvPr/>
        </p:nvSpPr>
        <p:spPr>
          <a:xfrm>
            <a:off x="868680" y="2103120"/>
            <a:ext cx="457200" cy="457200"/>
          </a:xfrm>
          <a:prstGeom prst="ellipse">
            <a:avLst/>
          </a:prstGeom>
          <a:solidFill>
            <a:srgbClr val="2F6690"/>
          </a:solidFill>
          <a:ln w="12700">
            <a:solidFill>
              <a:srgbClr val="2F6690">
                <a:alpha val="0"/>
              </a:srgbClr>
            </a:solidFill>
            <a:prstDash val="solid"/>
          </a:ln>
        </p:spPr>
      </p:sp>
      <p:sp>
        <p:nvSpPr>
          <p:cNvPr id="8" name="Text 6"/>
          <p:cNvSpPr/>
          <p:nvPr/>
        </p:nvSpPr>
        <p:spPr>
          <a:xfrm>
            <a:off x="868680" y="2103120"/>
            <a:ext cx="457200" cy="45720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01</a:t>
            </a:r>
            <a:endParaRPr lang="en-US" sz="1100" dirty="0"/>
          </a:p>
        </p:txBody>
      </p:sp>
      <p:sp>
        <p:nvSpPr>
          <p:cNvPr id="9" name="Text 7"/>
          <p:cNvSpPr/>
          <p:nvPr/>
        </p:nvSpPr>
        <p:spPr>
          <a:xfrm>
            <a:off x="1527048" y="1993392"/>
            <a:ext cx="1993392" cy="228600"/>
          </a:xfrm>
          <a:prstGeom prst="rect">
            <a:avLst/>
          </a:prstGeom>
          <a:noFill/>
          <a:ln/>
        </p:spPr>
        <p:txBody>
          <a:bodyPr wrap="square" lIns="0" tIns="0" rIns="0" bIns="0" rtlCol="0" anchor="ctr">
            <a:normAutofit/>
          </a:bodyPr>
          <a:lstStyle/>
          <a:p>
            <a:pPr algn="l" indent="0" marL="0">
              <a:buNone/>
            </a:pPr>
            <a:r>
              <a:rPr lang="en-US" sz="900" b="1" spc="70" kern="0" dirty="0">
                <a:solidFill>
                  <a:srgbClr val="2F6690"/>
                </a:solidFill>
                <a:latin typeface="Aptos" pitchFamily="34" charset="0"/>
                <a:ea typeface="Aptos" pitchFamily="34" charset="-122"/>
                <a:cs typeface="Aptos" pitchFamily="34" charset="-120"/>
              </a:rPr>
              <a:t>BLENDED LEARNING</a:t>
            </a:r>
            <a:endParaRPr lang="en-US" sz="900" dirty="0"/>
          </a:p>
        </p:txBody>
      </p:sp>
      <p:sp>
        <p:nvSpPr>
          <p:cNvPr id="10" name="Text 8"/>
          <p:cNvSpPr/>
          <p:nvPr/>
        </p:nvSpPr>
        <p:spPr>
          <a:xfrm>
            <a:off x="1527048" y="2258568"/>
            <a:ext cx="2926080" cy="201168"/>
          </a:xfrm>
          <a:prstGeom prst="rect">
            <a:avLst/>
          </a:prstGeom>
          <a:noFill/>
          <a:ln/>
        </p:spPr>
        <p:txBody>
          <a:bodyPr wrap="square" lIns="0" tIns="0" rIns="0" bIns="0" rtlCol="0" anchor="ctr">
            <a:normAutofit/>
          </a:bodyPr>
          <a:lstStyle/>
          <a:p>
            <a:pPr algn="l" indent="0" marL="0">
              <a:buNone/>
            </a:pPr>
            <a:r>
              <a:rPr lang="en-US" sz="1040" b="1" dirty="0">
                <a:solidFill>
                  <a:srgbClr val="102A43"/>
                </a:solidFill>
                <a:latin typeface="Aptos" pitchFamily="34" charset="0"/>
                <a:ea typeface="Aptos" pitchFamily="34" charset="-122"/>
                <a:cs typeface="Aptos" pitchFamily="34" charset="-120"/>
              </a:rPr>
              <a:t>Garrison, D. R., &amp; Kanuka, H. (2004).</a:t>
            </a:r>
            <a:endParaRPr lang="en-US" sz="1040" dirty="0"/>
          </a:p>
        </p:txBody>
      </p:sp>
      <p:sp>
        <p:nvSpPr>
          <p:cNvPr id="11" name="Text 9"/>
          <p:cNvSpPr/>
          <p:nvPr/>
        </p:nvSpPr>
        <p:spPr>
          <a:xfrm>
            <a:off x="4462272" y="2011680"/>
            <a:ext cx="6720840" cy="292608"/>
          </a:xfrm>
          <a:prstGeom prst="rect">
            <a:avLst/>
          </a:prstGeom>
          <a:noFill/>
          <a:ln/>
        </p:spPr>
        <p:txBody>
          <a:bodyPr wrap="square" lIns="0" tIns="0" rIns="0" bIns="0" rtlCol="0" anchor="ctr">
            <a:normAutofit/>
          </a:bodyPr>
          <a:lstStyle/>
          <a:p>
            <a:pPr algn="l" indent="0" marL="0">
              <a:buNone/>
            </a:pPr>
            <a:r>
              <a:rPr lang="en-US" sz="1020" i="1" dirty="0">
                <a:solidFill>
                  <a:srgbClr val="183044"/>
                </a:solidFill>
                <a:latin typeface="Aptos" pitchFamily="34" charset="0"/>
                <a:ea typeface="Aptos" pitchFamily="34" charset="-122"/>
                <a:cs typeface="Aptos" pitchFamily="34" charset="-120"/>
              </a:rPr>
              <a:t>Blended learning: Uncovering its transformative potential in higher education.</a:t>
            </a:r>
            <a:endParaRPr lang="en-US" sz="1020" dirty="0"/>
          </a:p>
        </p:txBody>
      </p:sp>
      <p:sp>
        <p:nvSpPr>
          <p:cNvPr id="12" name="Text 10"/>
          <p:cNvSpPr/>
          <p:nvPr/>
        </p:nvSpPr>
        <p:spPr>
          <a:xfrm>
            <a:off x="4462272" y="2313432"/>
            <a:ext cx="6720840" cy="201168"/>
          </a:xfrm>
          <a:prstGeom prst="rect">
            <a:avLst/>
          </a:prstGeom>
          <a:noFill/>
          <a:ln/>
        </p:spPr>
        <p:txBody>
          <a:bodyPr wrap="square" lIns="0" tIns="0" rIns="0" bIns="0" rtlCol="0" anchor="ctr">
            <a:normAutofit/>
          </a:bodyPr>
          <a:lstStyle/>
          <a:p>
            <a:pPr algn="l" indent="0" marL="0">
              <a:buNone/>
            </a:pPr>
            <a:r>
              <a:rPr lang="en-US" sz="960" dirty="0">
                <a:solidFill>
                  <a:srgbClr val="617587"/>
                </a:solidFill>
                <a:latin typeface="Aptos" pitchFamily="34" charset="0"/>
                <a:ea typeface="Aptos" pitchFamily="34" charset="-122"/>
                <a:cs typeface="Aptos" pitchFamily="34" charset="-120"/>
              </a:rPr>
              <a:t>The Internet and Higher Education, 7(2), 95–105.</a:t>
            </a:r>
            <a:endParaRPr lang="en-US" sz="960" dirty="0"/>
          </a:p>
        </p:txBody>
      </p:sp>
      <p:sp>
        <p:nvSpPr>
          <p:cNvPr id="13" name="Text 11"/>
          <p:cNvSpPr/>
          <p:nvPr/>
        </p:nvSpPr>
        <p:spPr>
          <a:xfrm>
            <a:off x="4462272" y="2560320"/>
            <a:ext cx="6720840" cy="182880"/>
          </a:xfrm>
          <a:prstGeom prst="rect">
            <a:avLst/>
          </a:prstGeom>
          <a:noFill/>
          <a:ln/>
        </p:spPr>
        <p:txBody>
          <a:bodyPr wrap="square" lIns="0" tIns="0" rIns="0" bIns="0" rtlCol="0" anchor="ctr">
            <a:normAutofit/>
          </a:bodyPr>
          <a:lstStyle/>
          <a:p>
            <a:pPr algn="l" indent="0" marL="0">
              <a:buNone/>
            </a:pPr>
            <a:r>
              <a:rPr lang="en-US" sz="930" dirty="0">
                <a:solidFill>
                  <a:srgbClr val="2F6690"/>
                </a:solidFill>
                <a:latin typeface="Aptos" pitchFamily="34" charset="0"/>
                <a:ea typeface="Aptos" pitchFamily="34" charset="-122"/>
                <a:cs typeface="Aptos" pitchFamily="34" charset="-120"/>
              </a:rPr>
              <a:t>https://doi.org/10.1016/j.iheduc.2004.02.001</a:t>
            </a:r>
            <a:endParaRPr lang="en-US" sz="930" dirty="0"/>
          </a:p>
        </p:txBody>
      </p:sp>
      <p:sp>
        <p:nvSpPr>
          <p:cNvPr id="14" name="Shape 12"/>
          <p:cNvSpPr/>
          <p:nvPr/>
        </p:nvSpPr>
        <p:spPr>
          <a:xfrm>
            <a:off x="640080" y="3099816"/>
            <a:ext cx="10927080" cy="1024128"/>
          </a:xfrm>
          <a:prstGeom prst="roundRect">
            <a:avLst>
              <a:gd name="adj" fmla="val 12500"/>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15" name="Shape 13"/>
          <p:cNvSpPr/>
          <p:nvPr/>
        </p:nvSpPr>
        <p:spPr>
          <a:xfrm>
            <a:off x="868680" y="3328416"/>
            <a:ext cx="457200" cy="457200"/>
          </a:xfrm>
          <a:prstGeom prst="ellipse">
            <a:avLst/>
          </a:prstGeom>
          <a:solidFill>
            <a:srgbClr val="38A99A"/>
          </a:solidFill>
          <a:ln w="12700">
            <a:solidFill>
              <a:srgbClr val="38A99A">
                <a:alpha val="0"/>
              </a:srgbClr>
            </a:solidFill>
            <a:prstDash val="solid"/>
          </a:ln>
        </p:spPr>
      </p:sp>
      <p:sp>
        <p:nvSpPr>
          <p:cNvPr id="16" name="Text 14"/>
          <p:cNvSpPr/>
          <p:nvPr/>
        </p:nvSpPr>
        <p:spPr>
          <a:xfrm>
            <a:off x="868680" y="3328416"/>
            <a:ext cx="457200" cy="45720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02</a:t>
            </a:r>
            <a:endParaRPr lang="en-US" sz="1100" dirty="0"/>
          </a:p>
        </p:txBody>
      </p:sp>
      <p:sp>
        <p:nvSpPr>
          <p:cNvPr id="17" name="Text 15"/>
          <p:cNvSpPr/>
          <p:nvPr/>
        </p:nvSpPr>
        <p:spPr>
          <a:xfrm>
            <a:off x="1527048" y="3218688"/>
            <a:ext cx="1993392" cy="228600"/>
          </a:xfrm>
          <a:prstGeom prst="rect">
            <a:avLst/>
          </a:prstGeom>
          <a:noFill/>
          <a:ln/>
        </p:spPr>
        <p:txBody>
          <a:bodyPr wrap="square" lIns="0" tIns="0" rIns="0" bIns="0" rtlCol="0" anchor="ctr">
            <a:normAutofit/>
          </a:bodyPr>
          <a:lstStyle/>
          <a:p>
            <a:pPr algn="l" indent="0" marL="0">
              <a:buNone/>
            </a:pPr>
            <a:r>
              <a:rPr lang="en-US" sz="900" b="1" spc="70" kern="0" dirty="0">
                <a:solidFill>
                  <a:srgbClr val="38A99A"/>
                </a:solidFill>
                <a:latin typeface="Aptos" pitchFamily="34" charset="0"/>
                <a:ea typeface="Aptos" pitchFamily="34" charset="-122"/>
                <a:cs typeface="Aptos" pitchFamily="34" charset="-120"/>
              </a:rPr>
              <a:t>INQUIRY-BASED LEARNING</a:t>
            </a:r>
            <a:endParaRPr lang="en-US" sz="900" dirty="0"/>
          </a:p>
        </p:txBody>
      </p:sp>
      <p:sp>
        <p:nvSpPr>
          <p:cNvPr id="18" name="Text 16"/>
          <p:cNvSpPr/>
          <p:nvPr/>
        </p:nvSpPr>
        <p:spPr>
          <a:xfrm>
            <a:off x="1527048" y="3483864"/>
            <a:ext cx="2926080" cy="201168"/>
          </a:xfrm>
          <a:prstGeom prst="rect">
            <a:avLst/>
          </a:prstGeom>
          <a:noFill/>
          <a:ln/>
        </p:spPr>
        <p:txBody>
          <a:bodyPr wrap="square" lIns="0" tIns="0" rIns="0" bIns="0" rtlCol="0" anchor="ctr">
            <a:normAutofit/>
          </a:bodyPr>
          <a:lstStyle/>
          <a:p>
            <a:pPr algn="l" indent="0" marL="0">
              <a:buNone/>
            </a:pPr>
            <a:r>
              <a:rPr lang="en-US" sz="1040" b="1" dirty="0">
                <a:solidFill>
                  <a:srgbClr val="102A43"/>
                </a:solidFill>
                <a:latin typeface="Aptos" pitchFamily="34" charset="0"/>
                <a:ea typeface="Aptos" pitchFamily="34" charset="-122"/>
                <a:cs typeface="Aptos" pitchFamily="34" charset="-120"/>
              </a:rPr>
              <a:t>Pedaste, M., et al. (2015).</a:t>
            </a:r>
            <a:endParaRPr lang="en-US" sz="1040" dirty="0"/>
          </a:p>
        </p:txBody>
      </p:sp>
      <p:sp>
        <p:nvSpPr>
          <p:cNvPr id="19" name="Text 17"/>
          <p:cNvSpPr/>
          <p:nvPr/>
        </p:nvSpPr>
        <p:spPr>
          <a:xfrm>
            <a:off x="4462272" y="3236976"/>
            <a:ext cx="6720840" cy="292608"/>
          </a:xfrm>
          <a:prstGeom prst="rect">
            <a:avLst/>
          </a:prstGeom>
          <a:noFill/>
          <a:ln/>
        </p:spPr>
        <p:txBody>
          <a:bodyPr wrap="square" lIns="0" tIns="0" rIns="0" bIns="0" rtlCol="0" anchor="ctr">
            <a:normAutofit/>
          </a:bodyPr>
          <a:lstStyle/>
          <a:p>
            <a:pPr algn="l" indent="0" marL="0">
              <a:buNone/>
            </a:pPr>
            <a:r>
              <a:rPr lang="en-US" sz="1020" i="1" dirty="0">
                <a:solidFill>
                  <a:srgbClr val="183044"/>
                </a:solidFill>
                <a:latin typeface="Aptos" pitchFamily="34" charset="0"/>
                <a:ea typeface="Aptos" pitchFamily="34" charset="-122"/>
                <a:cs typeface="Aptos" pitchFamily="34" charset="-120"/>
              </a:rPr>
              <a:t>Phases of inquiry-based learning: Definitions and the inquiry cycle.</a:t>
            </a:r>
            <a:endParaRPr lang="en-US" sz="1020" dirty="0"/>
          </a:p>
        </p:txBody>
      </p:sp>
      <p:sp>
        <p:nvSpPr>
          <p:cNvPr id="20" name="Text 18"/>
          <p:cNvSpPr/>
          <p:nvPr/>
        </p:nvSpPr>
        <p:spPr>
          <a:xfrm>
            <a:off x="4462272" y="3538728"/>
            <a:ext cx="6720840" cy="201168"/>
          </a:xfrm>
          <a:prstGeom prst="rect">
            <a:avLst/>
          </a:prstGeom>
          <a:noFill/>
          <a:ln/>
        </p:spPr>
        <p:txBody>
          <a:bodyPr wrap="square" lIns="0" tIns="0" rIns="0" bIns="0" rtlCol="0" anchor="ctr">
            <a:normAutofit/>
          </a:bodyPr>
          <a:lstStyle/>
          <a:p>
            <a:pPr algn="l" indent="0" marL="0">
              <a:buNone/>
            </a:pPr>
            <a:r>
              <a:rPr lang="en-US" sz="960" dirty="0">
                <a:solidFill>
                  <a:srgbClr val="617587"/>
                </a:solidFill>
                <a:latin typeface="Aptos" pitchFamily="34" charset="0"/>
                <a:ea typeface="Aptos" pitchFamily="34" charset="-122"/>
                <a:cs typeface="Aptos" pitchFamily="34" charset="-120"/>
              </a:rPr>
              <a:t>Educational Research Review, 14, 47–61.</a:t>
            </a:r>
            <a:endParaRPr lang="en-US" sz="960" dirty="0"/>
          </a:p>
        </p:txBody>
      </p:sp>
      <p:sp>
        <p:nvSpPr>
          <p:cNvPr id="21" name="Text 19"/>
          <p:cNvSpPr/>
          <p:nvPr/>
        </p:nvSpPr>
        <p:spPr>
          <a:xfrm>
            <a:off x="4462272" y="3785616"/>
            <a:ext cx="6720840" cy="182880"/>
          </a:xfrm>
          <a:prstGeom prst="rect">
            <a:avLst/>
          </a:prstGeom>
          <a:noFill/>
          <a:ln/>
        </p:spPr>
        <p:txBody>
          <a:bodyPr wrap="square" lIns="0" tIns="0" rIns="0" bIns="0" rtlCol="0" anchor="ctr">
            <a:normAutofit/>
          </a:bodyPr>
          <a:lstStyle/>
          <a:p>
            <a:pPr algn="l" indent="0" marL="0">
              <a:buNone/>
            </a:pPr>
            <a:r>
              <a:rPr lang="en-US" sz="930" dirty="0">
                <a:solidFill>
                  <a:srgbClr val="2F6690"/>
                </a:solidFill>
                <a:latin typeface="Aptos" pitchFamily="34" charset="0"/>
                <a:ea typeface="Aptos" pitchFamily="34" charset="-122"/>
                <a:cs typeface="Aptos" pitchFamily="34" charset="-120"/>
              </a:rPr>
              <a:t>https://doi.org/10.1016/j.edurev.2015.02.003</a:t>
            </a:r>
            <a:endParaRPr lang="en-US" sz="930" dirty="0"/>
          </a:p>
        </p:txBody>
      </p:sp>
      <p:sp>
        <p:nvSpPr>
          <p:cNvPr id="22" name="Shape 20"/>
          <p:cNvSpPr/>
          <p:nvPr/>
        </p:nvSpPr>
        <p:spPr>
          <a:xfrm>
            <a:off x="640080" y="4325112"/>
            <a:ext cx="10927080" cy="1024128"/>
          </a:xfrm>
          <a:prstGeom prst="roundRect">
            <a:avLst>
              <a:gd name="adj" fmla="val 12500"/>
            </a:avLst>
          </a:prstGeom>
          <a:solidFill>
            <a:srgbClr val="FFFFFF"/>
          </a:solidFill>
          <a:ln w="10160">
            <a:solidFill>
              <a:srgbClr val="D9E1E8"/>
            </a:solidFill>
            <a:prstDash val="solid"/>
          </a:ln>
          <a:effectLst>
            <a:outerShdw sx="100000" sy="100000" kx="0" ky="0" algn="bl" rotWithShape="0" blurRad="50800" dist="50800" dir="2700000">
              <a:srgbClr val="9AA7B2">
                <a:alpha val="14000"/>
              </a:srgbClr>
            </a:outerShdw>
          </a:effectLst>
        </p:spPr>
      </p:sp>
      <p:sp>
        <p:nvSpPr>
          <p:cNvPr id="23" name="Shape 21"/>
          <p:cNvSpPr/>
          <p:nvPr/>
        </p:nvSpPr>
        <p:spPr>
          <a:xfrm>
            <a:off x="868680" y="4553712"/>
            <a:ext cx="457200" cy="457200"/>
          </a:xfrm>
          <a:prstGeom prst="ellipse">
            <a:avLst/>
          </a:prstGeom>
          <a:solidFill>
            <a:srgbClr val="F06A5C"/>
          </a:solidFill>
          <a:ln w="12700">
            <a:solidFill>
              <a:srgbClr val="F06A5C">
                <a:alpha val="0"/>
              </a:srgbClr>
            </a:solidFill>
            <a:prstDash val="solid"/>
          </a:ln>
        </p:spPr>
      </p:sp>
      <p:sp>
        <p:nvSpPr>
          <p:cNvPr id="24" name="Text 22"/>
          <p:cNvSpPr/>
          <p:nvPr/>
        </p:nvSpPr>
        <p:spPr>
          <a:xfrm>
            <a:off x="868680" y="4553712"/>
            <a:ext cx="457200" cy="45720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03</a:t>
            </a:r>
            <a:endParaRPr lang="en-US" sz="1100" dirty="0"/>
          </a:p>
        </p:txBody>
      </p:sp>
      <p:sp>
        <p:nvSpPr>
          <p:cNvPr id="25" name="Text 23"/>
          <p:cNvSpPr/>
          <p:nvPr/>
        </p:nvSpPr>
        <p:spPr>
          <a:xfrm>
            <a:off x="1527048" y="4443984"/>
            <a:ext cx="1993392" cy="228600"/>
          </a:xfrm>
          <a:prstGeom prst="rect">
            <a:avLst/>
          </a:prstGeom>
          <a:noFill/>
          <a:ln/>
        </p:spPr>
        <p:txBody>
          <a:bodyPr wrap="square" lIns="0" tIns="0" rIns="0" bIns="0" rtlCol="0" anchor="ctr">
            <a:normAutofit/>
          </a:bodyPr>
          <a:lstStyle/>
          <a:p>
            <a:pPr algn="l" indent="0" marL="0">
              <a:buNone/>
            </a:pPr>
            <a:r>
              <a:rPr lang="en-US" sz="900" b="1" spc="70" kern="0" dirty="0">
                <a:solidFill>
                  <a:srgbClr val="F06A5C"/>
                </a:solidFill>
                <a:latin typeface="Aptos" pitchFamily="34" charset="0"/>
                <a:ea typeface="Aptos" pitchFamily="34" charset="-122"/>
                <a:cs typeface="Aptos" pitchFamily="34" charset="-120"/>
              </a:rPr>
              <a:t>LATERAL READING</a:t>
            </a:r>
            <a:endParaRPr lang="en-US" sz="900" dirty="0"/>
          </a:p>
        </p:txBody>
      </p:sp>
      <p:sp>
        <p:nvSpPr>
          <p:cNvPr id="26" name="Text 24"/>
          <p:cNvSpPr/>
          <p:nvPr/>
        </p:nvSpPr>
        <p:spPr>
          <a:xfrm>
            <a:off x="1527048" y="4709160"/>
            <a:ext cx="2926080" cy="201168"/>
          </a:xfrm>
          <a:prstGeom prst="rect">
            <a:avLst/>
          </a:prstGeom>
          <a:noFill/>
          <a:ln/>
        </p:spPr>
        <p:txBody>
          <a:bodyPr wrap="square" lIns="0" tIns="0" rIns="0" bIns="0" rtlCol="0" anchor="ctr">
            <a:normAutofit/>
          </a:bodyPr>
          <a:lstStyle/>
          <a:p>
            <a:pPr algn="l" indent="0" marL="0">
              <a:buNone/>
            </a:pPr>
            <a:r>
              <a:rPr lang="en-US" sz="1040" b="1" dirty="0">
                <a:solidFill>
                  <a:srgbClr val="102A43"/>
                </a:solidFill>
                <a:latin typeface="Aptos" pitchFamily="34" charset="0"/>
                <a:ea typeface="Aptos" pitchFamily="34" charset="-122"/>
                <a:cs typeface="Aptos" pitchFamily="34" charset="-120"/>
              </a:rPr>
              <a:t>Wineburg, S., &amp; McGrew, S. (2019).</a:t>
            </a:r>
            <a:endParaRPr lang="en-US" sz="1040" dirty="0"/>
          </a:p>
        </p:txBody>
      </p:sp>
      <p:sp>
        <p:nvSpPr>
          <p:cNvPr id="27" name="Text 25"/>
          <p:cNvSpPr/>
          <p:nvPr/>
        </p:nvSpPr>
        <p:spPr>
          <a:xfrm>
            <a:off x="4462272" y="4462272"/>
            <a:ext cx="6720840" cy="292608"/>
          </a:xfrm>
          <a:prstGeom prst="rect">
            <a:avLst/>
          </a:prstGeom>
          <a:noFill/>
          <a:ln/>
        </p:spPr>
        <p:txBody>
          <a:bodyPr wrap="square" lIns="0" tIns="0" rIns="0" bIns="0" rtlCol="0" anchor="ctr">
            <a:normAutofit/>
          </a:bodyPr>
          <a:lstStyle/>
          <a:p>
            <a:pPr algn="l" indent="0" marL="0">
              <a:buNone/>
            </a:pPr>
            <a:r>
              <a:rPr lang="en-US" sz="1020" i="1" dirty="0">
                <a:solidFill>
                  <a:srgbClr val="183044"/>
                </a:solidFill>
                <a:latin typeface="Aptos" pitchFamily="34" charset="0"/>
                <a:ea typeface="Aptos" pitchFamily="34" charset="-122"/>
                <a:cs typeface="Aptos" pitchFamily="34" charset="-120"/>
              </a:rPr>
              <a:t>Lateral reading and the nature of expertise: Reading less and learning more when evaluating digital information.</a:t>
            </a:r>
            <a:endParaRPr lang="en-US" sz="1020" dirty="0"/>
          </a:p>
        </p:txBody>
      </p:sp>
      <p:sp>
        <p:nvSpPr>
          <p:cNvPr id="28" name="Text 26"/>
          <p:cNvSpPr/>
          <p:nvPr/>
        </p:nvSpPr>
        <p:spPr>
          <a:xfrm>
            <a:off x="4462272" y="4764024"/>
            <a:ext cx="6720840" cy="201168"/>
          </a:xfrm>
          <a:prstGeom prst="rect">
            <a:avLst/>
          </a:prstGeom>
          <a:noFill/>
          <a:ln/>
        </p:spPr>
        <p:txBody>
          <a:bodyPr wrap="square" lIns="0" tIns="0" rIns="0" bIns="0" rtlCol="0" anchor="ctr">
            <a:normAutofit/>
          </a:bodyPr>
          <a:lstStyle/>
          <a:p>
            <a:pPr algn="l" indent="0" marL="0">
              <a:buNone/>
            </a:pPr>
            <a:r>
              <a:rPr lang="en-US" sz="960" dirty="0">
                <a:solidFill>
                  <a:srgbClr val="617587"/>
                </a:solidFill>
                <a:latin typeface="Aptos" pitchFamily="34" charset="0"/>
                <a:ea typeface="Aptos" pitchFamily="34" charset="-122"/>
                <a:cs typeface="Aptos" pitchFamily="34" charset="-120"/>
              </a:rPr>
              <a:t>Teachers College Record, 121(11), 1–40.</a:t>
            </a:r>
            <a:endParaRPr lang="en-US" sz="960" dirty="0"/>
          </a:p>
        </p:txBody>
      </p:sp>
      <p:sp>
        <p:nvSpPr>
          <p:cNvPr id="29" name="Text 27"/>
          <p:cNvSpPr/>
          <p:nvPr/>
        </p:nvSpPr>
        <p:spPr>
          <a:xfrm>
            <a:off x="4462272" y="5010912"/>
            <a:ext cx="6720840" cy="182880"/>
          </a:xfrm>
          <a:prstGeom prst="rect">
            <a:avLst/>
          </a:prstGeom>
          <a:noFill/>
          <a:ln/>
        </p:spPr>
        <p:txBody>
          <a:bodyPr wrap="square" lIns="0" tIns="0" rIns="0" bIns="0" rtlCol="0" anchor="ctr">
            <a:normAutofit/>
          </a:bodyPr>
          <a:lstStyle/>
          <a:p>
            <a:pPr algn="l" indent="0" marL="0">
              <a:buNone/>
            </a:pPr>
            <a:r>
              <a:rPr lang="en-US" sz="930" dirty="0">
                <a:solidFill>
                  <a:srgbClr val="2F6690"/>
                </a:solidFill>
                <a:latin typeface="Aptos" pitchFamily="34" charset="0"/>
                <a:ea typeface="Aptos" pitchFamily="34" charset="-122"/>
                <a:cs typeface="Aptos" pitchFamily="34" charset="-120"/>
              </a:rPr>
              <a:t>https://doi.org/10.1177/016146811912101102</a:t>
            </a:r>
            <a:endParaRPr lang="en-US" sz="930" dirty="0"/>
          </a:p>
        </p:txBody>
      </p:sp>
      <p:sp>
        <p:nvSpPr>
          <p:cNvPr id="30" name="Shape 28"/>
          <p:cNvSpPr/>
          <p:nvPr/>
        </p:nvSpPr>
        <p:spPr>
          <a:xfrm>
            <a:off x="640080" y="5687568"/>
            <a:ext cx="10927080" cy="420624"/>
          </a:xfrm>
          <a:prstGeom prst="roundRect">
            <a:avLst>
              <a:gd name="adj" fmla="val 21739"/>
            </a:avLst>
          </a:prstGeom>
          <a:solidFill>
            <a:srgbClr val="FFF4CC"/>
          </a:solidFill>
          <a:ln w="12700">
            <a:solidFill>
              <a:srgbClr val="FFF4CC">
                <a:alpha val="0"/>
              </a:srgbClr>
            </a:solidFill>
            <a:prstDash val="solid"/>
          </a:ln>
        </p:spPr>
      </p:sp>
      <p:sp>
        <p:nvSpPr>
          <p:cNvPr id="31" name="Text 29"/>
          <p:cNvSpPr/>
          <p:nvPr/>
        </p:nvSpPr>
        <p:spPr>
          <a:xfrm>
            <a:off x="868680" y="5751576"/>
            <a:ext cx="10424160" cy="246888"/>
          </a:xfrm>
          <a:prstGeom prst="rect">
            <a:avLst/>
          </a:prstGeom>
          <a:noFill/>
          <a:ln/>
        </p:spPr>
        <p:txBody>
          <a:bodyPr wrap="square" lIns="0" tIns="0" rIns="0" bIns="0" rtlCol="0" anchor="ctr">
            <a:normAutofit/>
          </a:bodyPr>
          <a:lstStyle/>
          <a:p>
            <a:pPr algn="ctr" indent="0" marL="0">
              <a:buNone/>
            </a:pPr>
            <a:r>
              <a:rPr lang="en-US" sz="1050" b="1" dirty="0">
                <a:solidFill>
                  <a:srgbClr val="785C0A"/>
                </a:solidFill>
                <a:latin typeface="Aptos" pitchFamily="34" charset="0"/>
                <a:ea typeface="Aptos" pitchFamily="34" charset="-122"/>
                <a:cs typeface="Aptos" pitchFamily="34" charset="-120"/>
              </a:rPr>
              <a:t>Nama kelompok / anggota perlu dilengkapi sebelum presentasi.</a:t>
            </a:r>
            <a:endParaRPr lang="en-US" sz="105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37587"/>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Membongkar Phishing &amp; Deepfake</dc:title>
  <dc:subject>UAS Pembelajaran Daring dan Bauran - Informatika</dc:subject>
  <dc:creator>OpenAI</dc:creator>
  <cp:lastModifiedBy>OpenAI</cp:lastModifiedBy>
  <cp:revision>1</cp:revision>
  <dcterms:created xsi:type="dcterms:W3CDTF">2026-10-14T15:31:55Z</dcterms:created>
  <dcterms:modified xsi:type="dcterms:W3CDTF">2026-10-14T15:31:55Z</dcterms:modified>
</cp:coreProperties>
</file>